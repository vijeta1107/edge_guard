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4"/>
    <p:sldId id="259" r:id="rId5"/>
    <p:sldId id="267" r:id="rId12"/>
    <p:sldId id="268" r:id="rId13"/>
    <p:sldId id="283" r:id="rId33"/>
    <p:sldId id="276" r:id="rId18"/>
    <p:sldId id="277" r:id="rId19"/>
    <p:sldId id="284" r:id="rId34"/>
    <p:sldId id="282" r:id="rId32"/>
    <p:sldId id="288" r:id="rId38"/>
    <p:sldId id="286" r:id="rId36"/>
    <p:sldId id="299" r:id="rId49"/>
    <p:sldId id="290" r:id="rId40"/>
    <p:sldId id="291" r:id="rId41"/>
    <p:sldId id="292" r:id="rId42"/>
    <p:sldId id="293" r:id="rId43"/>
    <p:sldId id="294" r:id="rId44"/>
    <p:sldId id="295" r:id="rId45"/>
    <p:sldId id="296" r:id="rId46"/>
    <p:sldId id="297" r:id="rId47"/>
    <p:sldId id="278" r:id="rId20"/>
    <p:sldId id="289" r:id="rId39"/>
    <p:sldId id="273" r:id="rId23"/>
    <p:sldId id="275"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C997E-27A5-4B5C-8AC2-D4FE2BF74184}" v="711" dt="2026-09-10T15:07:37.6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22.xml"/><Relationship Id="rId23"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0.xml"/><Relationship Id="rId33" Type="http://schemas.openxmlformats.org/officeDocument/2006/relationships/slide" Target="slides/slide6.xml"/><Relationship Id="rId34" Type="http://schemas.openxmlformats.org/officeDocument/2006/relationships/slide" Target="slides/slide9.xml"/><Relationship Id="rId36" Type="http://schemas.openxmlformats.org/officeDocument/2006/relationships/slide" Target="slides/slide12.xml"/><Relationship Id="rId38" Type="http://schemas.openxmlformats.org/officeDocument/2006/relationships/slide" Target="slides/slide11.xml"/><Relationship Id="rId39" Type="http://schemas.openxmlformats.org/officeDocument/2006/relationships/slide" Target="slides/slide2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9B4F2E4-22B3-40E7-92A5-C50FE198D323}" type="datetimeFigureOut">
              <a:t>9/10/2026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7A4CE5-6872-4DDC-A6AB-F175E62B40CF}" type="slidenum">
              <a:t>‹#›</a:t>
            </a:fld>
            <a:endParaRPr lang="en-US"/>
          </a:p>
        </p:txBody>
      </p:sp>
    </p:spTree>
    <p:extLst>
      <p:ext uri="{BB962C8B-B14F-4D97-AF65-F5344CB8AC3E}">
        <p14:creationId xmlns:p14="http://schemas.microsoft.com/office/powerpoint/2010/main" val="433463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3C0B3-9C6A-0343-B6E3-111B740DC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B929C7-91C4-8741-683E-D1FBEA2D9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94096-DB3A-D27F-175D-49FD27FE1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B0323D-D10B-901F-2018-612D3F65051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134586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797D8-1270-62AB-DF5D-BBE56E909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125FC-65D3-2EF7-ADB5-7919879F3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12D4B-B017-1F99-DEC9-D8613A36A0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018F25-57D1-40F5-5775-F14D01C8F48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627040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D75E-8613-EE80-9B26-1B93EC8E2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A0DB9-A2AB-0715-ED67-5100C4334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47648-1C64-DFA6-FA64-1ED939588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669B4A-F845-1663-DC46-1B94A0245B5C}"/>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84886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Text 0"/>
          <p:cNvSpPr txBox="1"/>
          <p:nvPr/>
        </p:nvSpPr>
        <p:spPr>
          <a:xfrm>
            <a:off x="0" y="228600"/>
            <a:ext cx="12191695"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Times New Roman"/>
                <a:ea typeface="Calibri" pitchFamily="34" charset="-122"/>
                <a:cs typeface="Times New Roman"/>
              </a:rPr>
              <a:t>Senior Design Project</a:t>
            </a:r>
            <a:endParaRPr lang="en-US" sz="2600">
              <a:latin typeface="Times New Roman"/>
              <a:cs typeface="Times New Roman"/>
            </a:endParaRPr>
          </a:p>
        </p:txBody>
      </p:sp>
      <p:sp>
        <p:nvSpPr>
          <p:cNvPr id="4" name="Shape 1"/>
          <p:cNvSpPr/>
          <p:nvPr/>
        </p:nvSpPr>
        <p:spPr>
          <a:xfrm>
            <a:off x="27432" y="960120"/>
            <a:ext cx="12070080" cy="0"/>
          </a:xfrm>
          <a:prstGeom prst="line">
            <a:avLst/>
          </a:prstGeom>
          <a:noFill/>
          <a:ln w="19050">
            <a:solidFill>
              <a:srgbClr val="AEABAB"/>
            </a:solidFill>
            <a:prstDash val="solid"/>
          </a:ln>
        </p:spPr>
        <p:txBody>
          <a:bodyPr/>
          <a:p/>
        </p:txBody>
      </p:sp>
      <p:sp>
        <p:nvSpPr>
          <p:cNvPr id="5" name="Text 2"/>
          <p:cNvSpPr txBox="1"/>
          <p:nvPr/>
        </p:nvSpPr>
        <p:spPr>
          <a:xfrm>
            <a:off x="457200" y="1234440"/>
            <a:ext cx="11277295" cy="457200"/>
          </a:xfrm>
          <a:prstGeom prst="rect">
            <a:avLst/>
          </a:prstGeom>
          <a:noFill/>
          <a:ln/>
        </p:spPr>
        <p:txBody>
          <a:bodyPr wrap="square" lIns="0" tIns="0" rIns="0" bIns="0" rtlCol="0" anchor="ctr"/>
          <a:lstStyle/>
          <a:p>
            <a:pPr marL="0" indent="0" algn="ctr">
              <a:buNone/>
            </a:pPr>
            <a:r>
              <a:rPr lang="en-US" sz="1800" b="1" dirty="0">
                <a:solidFill>
                  <a:srgbClr val="000000"/>
                </a:solidFill>
                <a:latin typeface="Times New Roman"/>
                <a:ea typeface="Calibri"/>
                <a:cs typeface="Times New Roman"/>
              </a:rPr>
              <a:t>School of Computer Science and Engineering (AI)</a:t>
            </a:r>
            <a:endParaRPr lang="en-US" sz="1800" b="1">
              <a:latin typeface="Times New Roman"/>
              <a:ea typeface="Calibri"/>
              <a:cs typeface="Times New Roman"/>
            </a:endParaRPr>
          </a:p>
        </p:txBody>
      </p:sp>
      <p:sp>
        <p:nvSpPr>
          <p:cNvPr id="6" name="Text 3"/>
          <p:cNvSpPr txBox="1"/>
          <p:nvPr/>
        </p:nvSpPr>
        <p:spPr>
          <a:xfrm>
            <a:off x="457200" y="1783080"/>
            <a:ext cx="11277295" cy="54864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pitchFamily="34" charset="-122"/>
                <a:cs typeface="Times New Roman"/>
              </a:rPr>
              <a:t>Title: EdgeGuard: Uncertainty-Aware Edge AI for Reliable Decision Making</a:t>
            </a:r>
            <a:endParaRPr lang="en-US" sz="2000">
              <a:latin typeface="Times New Roman"/>
              <a:cs typeface="Times New Roman"/>
            </a:endParaRPr>
          </a:p>
        </p:txBody>
      </p:sp>
      <p:sp>
        <p:nvSpPr>
          <p:cNvPr id="7" name="Text 4"/>
          <p:cNvSpPr txBox="1"/>
          <p:nvPr/>
        </p:nvSpPr>
        <p:spPr>
          <a:xfrm>
            <a:off x="457200" y="2514600"/>
            <a:ext cx="11277295" cy="36576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a:cs typeface="Times New Roman"/>
              </a:rPr>
              <a:t>Team Details</a:t>
            </a:r>
            <a:endParaRPr lang="en-US" sz="2000" b="1">
              <a:latin typeface="Times New Roman"/>
              <a:ea typeface="Calibri"/>
              <a:cs typeface="Times New Roman"/>
            </a:endParaRPr>
          </a:p>
        </p:txBody>
      </p:sp>
      <p:graphicFrame>
        <p:nvGraphicFramePr>
          <p:cNvPr id="8" name="Table 0"/>
          <p:cNvGraphicFramePr>
            <a:graphicFrameLocks noGrp="1"/>
          </p:cNvGraphicFramePr>
          <p:nvPr>
            <p:extLst>
              <p:ext uri="{D42A27DB-BD31-4B8C-83A1-F6EECF244321}">
                <p14:modId xmlns:p14="http://schemas.microsoft.com/office/powerpoint/2010/main" val="4057637219"/>
              </p:ext>
            </p:extLst>
          </p:nvPr>
        </p:nvGraphicFramePr>
        <p:xfrm>
          <a:off x="2103120" y="2971800"/>
          <a:ext cx="7955280" cy="1828800"/>
        </p:xfrm>
        <a:graphic>
          <a:graphicData uri="http://schemas.openxmlformats.org/drawingml/2006/table">
            <a:tbl>
              <a:tblPr/>
              <a:tblGrid>
                <a:gridCol w="9144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329184">
                <a:tc>
                  <a:txBody>
                    <a:bodyPr/>
                    <a:lstStyle/>
                    <a:p>
                      <a:pPr marL="0" indent="0" algn="l">
                        <a:buNone/>
                      </a:pPr>
                      <a:r>
                        <a:rPr lang="en-US" sz="1800" b="1" dirty="0">
                          <a:solidFill>
                            <a:srgbClr val="000000"/>
                          </a:solidFill>
                          <a:latin typeface="Times New Roman"/>
                          <a:ea typeface="Calibri"/>
                          <a:cs typeface="Times New Roman"/>
                        </a:rPr>
                        <a:t>Sl.No</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Roll No.</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Name</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tc>
                  <a:txBody>
                    <a:bodyPr/>
                    <a:lstStyle/>
                    <a:p>
                      <a:pPr marL="0" indent="0" algn="l">
                        <a:buNone/>
                      </a:pPr>
                      <a:r>
                        <a:rPr lang="en-US" sz="1800" b="1" dirty="0">
                          <a:solidFill>
                            <a:srgbClr val="000000"/>
                          </a:solidFill>
                          <a:latin typeface="Times New Roman"/>
                          <a:ea typeface="Calibri"/>
                          <a:cs typeface="Times New Roman"/>
                        </a:rPr>
                        <a:t>USN</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F2E9DE"/>
                    </a:solidFill>
                  </a:tcPr>
                </a:tc>
                <a:extLst>
                  <a:ext uri="{0D108BD9-81ED-4DB2-BD59-A6C34878D82A}">
                    <a16:rowId xmlns:a16="http://schemas.microsoft.com/office/drawing/2014/main" val="10000"/>
                  </a:ext>
                </a:extLst>
              </a:tr>
              <a:tr h="329184">
                <a:tc>
                  <a:txBody>
                    <a:bodyPr/>
                    <a:lstStyle/>
                    <a:p>
                      <a:pPr marL="0" indent="0" algn="l">
                        <a:buNone/>
                      </a:pPr>
                      <a:r>
                        <a:rPr lang="en-US" sz="1800" dirty="0">
                          <a:solidFill>
                            <a:srgbClr val="000000"/>
                          </a:solidFill>
                          <a:latin typeface="Times New Roman"/>
                          <a:ea typeface="Calibri"/>
                          <a:cs typeface="Times New Roman"/>
                        </a:rPr>
                        <a:t>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234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Vijeta Hegde</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01FE23BCI082</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800" dirty="0">
                          <a:solidFill>
                            <a:srgbClr val="000000"/>
                          </a:solidFill>
                          <a:latin typeface="Times New Roman"/>
                          <a:ea typeface="Calibri"/>
                          <a:cs typeface="Times New Roman"/>
                        </a:rPr>
                        <a:t>2.</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215</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Rakshita R Talegaon</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01FE23BCI041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800" dirty="0">
                          <a:solidFill>
                            <a:srgbClr val="000000"/>
                          </a:solidFill>
                          <a:latin typeface="Times New Roman"/>
                          <a:ea typeface="Calibri"/>
                          <a:cs typeface="Times New Roman"/>
                        </a:rPr>
                        <a:t>3.</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237</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Tejaswini M V</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01FE23BCI044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800" dirty="0">
                          <a:solidFill>
                            <a:srgbClr val="000000"/>
                          </a:solidFill>
                          <a:latin typeface="Times New Roman"/>
                          <a:ea typeface="Calibri"/>
                          <a:cs typeface="Times New Roman"/>
                        </a:rPr>
                        <a:t>4.</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241</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Manjula Nayak</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tc>
                  <a:txBody>
                    <a:bodyPr/>
                    <a:lstStyle/>
                    <a:p>
                      <a:pPr marL="0" indent="0" algn="l">
                        <a:buNone/>
                      </a:pPr>
                      <a:r>
                        <a:rPr lang="en-US" sz="1800" dirty="0">
                          <a:solidFill>
                            <a:srgbClr val="000000"/>
                          </a:solidFill>
                          <a:latin typeface="Times New Roman"/>
                          <a:ea typeface="Calibri"/>
                          <a:cs typeface="Times New Roman"/>
                        </a:rPr>
                        <a:t>01FE23BCI097</a:t>
                      </a:r>
                      <a:endParaRPr lang="en-US" sz="1800">
                        <a:latin typeface="Times New Roman"/>
                        <a:ea typeface="Calibri"/>
                        <a:cs typeface="Times New Roman"/>
                      </a:endParaRPr>
                    </a:p>
                  </a:txBody>
                  <a:tcPr anchor="ctr">
                    <a:lnL w="9525" cap="flat" cmpd="sng" algn="ctr">
                      <a:solidFill>
                        <a:srgbClr val="999999"/>
                      </a:solidFill>
                      <a:prstDash val="solid"/>
                      <a:round/>
                      <a:headEnd type="none" w="med" len="med"/>
                      <a:tailEnd type="none" w="med" len="med"/>
                    </a:lnL>
                    <a:lnR w="9525" cap="flat" cmpd="sng" algn="ctr">
                      <a:solidFill>
                        <a:srgbClr val="999999"/>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txBox="1"/>
          <p:nvPr/>
        </p:nvSpPr>
        <p:spPr>
          <a:xfrm>
            <a:off x="2104293" y="5359485"/>
            <a:ext cx="5486400" cy="365760"/>
          </a:xfrm>
          <a:prstGeom prst="rect">
            <a:avLst/>
          </a:prstGeom>
          <a:noFill/>
          <a:ln/>
        </p:spPr>
        <p:txBody>
          <a:bodyPr wrap="square" lIns="0" tIns="0" rIns="0" bIns="0" rtlCol="0" anchor="ctr"/>
          <a:lstStyle/>
          <a:p>
            <a:r>
              <a:rPr lang="en-US" sz="2000" dirty="0">
                <a:solidFill>
                  <a:srgbClr val="000000"/>
                </a:solidFill>
                <a:latin typeface="Times New Roman"/>
                <a:ea typeface="Calibri"/>
                <a:cs typeface="Times New Roman"/>
              </a:rPr>
              <a:t>Guide :</a:t>
            </a:r>
            <a:r>
              <a:rPr lang="en-US" sz="2000" dirty="0" err="1">
                <a:solidFill>
                  <a:srgbClr val="000000"/>
                </a:solidFill>
                <a:latin typeface="Times New Roman"/>
                <a:ea typeface="Calibri"/>
                <a:cs typeface="Times New Roman"/>
              </a:rPr>
              <a:t>Maheshawari</a:t>
            </a:r>
            <a:r>
              <a:rPr lang="en-US" sz="2000" dirty="0">
                <a:solidFill>
                  <a:srgbClr val="000000"/>
                </a:solidFill>
                <a:latin typeface="Times New Roman"/>
                <a:ea typeface="Calibri"/>
                <a:cs typeface="Times New Roman"/>
              </a:rPr>
              <a:t> Kittur</a:t>
            </a:r>
            <a:endParaRPr lang="en-US" sz="2000" dirty="0" err="1">
              <a:latin typeface="Times New Roman"/>
              <a:ea typeface="Calibri"/>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Introduction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000000"/>
                </a:solidFill>
                <a:latin typeface="Times New Roman"/>
                <a:ea typeface="Calibri"/>
                <a:cs typeface="Times New Roman"/>
              </a:rPr>
              <a:t>AI models are increasingly deployed in real-world systems like self-driving cars, robots, and industrial cameras to make real-time decisions.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These models are trained on a fixed set of conditions/objects, but real-world environments are unpredictable  poor lighting, fog, occlusion, unknown objects.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Most AI models still give confident predictions even when facing unfamiliar or degraded inputs — they don't know what they don't know.</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This overconfidence can lead to dangerous failures in safety-critical applications where wrong predictions have real consequences.</a:t>
            </a:r>
            <a:endParaRPr lang="en-US" sz="2000">
              <a:latin typeface="Times New Roman"/>
              <a:ea typeface="Calibri"/>
              <a:cs typeface="Times New Roman"/>
            </a:endParaRPr>
          </a:p>
          <a:p>
            <a:pPr marL="342900" indent="-342900">
              <a:spcAft>
                <a:spcPts val="1000"/>
              </a:spcAft>
              <a:buSzPct val="100000"/>
              <a:buChar char="•"/>
            </a:pPr>
            <a:r>
              <a:rPr lang="en-US" sz="2000" dirty="0">
                <a:solidFill>
                  <a:srgbClr val="000000"/>
                </a:solidFill>
                <a:latin typeface="Times New Roman"/>
                <a:ea typeface="Calibri"/>
                <a:cs typeface="Times New Roman"/>
              </a:rPr>
              <a:t>EdgeGuard proposes an AI system that can detect its own unreliable predictions in real time, directly on edge devices without depending on the cloud.</a:t>
            </a:r>
            <a:endParaRPr lang="en-US" sz="2000" dirty="0">
              <a:latin typeface="Times New Roman"/>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Motivation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275781" y="1265755"/>
            <a:ext cx="11514872" cy="5298091"/>
          </a:xfrm>
          <a:prstGeom prst="rect">
            <a:avLst/>
          </a:prstGeom>
          <a:noFill/>
          <a:ln/>
        </p:spPr>
        <p:txBody>
          <a:bodyPr wrap="square" lIns="0" tIns="0" rIns="0" bIns="0" rtlCol="0" anchor="t"/>
          <a:lstStyle/>
          <a:p>
            <a:pPr marL="342900" indent="-342900" algn="just">
              <a:spcAft>
                <a:spcPts val="1000"/>
              </a:spcAft>
              <a:buSzPct val="100000"/>
              <a:buChar char="•"/>
            </a:pPr>
            <a:r>
              <a:rPr lang="en-US" sz="2000" dirty="0">
                <a:solidFill>
                  <a:srgbClr val="000000"/>
                </a:solidFill>
                <a:latin typeface="Times New Roman"/>
                <a:ea typeface="Calibri"/>
                <a:cs typeface="Times New Roman"/>
              </a:rPr>
              <a:t>A wrong prediction made confidently is more dangerous than a system that says “I'm not sure” silent failures are the real risk.</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Existing AI failure-detection methods (Deep Ensembles, Monte Carlo Dropout) require multiple model runs too slow for real-time, resource-limited edge devices.</a:t>
            </a:r>
            <a:endParaRPr lang="en-US" sz="2000" dirty="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Edge devices (cameras, in-vehicle systems, robots) have strict compute, memory, and power constraints  solutions must be lightweight and fast (single forward pass).</a:t>
            </a:r>
            <a:endParaRPr lang="en-US" sz="2000" dirty="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Cloud-based reliability checks introduce latency and require constant connectivity  not viable for safety-critical, real-time decisions.</a:t>
            </a:r>
            <a:endParaRPr lang="en-US" sz="2000">
              <a:latin typeface="Times New Roman"/>
              <a:ea typeface="Calibri"/>
              <a:cs typeface="Times New Roman"/>
            </a:endParaRPr>
          </a:p>
          <a:p>
            <a:pPr marL="342900" indent="-342900" algn="just">
              <a:spcAft>
                <a:spcPts val="1000"/>
              </a:spcAft>
              <a:buSzPct val="100000"/>
              <a:buChar char="•"/>
            </a:pPr>
            <a:r>
              <a:rPr lang="en-US" sz="2000" dirty="0">
                <a:solidFill>
                  <a:srgbClr val="000000"/>
                </a:solidFill>
                <a:latin typeface="Times New Roman"/>
                <a:ea typeface="Calibri"/>
                <a:cs typeface="Times New Roman"/>
              </a:rPr>
              <a:t>There is a clear real-world need (autonomous driving, industrial inspection, robotics) for AI that is not just accurate, but self-aware of its own limitations  motivating </a:t>
            </a:r>
            <a:r>
              <a:rPr lang="en-US" sz="2000" dirty="0" err="1">
                <a:solidFill>
                  <a:srgbClr val="000000"/>
                </a:solidFill>
                <a:latin typeface="Times New Roman"/>
                <a:ea typeface="Calibri"/>
                <a:cs typeface="Times New Roman"/>
              </a:rPr>
              <a:t>EdgeGuard's</a:t>
            </a:r>
            <a:r>
              <a:rPr lang="en-US" sz="2000" dirty="0">
                <a:solidFill>
                  <a:srgbClr val="000000"/>
                </a:solidFill>
                <a:latin typeface="Times New Roman"/>
                <a:ea typeface="Calibri"/>
                <a:cs typeface="Times New Roman"/>
              </a:rPr>
              <a:t> core objective.</a:t>
            </a:r>
            <a:endParaRPr lang="en-US" sz="2000" dirty="0">
              <a:latin typeface="Times New Roman"/>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Problem Statement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 4"/>
          <p:cNvSpPr txBox="1"/>
          <p:nvPr/>
        </p:nvSpPr>
        <p:spPr>
          <a:xfrm>
            <a:off x="275781" y="1247801"/>
            <a:ext cx="11368735" cy="3200400"/>
          </a:xfrm>
          <a:prstGeom prst="rect">
            <a:avLst/>
          </a:prstGeom>
          <a:noFill/>
          <a:ln/>
        </p:spPr>
        <p:txBody>
          <a:bodyPr wrap="square" lIns="0" tIns="0" rIns="0" bIns="0" rtlCol="0" anchor="t"/>
          <a:lstStyle/>
          <a:p>
            <a:pPr algn="just"/>
            <a:r>
              <a:rPr lang="en-US" sz="2000" dirty="0">
                <a:solidFill>
                  <a:srgbClr val="000000"/>
                </a:solidFill>
                <a:latin typeface="Times New Roman"/>
                <a:ea typeface="Calibri"/>
                <a:cs typeface="Times New Roman"/>
              </a:rPr>
              <a:t>AI models deployed on edge devices such as cameras, robots, and industrial sensors often perform well during testing but fail silently in real-world conditions  poor lighting, unseen objects, sensor degradation  producing incorrect predictions with high confidence and no indication of unreliability. Existing systems monitor accuracy only during development, not after deployment, so such failures go undetected until they cause real consequences. This project develops an Edge AI system that continuously monitors the reliability of its own predictions in real time, flagging likely failures before an incorrect decision is acted upon.</a:t>
            </a:r>
            <a:endParaRPr lang="en-US" sz="2000">
              <a:latin typeface="Times New Roman"/>
              <a:ea typeface="Calibri"/>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Objectives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sp>
        <p:nvSpPr>
          <p:cNvPr id="7" name="Text 4"/>
          <p:cNvSpPr txBox="1"/>
          <p:nvPr/>
        </p:nvSpPr>
        <p:spPr>
          <a:xfrm>
            <a:off x="411480" y="1234440"/>
            <a:ext cx="11368735" cy="5120640"/>
          </a:xfrm>
          <a:prstGeom prst="rect">
            <a:avLst/>
          </a:prstGeom>
          <a:noFill/>
          <a:ln/>
        </p:spPr>
        <p:txBody>
          <a:bodyPr wrap="square" lIns="0" tIns="0" rIns="0" bIns="0" rtlCol="0" anchor="t"/>
          <a:lstStyle/>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Design an AI perception model capable of making predictions while simultaneously estimating the reliability/confidence of each prediction.</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Develop a lightweight uncertainty-estimation module that works in a single forward pass, suitable for edge-device deployment.</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Build an evaluation framework using clean, degraded (corrupted), and out-of-distribution (OOD) test images to validate the system's reliability detection.</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Optimize the combined model (base + uncertainty module) for low latency and low resource usage on edge hardware.</a:t>
            </a:r>
            <a:endParaRPr lang="en-US" sz="2000">
              <a:latin typeface="Times New Roman"/>
              <a:ea typeface="Calibri"/>
              <a:cs typeface="Times New Roman"/>
            </a:endParaRPr>
          </a:p>
          <a:p>
            <a:pPr marL="342900" indent="-342900" algn="just">
              <a:spcAft>
                <a:spcPts val="1200"/>
              </a:spcAft>
              <a:buSzPct val="100000"/>
              <a:buFont typeface="+mj-lt"/>
              <a:buAutoNum type="arabicPeriod"/>
            </a:pPr>
            <a:r>
              <a:rPr lang="en-US" sz="2000" dirty="0">
                <a:solidFill>
                  <a:srgbClr val="000000"/>
                </a:solidFill>
                <a:latin typeface="Times New Roman"/>
                <a:ea typeface="Calibri"/>
                <a:cs typeface="Times New Roman"/>
              </a:rPr>
              <a:t>Benchmark the system's accuracy vs. reliability trade-off, ensuring it correctly flags unreliable predictions without hurting normal-case performance.</a:t>
            </a:r>
            <a:endParaRPr lang="en-US" sz="2000">
              <a:latin typeface="Times New Roman"/>
              <a:ea typeface="Calibri"/>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Proposed Method : System Architecture</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pic>
        <p:nvPicPr>
          <p:cNvPr id="7" name="Picture 6" descr="pipeline.png"/>
          <p:cNvPicPr>
            <a:picLocks noChangeAspect="1"/>
          </p:cNvPicPr>
          <p:nvPr/>
        </p:nvPicPr>
        <p:blipFill>
          <a:blip r:embed="rId2"/>
          <a:stretch>
            <a:fillRect/>
          </a:stretch>
        </p:blipFill>
        <p:spPr>
          <a:xfrm>
            <a:off x="411480" y="1434392"/>
            <a:ext cx="11338560" cy="2709054"/>
          </a:xfrm>
          <a:prstGeom prst="rect">
            <a:avLst/>
          </a:prstGeom>
        </p:spPr>
      </p:pic>
      <p:sp>
        <p:nvSpPr>
          <p:cNvPr id="7" name="Text 4"/>
          <p:cNvSpPr txBox="1"/>
          <p:nvPr/>
        </p:nvSpPr>
        <p:spPr>
          <a:xfrm>
            <a:off x="411480" y="4434840"/>
            <a:ext cx="11338560" cy="1463040"/>
          </a:xfrm>
          <a:prstGeom prst="rect">
            <a:avLst/>
          </a:prstGeom>
          <a:noFill/>
          <a:ln/>
        </p:spPr>
        <p:txBody>
          <a:bodyPr wrap="square" lIns="0" tIns="0" rIns="0" bIns="0" rtlCol="0" anchor="t"/>
          <a:lstStyle/>
          <a:p>
            <a:pPr marL="342900" indent="-342900">
              <a:spcAft>
                <a:spcPts val="600"/>
              </a:spcAft>
              <a:buSzPct val="100000"/>
              <a:buChar char="•"/>
            </a:pPr>
            <a:r>
              <a:rPr lang="en-US" sz="1800" dirty="0" b="1">
                <a:solidFill>
                  <a:srgbClr val="000000"/>
                </a:solidFill>
                <a:latin typeface="Times New Roman"/>
                <a:ea typeface="Calibri"/>
                <a:cs typeface="Times New Roman"/>
              </a:rPr>
              <a:t>One forward pass: </a:t>
            </a:r>
            <a:r>
              <a:rPr lang="en-US" sz="1800" dirty="0">
                <a:solidFill>
                  <a:srgbClr val="000000"/>
                </a:solidFill>
                <a:latin typeface="Times New Roman"/>
                <a:ea typeface="Calibri"/>
                <a:cs typeface="Times New Roman"/>
              </a:rPr>
              <a:t>the base CNN runs once; logits and penultimate features are reused, image statistics come straight from the pixels.</a:t>
            </a:r>
            <a:endParaRPr lang="en-US" sz="1800">
              <a:latin typeface="Times New Roman"/>
              <a:ea typeface="Calibri"/>
              <a:cs typeface="Times New Roman"/>
            </a:endParaRPr>
          </a:p>
          <a:p>
            <a:pPr marL="342900" indent="-342900">
              <a:spcAft>
                <a:spcPts val="600"/>
              </a:spcAft>
              <a:buSzPct val="100000"/>
              <a:buChar char="•"/>
            </a:pPr>
            <a:r>
              <a:rPr lang="en-US" sz="1800" dirty="0" b="1">
                <a:solidFill>
                  <a:srgbClr val="000000"/>
                </a:solidFill>
                <a:latin typeface="Times New Roman"/>
                <a:ea typeface="Calibri"/>
                <a:cs typeface="Times New Roman"/>
              </a:rPr>
              <a:t>Three decoupled signal groups </a:t>
            </a:r>
            <a:r>
              <a:rPr lang="en-US" sz="1800" dirty="0">
                <a:solidFill>
                  <a:srgbClr val="000000"/>
                </a:solidFill>
                <a:latin typeface="Times New Roman"/>
                <a:ea typeface="Calibri"/>
                <a:cs typeface="Times New Roman"/>
              </a:rPr>
              <a:t>(model uncertainty, context shift, input quality) are fused into one 0-100 reliability score (CARS).</a:t>
            </a:r>
            <a:endParaRPr lang="en-US" sz="1800">
              <a:latin typeface="Times New Roman"/>
              <a:ea typeface="Calibri"/>
              <a:cs typeface="Times New Roman"/>
            </a:endParaRPr>
          </a:p>
          <a:p>
            <a:pPr marL="342900" indent="-342900">
              <a:spcAft>
                <a:spcPts val="600"/>
              </a:spcAft>
              <a:buSzPct val="100000"/>
              <a:buChar char="•"/>
            </a:pPr>
            <a:r>
              <a:rPr lang="en-US" sz="1800" dirty="0" b="1">
                <a:solidFill>
                  <a:srgbClr val="000000"/>
                </a:solidFill>
                <a:latin typeface="Times New Roman"/>
                <a:ea typeface="Calibri"/>
                <a:cs typeface="Times New Roman"/>
              </a:rPr>
              <a:t>Graded decision: </a:t>
            </a:r>
            <a:r>
              <a:rPr lang="en-US" sz="1800" dirty="0">
                <a:solidFill>
                  <a:srgbClr val="000000"/>
                </a:solidFill>
                <a:latin typeface="Times New Roman"/>
                <a:ea typeface="Calibri"/>
                <a:cs typeface="Times New Roman"/>
              </a:rPr>
              <a:t>ACCEPT / WARN / DEFER with a stated reason; the base prediction itself is never changed.</a:t>
            </a:r>
            <a:endParaRPr lang="en-US" sz="1800">
              <a:latin typeface="Times New Roman"/>
              <a:ea typeface="Calibri"/>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A782-383B-13A3-2FDF-CBFAFB234C47}"/>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901CEE93-B6DA-AEF9-3E1A-8D69A0D6BE36}"/>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7B818384-C13A-4B4E-588C-EAF522869524}"/>
              </a:ext>
            </a:extLst>
          </p:cNvPr>
          <p:cNvSpPr/>
          <p:nvPr/>
        </p:nvSpPr>
        <p:spPr>
          <a:xfrm flipV="1">
            <a:off x="6556" y="980630"/>
            <a:ext cx="12153585" cy="20876"/>
          </a:xfrm>
          <a:prstGeom prst="line">
            <a:avLst/>
          </a:prstGeom>
          <a:noFill/>
          <a:ln w="19050">
            <a:solidFill>
              <a:srgbClr val="AEABAB"/>
            </a:solidFill>
            <a:prstDash val="solid"/>
          </a:ln>
        </p:spPr>
        <p:txBody>
          <a:bodyPr/>
          <a:p/>
        </p:txBody>
      </p:sp>
      <p:sp>
        <p:nvSpPr>
          <p:cNvPr id="4" name="Text 1">
            <a:extLst>
              <a:ext uri="{FF2B5EF4-FFF2-40B4-BE49-F238E27FC236}">
                <a16:creationId xmlns:a16="http://schemas.microsoft.com/office/drawing/2014/main" id="{2E77D09D-80B6-C821-F91B-09D01543B99C}"/>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Proposed Method : Novel Contributions</a:t>
            </a:r>
            <a:endParaRPr lang="en-US" sz="2400" dirty="0">
              <a:latin typeface="Times New Roman"/>
              <a:ea typeface="Calibri"/>
              <a:cs typeface="Times New Roman"/>
            </a:endParaRPr>
          </a:p>
        </p:txBody>
      </p:sp>
      <p:sp>
        <p:nvSpPr>
          <p:cNvPr id="5" name="Text 2">
            <a:extLst>
              <a:ext uri="{FF2B5EF4-FFF2-40B4-BE49-F238E27FC236}">
                <a16:creationId xmlns:a16="http://schemas.microsoft.com/office/drawing/2014/main" id="{FE80B4D1-4329-CE6D-5352-24E7AFC45019}"/>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94A72C69-1774-95A1-9F0E-0ED574C3E2EA}"/>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46" name="TextBox 45">
            <a:extLst>
              <a:ext uri="{FF2B5EF4-FFF2-40B4-BE49-F238E27FC236}">
                <a16:creationId xmlns:a16="http://schemas.microsoft.com/office/drawing/2014/main" id="{1DB9B93F-8CBC-A6D2-0F42-2D23EEB5D9EA}"/>
              </a:ext>
            </a:extLst>
          </p:cNvPr>
          <p:cNvSpPr txBox="1"/>
          <p:nvPr/>
        </p:nvSpPr>
        <p:spPr>
          <a:xfrm>
            <a:off x="476426" y="1360775"/>
            <a:ext cx="10981764"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cs typeface="Times New Roman"/>
              </a:rPr>
              <a:t>Proposed Novel Contributions</a:t>
            </a:r>
          </a:p>
          <a:p>
            <a:r>
              <a:rPr lang="en-US" dirty="0">
                <a:latin typeface="Times New Roman"/>
                <a:cs typeface="Times New Roman"/>
              </a:rPr>
              <a:t>1. Context-Aware Reliability Score (CARS)</a:t>
            </a:r>
            <a:endParaRPr lang="en-US" dirty="0">
              <a:latin typeface="Times New Roman"/>
              <a:ea typeface="Calibri"/>
              <a:cs typeface="Times New Roman"/>
            </a:endParaRPr>
          </a:p>
          <a:p>
            <a:pPr marL="285750" indent="-285750">
              <a:buFont typeface="Arial"/>
              <a:buChar char="•"/>
            </a:pPr>
            <a:r>
              <a:rPr lang="en-US" dirty="0">
                <a:latin typeface="Times New Roman"/>
                <a:ea typeface="+mn-lt"/>
                <a:cs typeface="Times New Roman"/>
              </a:rPr>
              <a:t>Combines </a:t>
            </a:r>
            <a:r>
              <a:rPr lang="en-US" b="1" dirty="0">
                <a:latin typeface="Times New Roman"/>
                <a:ea typeface="+mn-lt"/>
                <a:cs typeface="Times New Roman"/>
              </a:rPr>
              <a:t>three factors</a:t>
            </a:r>
            <a:r>
              <a:rPr lang="en-US" dirty="0">
                <a:latin typeface="Times New Roman"/>
                <a:ea typeface="+mn-lt"/>
                <a:cs typeface="Times New Roman"/>
              </a:rPr>
              <a:t> to generate a dynamic </a:t>
            </a:r>
            <a:r>
              <a:rPr lang="en-US" b="1" dirty="0">
                <a:latin typeface="Times New Roman"/>
                <a:ea typeface="+mn-lt"/>
                <a:cs typeface="Times New Roman"/>
              </a:rPr>
              <a:t>0–100 reliability score</a:t>
            </a:r>
            <a:r>
              <a:rPr lang="en-US" dirty="0">
                <a:latin typeface="Times New Roman"/>
                <a:ea typeface="+mn-lt"/>
                <a:cs typeface="Times New Roman"/>
              </a:rPr>
              <a:t>:</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Model Uncertainty</a:t>
            </a:r>
            <a:r>
              <a:rPr lang="en-US" dirty="0">
                <a:latin typeface="Times New Roman"/>
                <a:ea typeface="+mn-lt"/>
                <a:cs typeface="Times New Roman"/>
              </a:rPr>
              <a:t> – Is the AI unsure about its prediction?</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Input Quality</a:t>
            </a:r>
            <a:r>
              <a:rPr lang="en-US" dirty="0">
                <a:latin typeface="Times New Roman"/>
                <a:ea typeface="+mn-lt"/>
                <a:cs typeface="Times New Roman"/>
              </a:rPr>
              <a:t> – Blur, low illumination, rain, noise, etc.</a:t>
            </a:r>
            <a:endParaRPr lang="en-US" dirty="0">
              <a:latin typeface="Times New Roman"/>
              <a:cs typeface="Times New Roman"/>
            </a:endParaRPr>
          </a:p>
          <a:p>
            <a:pPr marL="742950" lvl="1" indent="-285750">
              <a:buFont typeface="Arial"/>
              <a:buChar char="•"/>
            </a:pPr>
            <a:r>
              <a:rPr lang="en-US" b="1" dirty="0">
                <a:latin typeface="Times New Roman"/>
                <a:ea typeface="+mn-lt"/>
                <a:cs typeface="Times New Roman"/>
              </a:rPr>
              <a:t>Context Shift</a:t>
            </a:r>
            <a:r>
              <a:rPr lang="en-US" dirty="0">
                <a:latin typeface="Times New Roman"/>
                <a:ea typeface="+mn-lt"/>
                <a:cs typeface="Times New Roman"/>
              </a:rPr>
              <a:t> – Is the input different from the training data?</a:t>
            </a:r>
            <a:endParaRPr lang="en-US" dirty="0">
              <a:latin typeface="Times New Roman"/>
              <a:cs typeface="Times New Roman"/>
            </a:endParaRPr>
          </a:p>
          <a:p>
            <a:pPr marL="285750" indent="-285750">
              <a:buFont typeface="Arial"/>
              <a:buChar char="•"/>
            </a:pPr>
            <a:r>
              <a:rPr lang="en-US" dirty="0">
                <a:latin typeface="Times New Roman"/>
                <a:ea typeface="+mn-lt"/>
                <a:cs typeface="Times New Roman"/>
              </a:rPr>
              <a:t>The reliability score determines whether the system should: </a:t>
            </a:r>
            <a:r>
              <a:rPr lang="en-US" b="1" dirty="0">
                <a:latin typeface="Times New Roman"/>
                <a:ea typeface="+mn-lt"/>
                <a:cs typeface="Times New Roman"/>
              </a:rPr>
              <a:t>Accept → Warn → Defer</a:t>
            </a:r>
            <a:r>
              <a:rPr lang="en-US" dirty="0">
                <a:latin typeface="Times New Roman"/>
                <a:ea typeface="+mn-lt"/>
                <a:cs typeface="Times New Roman"/>
              </a:rPr>
              <a:t> the prediction.</a:t>
            </a:r>
            <a:endParaRPr lang="en-US" dirty="0">
              <a:latin typeface="Times New Roman"/>
              <a:cs typeface="Times New Roman"/>
            </a:endParaRPr>
          </a:p>
          <a:p>
            <a:pPr marL="285750" indent="-285750">
              <a:buFont typeface="Arial"/>
              <a:buChar char="•"/>
            </a:pPr>
            <a:endParaRPr lang="en-US" dirty="0">
              <a:latin typeface="Times New Roman"/>
              <a:ea typeface="Calibri"/>
              <a:cs typeface="Times New Roman"/>
            </a:endParaRPr>
          </a:p>
          <a:p>
            <a:r>
              <a:rPr lang="en-US" dirty="0">
                <a:latin typeface="Times New Roman"/>
                <a:cs typeface="Times New Roman"/>
              </a:rPr>
              <a:t>2. Self-Learning Blind Spot Memory</a:t>
            </a:r>
            <a:endParaRPr lang="en-US" dirty="0">
              <a:latin typeface="Times New Roman"/>
              <a:ea typeface="Calibri"/>
              <a:cs typeface="Times New Roman"/>
            </a:endParaRPr>
          </a:p>
          <a:p>
            <a:pPr marL="285750" indent="-285750">
              <a:buFont typeface="Arial"/>
              <a:buChar char="•"/>
            </a:pPr>
            <a:r>
              <a:rPr lang="en-US" dirty="0">
                <a:latin typeface="Times New Roman"/>
                <a:ea typeface="+mn-lt"/>
                <a:cs typeface="Times New Roman"/>
              </a:rPr>
              <a:t>When EdgeGuard encounters a </a:t>
            </a:r>
            <a:r>
              <a:rPr lang="en-US" b="1" dirty="0">
                <a:latin typeface="Times New Roman"/>
                <a:ea typeface="+mn-lt"/>
                <a:cs typeface="Times New Roman"/>
              </a:rPr>
              <a:t>new failure case</a:t>
            </a:r>
            <a:r>
              <a:rPr lang="en-US" dirty="0">
                <a:latin typeface="Times New Roman"/>
                <a:ea typeface="+mn-lt"/>
                <a:cs typeface="Times New Roman"/>
              </a:rPr>
              <a:t>, it stores only a </a:t>
            </a:r>
            <a:r>
              <a:rPr lang="en-US" b="1" dirty="0">
                <a:latin typeface="Times New Roman"/>
                <a:ea typeface="+mn-lt"/>
                <a:cs typeface="Times New Roman"/>
              </a:rPr>
              <a:t>compact feature representation</a:t>
            </a:r>
            <a:r>
              <a:rPr lang="en-US" dirty="0">
                <a:latin typeface="Times New Roman"/>
                <a:ea typeface="+mn-lt"/>
                <a:cs typeface="Times New Roman"/>
              </a:rPr>
              <a:t>, not the original image.</a:t>
            </a:r>
            <a:endParaRPr lang="en-US" dirty="0">
              <a:latin typeface="Times New Roman"/>
              <a:cs typeface="Times New Roman"/>
            </a:endParaRPr>
          </a:p>
          <a:p>
            <a:pPr marL="285750" indent="-285750">
              <a:buFont typeface="Arial"/>
              <a:buChar char="•"/>
            </a:pPr>
            <a:r>
              <a:rPr lang="en-US" dirty="0">
                <a:latin typeface="Times New Roman"/>
                <a:ea typeface="+mn-lt"/>
                <a:cs typeface="Times New Roman"/>
              </a:rPr>
              <a:t>Future inputs are compared with these stored representations to detect </a:t>
            </a:r>
            <a:r>
              <a:rPr lang="en-US" b="1" dirty="0">
                <a:latin typeface="Times New Roman"/>
                <a:ea typeface="+mn-lt"/>
                <a:cs typeface="Times New Roman"/>
              </a:rPr>
              <a:t>similar failure cases faster</a:t>
            </a:r>
            <a:r>
              <a:rPr lang="en-US" dirty="0">
                <a:latin typeface="Times New Roman"/>
                <a:ea typeface="+mn-lt"/>
                <a:cs typeface="Times New Roman"/>
              </a:rPr>
              <a:t>.</a:t>
            </a:r>
            <a:endParaRPr lang="en-US" dirty="0">
              <a:latin typeface="Times New Roman"/>
              <a:cs typeface="Times New Roman"/>
            </a:endParaRPr>
          </a:p>
          <a:p>
            <a:pPr marL="285750" indent="-285750">
              <a:buFont typeface="Arial"/>
              <a:buChar char="•"/>
            </a:pPr>
            <a:r>
              <a:rPr lang="en-US" b="1" dirty="0">
                <a:latin typeface="Times New Roman"/>
                <a:ea typeface="+mn-lt"/>
                <a:cs typeface="Times New Roman"/>
              </a:rPr>
              <a:t>Impact:</a:t>
            </a:r>
            <a:r>
              <a:rPr lang="en-US" dirty="0">
                <a:latin typeface="Times New Roman"/>
                <a:ea typeface="+mn-lt"/>
                <a:cs typeface="Times New Roman"/>
              </a:rPr>
              <a:t> Enables continual improvement while supporting </a:t>
            </a:r>
            <a:r>
              <a:rPr lang="en-US" b="1" dirty="0">
                <a:latin typeface="Times New Roman"/>
                <a:ea typeface="+mn-lt"/>
                <a:cs typeface="Times New Roman"/>
              </a:rPr>
              <a:t>privacy-preserving operation</a:t>
            </a:r>
            <a:r>
              <a:rPr lang="en-US" dirty="0">
                <a:latin typeface="Times New Roman"/>
                <a:ea typeface="+mn-lt"/>
                <a:cs typeface="Times New Roman"/>
              </a:rPr>
              <a:t>.</a:t>
            </a:r>
            <a:endParaRPr lang="en-US" dirty="0">
              <a:latin typeface="Times New Roman"/>
              <a:cs typeface="Times New Roman"/>
            </a:endParaRPr>
          </a:p>
        </p:txBody>
      </p:sp>
    </p:spTree>
    <p:extLst>
      <p:ext uri="{BB962C8B-B14F-4D97-AF65-F5344CB8AC3E}">
        <p14:creationId xmlns:p14="http://schemas.microsoft.com/office/powerpoint/2010/main" val="2296713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F34B2-8D22-8C87-98E8-71D482582011}"/>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8C76ED53-76E9-453F-956D-AEAB077428FE}"/>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856F7266-1081-467F-2AFD-D1CC553AA342}"/>
              </a:ext>
            </a:extLst>
          </p:cNvPr>
          <p:cNvSpPr/>
          <p:nvPr/>
        </p:nvSpPr>
        <p:spPr>
          <a:xfrm flipV="1">
            <a:off x="6556" y="980630"/>
            <a:ext cx="12153585" cy="20876"/>
          </a:xfrm>
          <a:prstGeom prst="line">
            <a:avLst/>
          </a:prstGeom>
          <a:noFill/>
          <a:ln w="19050">
            <a:solidFill>
              <a:srgbClr val="AEABAB"/>
            </a:solidFill>
            <a:prstDash val="solid"/>
          </a:ln>
        </p:spPr>
        <p:txBody>
          <a:bodyPr/>
          <a:p/>
        </p:txBody>
      </p:sp>
      <p:sp>
        <p:nvSpPr>
          <p:cNvPr id="4" name="Text 1">
            <a:extLst>
              <a:ext uri="{FF2B5EF4-FFF2-40B4-BE49-F238E27FC236}">
                <a16:creationId xmlns:a16="http://schemas.microsoft.com/office/drawing/2014/main" id="{44889D22-0028-375D-A2B6-72F92580523C}"/>
              </a:ext>
            </a:extLst>
          </p:cNvPr>
          <p:cNvSpPr txBox="1"/>
          <p:nvPr/>
        </p:nvSpPr>
        <p:spPr>
          <a:xfrm>
            <a:off x="274320" y="292608"/>
            <a:ext cx="9601200" cy="640080"/>
          </a:xfrm>
          <a:prstGeom prst="rect">
            <a:avLst/>
          </a:prstGeom>
          <a:noFill/>
          <a:ln/>
        </p:spPr>
        <p:txBody>
          <a:bodyPr wrap="square" lIns="0" tIns="0" rIns="0" bIns="0" rtlCol="0" anchor="ctr"/>
          <a:lstStyle/>
          <a:p>
            <a:r>
              <a:rPr lang="en-US" sz="2400" b="1" dirty="0">
                <a:solidFill>
                  <a:srgbClr val="000000"/>
                </a:solidFill>
                <a:latin typeface="Times New Roman"/>
                <a:ea typeface="Calibri"/>
                <a:cs typeface="Times New Roman"/>
              </a:rPr>
              <a:t>Proposed Method : Novel Contributions (continued)</a:t>
            </a:r>
            <a:endParaRPr lang="en-US" sz="2400" dirty="0">
              <a:latin typeface="Times New Roman"/>
              <a:ea typeface="Calibri"/>
              <a:cs typeface="Times New Roman"/>
            </a:endParaRPr>
          </a:p>
        </p:txBody>
      </p:sp>
      <p:sp>
        <p:nvSpPr>
          <p:cNvPr id="5" name="Text 2">
            <a:extLst>
              <a:ext uri="{FF2B5EF4-FFF2-40B4-BE49-F238E27FC236}">
                <a16:creationId xmlns:a16="http://schemas.microsoft.com/office/drawing/2014/main" id="{4CF04125-6B2D-34FB-92EE-8FD2569055FF}"/>
              </a:ext>
            </a:extLst>
          </p:cNvPr>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a:extLst>
              <a:ext uri="{FF2B5EF4-FFF2-40B4-BE49-F238E27FC236}">
                <a16:creationId xmlns:a16="http://schemas.microsoft.com/office/drawing/2014/main" id="{57818102-BCF2-9CA4-AC01-796F9666923E}"/>
              </a:ext>
            </a:extLst>
          </p:cNvPr>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46" name="TextBox 45">
            <a:extLst>
              <a:ext uri="{FF2B5EF4-FFF2-40B4-BE49-F238E27FC236}">
                <a16:creationId xmlns:a16="http://schemas.microsoft.com/office/drawing/2014/main" id="{A779600B-2C19-29BB-412F-E3B8A14DBDB4}"/>
              </a:ext>
            </a:extLst>
          </p:cNvPr>
          <p:cNvSpPr txBox="1"/>
          <p:nvPr/>
        </p:nvSpPr>
        <p:spPr>
          <a:xfrm>
            <a:off x="476426" y="1317642"/>
            <a:ext cx="10981764"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Calibri"/>
                <a:cs typeface="Times New Roman"/>
              </a:rPr>
              <a:t>3. Adaptive Confidence Threshold</a:t>
            </a:r>
          </a:p>
          <a:p>
            <a:pPr marL="285750" indent="-285750">
              <a:buFont typeface="Arial,Sans-Serif"/>
              <a:buChar char="•"/>
            </a:pPr>
            <a:r>
              <a:rPr lang="en-US" dirty="0">
                <a:latin typeface="Times New Roman"/>
                <a:ea typeface="Calibri"/>
                <a:cs typeface="Times New Roman"/>
              </a:rPr>
              <a:t>Uses a </a:t>
            </a:r>
            <a:r>
              <a:rPr lang="en-US" b="1" dirty="0">
                <a:latin typeface="Times New Roman"/>
                <a:ea typeface="Calibri"/>
                <a:cs typeface="Times New Roman"/>
              </a:rPr>
              <a:t>dynamic confidence threshold</a:t>
            </a:r>
            <a:r>
              <a:rPr lang="en-US" dirty="0">
                <a:latin typeface="Times New Roman"/>
                <a:ea typeface="Calibri"/>
                <a:cs typeface="Times New Roman"/>
              </a:rPr>
              <a:t> instead of a fixed threshold such as 90%.</a:t>
            </a:r>
          </a:p>
          <a:p>
            <a:pPr marL="285750" indent="-285750">
              <a:buFont typeface="Arial,Sans-Serif"/>
              <a:buChar char="•"/>
            </a:pPr>
            <a:r>
              <a:rPr lang="en-US" dirty="0">
                <a:latin typeface="Times New Roman"/>
                <a:ea typeface="Calibri"/>
                <a:cs typeface="Times New Roman"/>
              </a:rPr>
              <a:t>The threshold adapts according to the </a:t>
            </a:r>
            <a:r>
              <a:rPr lang="en-US" b="1" dirty="0">
                <a:latin typeface="Times New Roman"/>
                <a:ea typeface="Calibri"/>
                <a:cs typeface="Times New Roman"/>
              </a:rPr>
              <a:t>environmental conditions</a:t>
            </a:r>
            <a:r>
              <a:rPr lang="en-US" dirty="0">
                <a:latin typeface="Times New Roman"/>
                <a:ea typeface="Calibri"/>
                <a:cs typeface="Times New Roman"/>
              </a:rPr>
              <a:t>.</a:t>
            </a:r>
          </a:p>
          <a:p>
            <a:r>
              <a:rPr lang="en-US" b="1" dirty="0">
                <a:latin typeface="Times New Roman"/>
                <a:ea typeface="Calibri"/>
                <a:cs typeface="Times New Roman"/>
              </a:rPr>
              <a:t>Example:</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Daylight → </a:t>
            </a:r>
            <a:r>
              <a:rPr lang="en-US" b="1" dirty="0">
                <a:latin typeface="Times New Roman"/>
                <a:ea typeface="Calibri"/>
                <a:cs typeface="Times New Roman"/>
              </a:rPr>
              <a:t>85%</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Fog → </a:t>
            </a:r>
            <a:r>
              <a:rPr lang="en-US" b="1" dirty="0">
                <a:latin typeface="Times New Roman"/>
                <a:ea typeface="Calibri"/>
                <a:cs typeface="Times New Roman"/>
              </a:rPr>
              <a:t>95%</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 Heavy Blur → </a:t>
            </a:r>
            <a:r>
              <a:rPr lang="en-US" b="1" dirty="0">
                <a:latin typeface="Times New Roman"/>
                <a:ea typeface="Calibri"/>
                <a:cs typeface="Times New Roman"/>
              </a:rPr>
              <a:t>98%</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This helps reduce </a:t>
            </a:r>
            <a:r>
              <a:rPr lang="en-US" b="1" dirty="0">
                <a:latin typeface="Times New Roman"/>
                <a:ea typeface="Calibri"/>
                <a:cs typeface="Times New Roman"/>
              </a:rPr>
              <a:t>false acceptances and unreliable predictions</a:t>
            </a:r>
            <a:r>
              <a:rPr lang="en-US" dirty="0">
                <a:latin typeface="Times New Roman"/>
                <a:ea typeface="Calibri"/>
                <a:cs typeface="Times New Roman"/>
              </a:rPr>
              <a:t> under difficult conditions.</a:t>
            </a:r>
          </a:p>
          <a:p>
            <a:endParaRPr lang="en-US" dirty="0">
              <a:latin typeface="Times New Roman"/>
              <a:ea typeface="Calibri"/>
              <a:cs typeface="Times New Roman"/>
            </a:endParaRPr>
          </a:p>
          <a:p>
            <a:r>
              <a:rPr lang="en-US" dirty="0">
                <a:latin typeface="Times New Roman"/>
                <a:ea typeface="Calibri"/>
                <a:cs typeface="Times New Roman"/>
              </a:rPr>
              <a:t>4. Explainable Failure Reason</a:t>
            </a:r>
          </a:p>
          <a:p>
            <a:pPr marL="285750" indent="-285750">
              <a:buFont typeface="Arial,Sans-Serif"/>
              <a:buChar char="•"/>
            </a:pPr>
            <a:r>
              <a:rPr lang="en-US" dirty="0">
                <a:latin typeface="Times New Roman"/>
                <a:ea typeface="Calibri"/>
                <a:cs typeface="Times New Roman"/>
              </a:rPr>
              <a:t>Instead of simply reporting </a:t>
            </a:r>
            <a:r>
              <a:rPr lang="en-US" b="1" dirty="0">
                <a:latin typeface="Times New Roman"/>
                <a:ea typeface="Calibri"/>
                <a:cs typeface="Times New Roman"/>
              </a:rPr>
              <a:t>“High Risk”</a:t>
            </a:r>
            <a:r>
              <a:rPr lang="en-US" dirty="0">
                <a:latin typeface="Times New Roman"/>
                <a:ea typeface="Calibri"/>
                <a:cs typeface="Times New Roman"/>
              </a:rPr>
              <a:t>, </a:t>
            </a:r>
            <a:r>
              <a:rPr lang="en-US" dirty="0" err="1">
                <a:latin typeface="Times New Roman"/>
                <a:ea typeface="Calibri"/>
                <a:cs typeface="Times New Roman"/>
              </a:rPr>
              <a:t>EdgeGuard</a:t>
            </a:r>
            <a:r>
              <a:rPr lang="en-US" dirty="0">
                <a:latin typeface="Times New Roman"/>
                <a:ea typeface="Calibri"/>
                <a:cs typeface="Times New Roman"/>
              </a:rPr>
              <a:t> identifies the likely reason for the unreliable prediction.</a:t>
            </a:r>
          </a:p>
          <a:p>
            <a:pPr marL="285750" indent="-285750">
              <a:buFont typeface="Arial,Sans-Serif"/>
              <a:buChar char="•"/>
            </a:pPr>
            <a:r>
              <a:rPr lang="en-US" dirty="0">
                <a:latin typeface="Times New Roman"/>
                <a:ea typeface="Calibri"/>
                <a:cs typeface="Times New Roman"/>
              </a:rPr>
              <a:t>Possible reasons include:</a:t>
            </a:r>
          </a:p>
          <a:p>
            <a:pPr marL="742950" lvl="1" indent="-285750">
              <a:buFont typeface="Arial,Sans-Serif"/>
              <a:buChar char="•"/>
            </a:pPr>
            <a:r>
              <a:rPr lang="en-US" b="1" dirty="0">
                <a:latin typeface="Times New Roman"/>
                <a:ea typeface="Calibri"/>
                <a:cs typeface="Times New Roman"/>
              </a:rPr>
              <a:t>Low Illumination</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Motion Blur</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Unknown Object / Out-of-Distribution Input</a:t>
            </a:r>
            <a:endParaRPr lang="en-US" dirty="0">
              <a:latin typeface="Times New Roman"/>
              <a:ea typeface="Calibri"/>
              <a:cs typeface="Times New Roman"/>
            </a:endParaRPr>
          </a:p>
          <a:p>
            <a:pPr marL="742950" lvl="1" indent="-285750">
              <a:buFont typeface="Arial,Sans-Serif"/>
              <a:buChar char="•"/>
            </a:pPr>
            <a:r>
              <a:rPr lang="en-US" b="1" dirty="0">
                <a:latin typeface="Times New Roman"/>
                <a:ea typeface="Calibri"/>
                <a:cs typeface="Times New Roman"/>
              </a:rPr>
              <a:t>Sensor Noise</a:t>
            </a:r>
            <a:endParaRPr lang="en-US" dirty="0">
              <a:latin typeface="Times New Roman"/>
              <a:ea typeface="Calibri"/>
              <a:cs typeface="Times New Roman"/>
            </a:endParaRPr>
          </a:p>
          <a:p>
            <a:pPr marL="285750" indent="-285750">
              <a:buFont typeface="Arial,Sans-Serif"/>
              <a:buChar char="•"/>
            </a:pPr>
            <a:r>
              <a:rPr lang="en-US" dirty="0">
                <a:latin typeface="Times New Roman"/>
                <a:ea typeface="Calibri"/>
                <a:cs typeface="Times New Roman"/>
              </a:rPr>
              <a:t>This makes the system more </a:t>
            </a:r>
            <a:r>
              <a:rPr lang="en-US" b="1" dirty="0">
                <a:latin typeface="Times New Roman"/>
                <a:ea typeface="Calibri"/>
                <a:cs typeface="Times New Roman"/>
              </a:rPr>
              <a:t>interpretable and actionable for industrial operators</a:t>
            </a:r>
            <a:r>
              <a:rPr lang="en-US" dirty="0">
                <a:latin typeface="Times New Roman"/>
                <a:ea typeface="Calibri"/>
                <a:cs typeface="Times New Roman"/>
              </a:rPr>
              <a:t>.</a:t>
            </a:r>
          </a:p>
          <a:p>
            <a:endParaRPr lang="en-US" dirty="0">
              <a:latin typeface="Times New Roman"/>
              <a:ea typeface="Calibri"/>
              <a:cs typeface="Times New Roman"/>
            </a:endParaRPr>
          </a:p>
        </p:txBody>
      </p:sp>
    </p:spTree>
    <p:extLst>
      <p:ext uri="{BB962C8B-B14F-4D97-AF65-F5344CB8AC3E}">
        <p14:creationId xmlns:p14="http://schemas.microsoft.com/office/powerpoint/2010/main" val="4168094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Proposed Method : Single-Pass Reliability Signals</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graphicFrame>
        <p:nvGraphicFramePr>
          <p:cNvPr id="7" name="Table 6"/>
          <p:cNvGraphicFramePr>
            <a:graphicFrameLocks noGrp="1"/>
          </p:cNvGraphicFramePr>
          <p:nvPr/>
        </p:nvGraphicFramePr>
        <p:xfrm>
          <a:off x="411480" y="1234440"/>
          <a:ext cx="11338560" cy="3108960"/>
        </p:xfrm>
        <a:graphic>
          <a:graphicData uri="http://schemas.openxmlformats.org/drawingml/2006/table">
            <a:tbl>
              <a:tblPr/>
              <a:tblGrid>
                <a:gridCol w="1828800"/>
                <a:gridCol w="3657600"/>
                <a:gridCol w="2377440"/>
                <a:gridCol w="2377440"/>
                <a:gridCol w="1097280"/>
              </a:tblGrid>
              <a:tr h="777240">
                <a:tc>
                  <a:txBody>
                    <a:bodyPr wrap="square"/>
                    <a:lstStyle/>
                    <a:p>
                      <a:r>
                        <a:rPr sz="1600" b="1">
                          <a:solidFill>
                            <a:srgbClr val="000000"/>
                          </a:solidFill>
                          <a:latin typeface="Times New Roman"/>
                        </a:rPr>
                        <a:t>Signal group</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Signals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Computed from</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Detects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Cost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777240">
                <a:tc>
                  <a:txBody>
                    <a:bodyPr wrap="square"/>
                    <a:lstStyle/>
                    <a:p>
                      <a:r>
                        <a:rPr sz="1500" b="0">
                          <a:solidFill>
                            <a:srgbClr val="000000"/>
                          </a:solidFill>
                          <a:latin typeface="Times New Roman"/>
                        </a:rPr>
                        <a:t>Model uncertainty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Max softmax (MSP), entropy, energy score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Logits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Ambiguous inputs, low confidence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~0.01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777240">
                <a:tc>
                  <a:txBody>
                    <a:bodyPr wrap="square"/>
                    <a:lstStyle/>
                    <a:p>
                      <a:r>
                        <a:rPr sz="1500" b="0">
                          <a:solidFill>
                            <a:srgbClr val="000000"/>
                          </a:solidFill>
                          <a:latin typeface="Times New Roman"/>
                        </a:rPr>
                        <a:t>Context shift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Mahalanobis distance on L2-normalised features, feature norm</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Penultimate features (same pass)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Unknown objects (OOD), large shifts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~0.01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777240">
                <a:tc>
                  <a:txBody>
                    <a:bodyPr wrap="square"/>
                    <a:lstStyle/>
                    <a:p>
                      <a:r>
                        <a:rPr sz="1500" b="0">
                          <a:solidFill>
                            <a:srgbClr val="000000"/>
                          </a:solidFill>
                          <a:latin typeface="Times New Roman"/>
                        </a:rPr>
                        <a:t>Input quality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Laplacian blur, Immerkaer noise, brightness, contrast, dark-channel haze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Raw pixels (no network)</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Blur, sensor noise, low light, fog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0.026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7" name="Text 4"/>
          <p:cNvSpPr txBox="1"/>
          <p:nvPr/>
        </p:nvSpPr>
        <p:spPr>
          <a:xfrm>
            <a:off x="411480" y="4572000"/>
            <a:ext cx="11338560" cy="1280160"/>
          </a:xfrm>
          <a:prstGeom prst="rect">
            <a:avLst/>
          </a:prstGeom>
          <a:noFill/>
          <a:ln/>
        </p:spPr>
        <p:txBody>
          <a:bodyPr wrap="square" lIns="0" tIns="0" rIns="0" bIns="0" rtlCol="0" anchor="t"/>
          <a:lstStyle/>
          <a:p>
            <a:pPr marL="342900" indent="-342900">
              <a:spcAft>
                <a:spcPts val="600"/>
              </a:spcAft>
              <a:buSzPct val="100000"/>
              <a:buChar char="•"/>
            </a:pPr>
            <a:r>
              <a:rPr lang="en-US" sz="1800" dirty="0" b="1">
                <a:solidFill>
                  <a:srgbClr val="000000"/>
                </a:solidFill>
                <a:latin typeface="Times New Roman"/>
                <a:ea typeface="Calibri"/>
                <a:cs typeface="Times New Roman"/>
              </a:rPr>
              <a:t>Key fix: </a:t>
            </a:r>
            <a:r>
              <a:rPr lang="en-US" sz="1800" dirty="0">
                <a:solidFill>
                  <a:srgbClr val="000000"/>
                </a:solidFill>
                <a:latin typeface="Times New Roman"/>
                <a:ea typeface="Calibri"/>
                <a:cs typeface="Times New Roman"/>
              </a:rPr>
              <a:t>on raw features, dark images collapsed towards the origin and Mahalanobis OOD AUROC was only 0.49-0.67; L2-normalising the features raised it to 0.94-0.97.</a:t>
            </a:r>
            <a:endParaRPr lang="en-US" sz="1800">
              <a:latin typeface="Times New Roman"/>
              <a:ea typeface="Calibri"/>
              <a:cs typeface="Times New Roman"/>
            </a:endParaRPr>
          </a:p>
          <a:p>
            <a:pPr marL="342900" indent="-342900">
              <a:spcAft>
                <a:spcPts val="600"/>
              </a:spcAft>
              <a:buSzPct val="100000"/>
              <a:buChar char="•"/>
            </a:pPr>
            <a:r>
              <a:rPr lang="en-US" sz="1800" dirty="0" b="1">
                <a:solidFill>
                  <a:srgbClr val="000000"/>
                </a:solidFill>
                <a:latin typeface="Times New Roman"/>
                <a:ea typeface="Calibri"/>
                <a:cs typeface="Times New Roman"/>
              </a:rPr>
              <a:t>Total: </a:t>
            </a:r>
            <a:r>
              <a:rPr lang="en-US" sz="1800" dirty="0">
                <a:solidFill>
                  <a:srgbClr val="000000"/>
                </a:solidFill>
                <a:latin typeface="Times New Roman"/>
                <a:ea typeface="Calibri"/>
                <a:cs typeface="Times New Roman"/>
              </a:rPr>
              <a:t>10 scalar signals per image, all from the single forward pass, with no retraining of the base model.</a:t>
            </a:r>
            <a:endParaRPr lang="en-US" sz="1800">
              <a:latin typeface="Times New Roman"/>
              <a:ea typeface="Calibri"/>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Implementation Phase : Work Completed</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graphicFrame>
        <p:nvGraphicFramePr>
          <p:cNvPr id="7" name="Table 6"/>
          <p:cNvGraphicFramePr>
            <a:graphicFrameLocks noGrp="1"/>
          </p:cNvGraphicFramePr>
          <p:nvPr/>
        </p:nvGraphicFramePr>
        <p:xfrm>
          <a:off x="411480" y="1234440"/>
          <a:ext cx="11338560" cy="3968496"/>
        </p:xfrm>
        <a:graphic>
          <a:graphicData uri="http://schemas.openxmlformats.org/drawingml/2006/table">
            <a:tbl>
              <a:tblPr/>
              <a:tblGrid>
                <a:gridCol w="2834640"/>
                <a:gridCol w="2926080"/>
                <a:gridCol w="1280160"/>
                <a:gridCol w="4297680"/>
              </a:tblGrid>
              <a:tr h="566928">
                <a:tc>
                  <a:txBody>
                    <a:bodyPr wrap="square"/>
                    <a:lstStyle/>
                    <a:p>
                      <a:r>
                        <a:rPr sz="1600" b="1">
                          <a:solidFill>
                            <a:srgbClr val="000000"/>
                          </a:solidFill>
                          <a:latin typeface="Times New Roman"/>
                        </a:rPr>
                        <a:t>Phase (Review 1 plan)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Planned deliverable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Status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What was delivered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66928">
                <a:tc>
                  <a:txBody>
                    <a:bodyPr wrap="square"/>
                    <a:lstStyle/>
                    <a:p>
                      <a:r>
                        <a:rPr sz="1500" b="0">
                          <a:solidFill>
                            <a:srgbClr val="000000"/>
                          </a:solidFill>
                          <a:latin typeface="Times New Roman"/>
                        </a:rPr>
                        <a:t>Literature review &amp; problem formulation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Survey, problem definition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Done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16-paper survey, problem statement (Review 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Baseline setup</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Baseline with clean / corrupted results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Done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CNN on CIFAR-10, 8 corruption types x 5 severities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Signal implementation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Model-uncertainty + sensor-quality modules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Done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10 single-pass signals (logits, features, image stats)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Fusion &amp; decision layer</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Risk score + decision policy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Done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CARS score, adaptive thresholds, reasons, memory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Evaluation &amp; edge benchmarking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Accuracy-efficiency evaluation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Done (CPU)</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94k-image evaluation, latency on 1 CPU thread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Generalization &amp; final reporting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Final system, report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In progress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IEEE paper drafted; ResNet-18 + edge board pending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8" name="TextBox 7"/>
          <p:cNvSpPr txBox="1"/>
          <p:nvPr/>
        </p:nvSpPr>
        <p:spPr>
          <a:xfrm>
            <a:off x="411480" y="5486400"/>
            <a:ext cx="11338560" cy="365760"/>
          </a:xfrm>
          <a:prstGeom prst="rect">
            <a:avLst/>
          </a:prstGeom>
          <a:noFill/>
        </p:spPr>
        <p:txBody>
          <a:bodyPr wrap="square" lIns="0" rIns="0" tIns="0" bIns="0">
            <a:spAutoFit/>
          </a:bodyPr>
          <a:lstStyle/>
          <a:p>
            <a:r>
              <a:rPr sz="1600" b="1" i="0">
                <a:solidFill>
                  <a:srgbClr val="000000"/>
                </a:solidFill>
                <a:latin typeface="Times New Roman"/>
              </a:rPr>
              <a:t>Live demo app built: </a:t>
            </a:r>
            <a:r>
              <a:rPr sz="1600" b="0" i="0">
                <a:solidFill>
                  <a:srgbClr val="000000"/>
                </a:solidFill>
                <a:latin typeface="Times New Roman"/>
              </a:rPr>
              <a:t>Gradio interface with pre-verified scenes (blur, night, fog, unknown objects, blind-spot memory).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Implementation Phase : Setup</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graphicFrame>
        <p:nvGraphicFramePr>
          <p:cNvPr id="7" name="Table 6"/>
          <p:cNvGraphicFramePr>
            <a:graphicFrameLocks noGrp="1"/>
          </p:cNvGraphicFramePr>
          <p:nvPr/>
        </p:nvGraphicFramePr>
        <p:xfrm>
          <a:off x="411480" y="1234440"/>
          <a:ext cx="11338560" cy="4535424"/>
        </p:xfrm>
        <a:graphic>
          <a:graphicData uri="http://schemas.openxmlformats.org/drawingml/2006/table">
            <a:tbl>
              <a:tblPr/>
              <a:tblGrid>
                <a:gridCol w="2377440"/>
                <a:gridCol w="8961120"/>
              </a:tblGrid>
              <a:tr h="566928">
                <a:tc>
                  <a:txBody>
                    <a:bodyPr wrap="square"/>
                    <a:lstStyle/>
                    <a:p>
                      <a:r>
                        <a:rPr sz="1600" b="1">
                          <a:solidFill>
                            <a:srgbClr val="000000"/>
                          </a:solidFill>
                          <a:latin typeface="Times New Roman"/>
                        </a:rPr>
                        <a:t>Component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Setting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66928">
                <a:tc>
                  <a:txBody>
                    <a:bodyPr wrap="square"/>
                    <a:lstStyle/>
                    <a:p>
                      <a:r>
                        <a:rPr sz="1500" b="0">
                          <a:solidFill>
                            <a:srgbClr val="000000"/>
                          </a:solidFill>
                          <a:latin typeface="Times New Roman"/>
                        </a:rPr>
                        <a:t>Base network (EdgeNet)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6 conv layers (32-32-64-64-128-128), BN, ReLU, GAP, dropout 0.3; 288,746 params (1.15 MB)</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Training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CIFAR-10, 45k train / 5k calibration; SGD Nesterov 0.9, wd 5e-4, batch 128, one-cycle LR 0.05, 20 epochs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Clean accuracy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84.8% on the 10k CIFAR-10 test set (ResNet-18 run supported by the same code)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Calibration set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5k images x (clean + Gaussian noise, defocus blur, low light, fog), severity 1-5 -&gt; 25,000 samples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Software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Python, PyTorch, OpenCV, scikit-learn, ONNX Runtime, Gradio (demo)</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Deployment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Fusion folded into NumPy weights; network exported to ONNX (1.16 MB)</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Hardware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2 CPU cores, 8 GB RAM, no GPU; latency = median of 192 single-image runs on 1 thread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Implementation Phase : Contributions Implemented</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graphicFrame>
        <p:nvGraphicFramePr>
          <p:cNvPr id="7" name="Table 6"/>
          <p:cNvGraphicFramePr>
            <a:graphicFrameLocks noGrp="1"/>
          </p:cNvGraphicFramePr>
          <p:nvPr/>
        </p:nvGraphicFramePr>
        <p:xfrm>
          <a:off x="411480" y="1234440"/>
          <a:ext cx="11338560" cy="4114800"/>
        </p:xfrm>
        <a:graphic>
          <a:graphicData uri="http://schemas.openxmlformats.org/drawingml/2006/table">
            <a:tbl>
              <a:tblPr/>
              <a:tblGrid>
                <a:gridCol w="2926080"/>
                <a:gridCol w="4572000"/>
                <a:gridCol w="3840480"/>
              </a:tblGrid>
              <a:tr h="822960">
                <a:tc>
                  <a:txBody>
                    <a:bodyPr wrap="square"/>
                    <a:lstStyle/>
                    <a:p>
                      <a:r>
                        <a:rPr sz="1600" b="1">
                          <a:solidFill>
                            <a:srgbClr val="000000"/>
                          </a:solidFill>
                          <a:latin typeface="Times New Roman"/>
                        </a:rPr>
                        <a:t>Proposed in Review 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How it was implemented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Evidence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822960">
                <a:tc>
                  <a:txBody>
                    <a:bodyPr wrap="square"/>
                    <a:lstStyle/>
                    <a:p>
                      <a:r>
                        <a:rPr sz="1500" b="0">
                          <a:solidFill>
                            <a:srgbClr val="000000"/>
                          </a:solidFill>
                          <a:latin typeface="Times New Roman"/>
                        </a:rPr>
                        <a:t>1. Context-Aware Reliability Score (CARS)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Logistic fusion of 10 signals x context-shift gate, 0-100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Failure AUROC 0.842; OOD AUROC 0.960; ECE 12.5% -&gt; 4.2%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822960">
                <a:tc>
                  <a:txBody>
                    <a:bodyPr wrap="square"/>
                    <a:lstStyle/>
                    <a:p>
                      <a:r>
                        <a:rPr sz="1500" b="0">
                          <a:solidFill>
                            <a:srgbClr val="000000"/>
                          </a:solidFill>
                          <a:latin typeface="Times New Roman"/>
                        </a:rPr>
                        <a:t>2. Self-learning blind-spot memory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512 float16 feature fingerprints of confirmed failures (132 KB), same-class cosine match</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Silent misses cut by 12-17% on unseen shifts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822960">
                <a:tc>
                  <a:txBody>
                    <a:bodyPr wrap="square"/>
                    <a:lstStyle/>
                    <a:p>
                      <a:r>
                        <a:rPr sz="1500" b="0">
                          <a:solidFill>
                            <a:srgbClr val="000000"/>
                          </a:solidFill>
                          <a:latin typeface="Times New Roman"/>
                        </a:rPr>
                        <a:t>3. Adaptive confidence threshold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Per-condition threshold from a Clopper-Pearson bound (3% risk target)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Noise error 5.2% -&gt; 3.1%, fog 4.9% -&gt; 3.7%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822960">
                <a:tc>
                  <a:txBody>
                    <a:bodyPr wrap="square"/>
                    <a:lstStyle/>
                    <a:p>
                      <a:r>
                        <a:rPr sz="1500" b="0">
                          <a:solidFill>
                            <a:srgbClr val="000000"/>
                          </a:solidFill>
                          <a:latin typeface="Times New Roman"/>
                        </a:rPr>
                        <a:t>4. Explainable failure reason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Condition classifier on image statistics + OOD rule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Correct reason in 86.1% of flagged cases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Implementation Phase : Live Demonstration</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pic>
        <p:nvPicPr>
          <p:cNvPr id="7" name="Picture 6" descr="demo_crop.png"/>
          <p:cNvPicPr>
            <a:picLocks noChangeAspect="1"/>
          </p:cNvPicPr>
          <p:nvPr/>
        </p:nvPicPr>
        <p:blipFill>
          <a:blip r:embed="rId2"/>
          <a:stretch>
            <a:fillRect/>
          </a:stretch>
        </p:blipFill>
        <p:spPr>
          <a:xfrm>
            <a:off x="411479" y="1546483"/>
            <a:ext cx="6766560" cy="4039353"/>
          </a:xfrm>
          <a:prstGeom prst="rect">
            <a:avLst/>
          </a:prstGeom>
        </p:spPr>
      </p:pic>
      <p:sp>
        <p:nvSpPr>
          <p:cNvPr id="7" name="Text 4"/>
          <p:cNvSpPr txBox="1"/>
          <p:nvPr/>
        </p:nvSpPr>
        <p:spPr>
          <a:xfrm>
            <a:off x="7406640" y="1325880"/>
            <a:ext cx="434340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b="1">
                <a:solidFill>
                  <a:srgbClr val="000000"/>
                </a:solidFill>
                <a:latin typeface="Times New Roman"/>
                <a:ea typeface="Calibri"/>
                <a:cs typeface="Times New Roman"/>
              </a:rPr>
              <a:t>A  Clean: </a:t>
            </a:r>
            <a:r>
              <a:rPr lang="en-US" sz="1600" dirty="0">
                <a:solidFill>
                  <a:srgbClr val="000000"/>
                </a:solidFill>
                <a:latin typeface="Times New Roman"/>
                <a:ea typeface="Calibri"/>
                <a:cs typeface="Times New Roman"/>
              </a:rPr>
              <a:t>airplane 99%, ACCEPT (CARS 93).</a:t>
            </a:r>
            <a:endParaRPr lang="en-US" sz="1600">
              <a:latin typeface="Times New Roman"/>
              <a:ea typeface="Calibri"/>
              <a:cs typeface="Times New Roman"/>
            </a:endParaRPr>
          </a:p>
          <a:p>
            <a:pPr marL="342900" indent="-342900">
              <a:spcAft>
                <a:spcPts val="800"/>
              </a:spcAft>
              <a:buSzPct val="100000"/>
              <a:buChar char="•"/>
            </a:pPr>
            <a:r>
              <a:rPr lang="en-US" sz="1600" dirty="0" b="1">
                <a:solidFill>
                  <a:srgbClr val="000000"/>
                </a:solidFill>
                <a:latin typeface="Times New Roman"/>
                <a:ea typeface="Calibri"/>
                <a:cs typeface="Times New Roman"/>
              </a:rPr>
              <a:t>B  Night: </a:t>
            </a:r>
            <a:r>
              <a:rPr lang="en-US" sz="1600" dirty="0">
                <a:solidFill>
                  <a:srgbClr val="000000"/>
                </a:solidFill>
                <a:latin typeface="Times New Roman"/>
                <a:ea typeface="Calibri"/>
                <a:cs typeface="Times New Roman"/>
              </a:rPr>
              <a:t>plain model says cat 83% for a car; DEFER, low illumination.</a:t>
            </a:r>
            <a:endParaRPr lang="en-US" sz="1600">
              <a:latin typeface="Times New Roman"/>
              <a:ea typeface="Calibri"/>
              <a:cs typeface="Times New Roman"/>
            </a:endParaRPr>
          </a:p>
          <a:p>
            <a:pPr marL="342900" indent="-342900">
              <a:spcAft>
                <a:spcPts val="800"/>
              </a:spcAft>
              <a:buSzPct val="100000"/>
              <a:buChar char="•"/>
            </a:pPr>
            <a:r>
              <a:rPr lang="en-US" sz="1600" dirty="0" b="1">
                <a:solidFill>
                  <a:srgbClr val="000000"/>
                </a:solidFill>
                <a:latin typeface="Times New Roman"/>
                <a:ea typeface="Calibri"/>
                <a:cs typeface="Times New Roman"/>
              </a:rPr>
              <a:t>C  Motion blur: </a:t>
            </a:r>
            <a:r>
              <a:rPr lang="en-US" sz="1600" dirty="0">
                <a:solidFill>
                  <a:srgbClr val="000000"/>
                </a:solidFill>
                <a:latin typeface="Times New Roman"/>
                <a:ea typeface="Calibri"/>
                <a:cs typeface="Times New Roman"/>
              </a:rPr>
              <a:t>deer 91% for an airplane; DEFER, blur.</a:t>
            </a:r>
            <a:endParaRPr lang="en-US" sz="1600">
              <a:latin typeface="Times New Roman"/>
              <a:ea typeface="Calibri"/>
              <a:cs typeface="Times New Roman"/>
            </a:endParaRPr>
          </a:p>
          <a:p>
            <a:pPr marL="342900" indent="-342900">
              <a:spcAft>
                <a:spcPts val="800"/>
              </a:spcAft>
              <a:buSzPct val="100000"/>
              <a:buChar char="•"/>
            </a:pPr>
            <a:r>
              <a:rPr lang="en-US" sz="1600" dirty="0" b="1">
                <a:solidFill>
                  <a:srgbClr val="000000"/>
                </a:solidFill>
                <a:latin typeface="Times New Roman"/>
                <a:ea typeface="Calibri"/>
                <a:cs typeface="Times New Roman"/>
              </a:rPr>
              <a:t>D  Fog ramp: </a:t>
            </a:r>
            <a:r>
              <a:rPr lang="en-US" sz="1600" dirty="0">
                <a:solidFill>
                  <a:srgbClr val="000000"/>
                </a:solidFill>
                <a:latin typeface="Times New Roman"/>
                <a:ea typeface="Calibri"/>
                <a:cs typeface="Times New Roman"/>
              </a:rPr>
              <a:t>ACCEPT -&gt; WARN -&gt; DEFER as fog increases.</a:t>
            </a:r>
            <a:endParaRPr lang="en-US" sz="1600">
              <a:latin typeface="Times New Roman"/>
              <a:ea typeface="Calibri"/>
              <a:cs typeface="Times New Roman"/>
            </a:endParaRPr>
          </a:p>
          <a:p>
            <a:pPr marL="342900" indent="-342900">
              <a:spcAft>
                <a:spcPts val="800"/>
              </a:spcAft>
              <a:buSzPct val="100000"/>
              <a:buChar char="•"/>
            </a:pPr>
            <a:r>
              <a:rPr lang="en-US" sz="1600" dirty="0" b="1">
                <a:solidFill>
                  <a:srgbClr val="000000"/>
                </a:solidFill>
                <a:latin typeface="Times New Roman"/>
                <a:ea typeface="Calibri"/>
                <a:cs typeface="Times New Roman"/>
              </a:rPr>
              <a:t>E  Unknown object: </a:t>
            </a:r>
            <a:r>
              <a:rPr lang="en-US" sz="1600" dirty="0">
                <a:solidFill>
                  <a:srgbClr val="000000"/>
                </a:solidFill>
                <a:latin typeface="Times New Roman"/>
                <a:ea typeface="Calibri"/>
                <a:cs typeface="Times New Roman"/>
              </a:rPr>
              <a:t>digit called bird 83%; DEFER, OOD.</a:t>
            </a:r>
            <a:endParaRPr lang="en-US" sz="1600">
              <a:latin typeface="Times New Roman"/>
              <a:ea typeface="Calibri"/>
              <a:cs typeface="Times New Roman"/>
            </a:endParaRPr>
          </a:p>
          <a:p>
            <a:pPr marL="342900" indent="-342900">
              <a:spcAft>
                <a:spcPts val="800"/>
              </a:spcAft>
              <a:buSzPct val="100000"/>
              <a:buChar char="•"/>
            </a:pPr>
            <a:r>
              <a:rPr lang="en-US" sz="1600" dirty="0" b="1">
                <a:solidFill>
                  <a:srgbClr val="000000"/>
                </a:solidFill>
                <a:latin typeface="Times New Roman"/>
                <a:ea typeface="Calibri"/>
                <a:cs typeface="Times New Roman"/>
              </a:rPr>
              <a:t>F  Memory: </a:t>
            </a:r>
            <a:r>
              <a:rPr lang="en-US" sz="1600" dirty="0">
                <a:solidFill>
                  <a:srgbClr val="000000"/>
                </a:solidFill>
                <a:latin typeface="Times New Roman"/>
                <a:ea typeface="Calibri"/>
                <a:cs typeface="Times New Roman"/>
              </a:rPr>
              <a:t>missed failure marked once, caught next time.</a:t>
            </a:r>
            <a:endParaRPr lang="en-US" sz="1600">
              <a:latin typeface="Times New Roman"/>
              <a:ea typeface="Calibri"/>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Accuracy Under Distribution Shift</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fig02_accuracy_vs_severity.png"/>
          <p:cNvPicPr>
            <a:picLocks noChangeAspect="1"/>
          </p:cNvPicPr>
          <p:nvPr/>
        </p:nvPicPr>
        <p:blipFill>
          <a:blip r:embed="rId2"/>
          <a:stretch>
            <a:fillRect/>
          </a:stretch>
        </p:blipFill>
        <p:spPr>
          <a:xfrm>
            <a:off x="548639" y="1188720"/>
            <a:ext cx="11064240" cy="4023360"/>
          </a:xfrm>
          <a:prstGeom prst="rect">
            <a:avLst/>
          </a:prstGeom>
        </p:spPr>
      </p:pic>
      <p:sp>
        <p:nvSpPr>
          <p:cNvPr id="7" name="Text 4"/>
          <p:cNvSpPr txBox="1"/>
          <p:nvPr/>
        </p:nvSpPr>
        <p:spPr>
          <a:xfrm>
            <a:off x="411480" y="5257800"/>
            <a:ext cx="11338560" cy="731520"/>
          </a:xfrm>
          <a:prstGeom prst="rect">
            <a:avLst/>
          </a:prstGeom>
          <a:noFill/>
          <a:ln/>
        </p:spPr>
        <p:txBody>
          <a:bodyPr wrap="square" lIns="0" tIns="0" rIns="0" bIns="0" rtlCol="0" anchor="t"/>
          <a:lstStyle/>
          <a:p>
            <a:pPr marL="342900" indent="-342900">
              <a:spcAft>
                <a:spcPts val="400"/>
              </a:spcAft>
              <a:buSzPct val="100000"/>
              <a:buChar char="•"/>
            </a:pPr>
            <a:r>
              <a:rPr lang="en-US" sz="1700" dirty="0" b="1">
                <a:solidFill>
                  <a:srgbClr val="000000"/>
                </a:solidFill>
                <a:latin typeface="Times New Roman"/>
                <a:ea typeface="Calibri"/>
                <a:cs typeface="Times New Roman"/>
              </a:rPr>
              <a:t>Accuracy fell from 84.8% (clean) to 35.1% at severity 5; </a:t>
            </a:r>
            <a:r>
              <a:rPr lang="en-US" sz="1700" dirty="0">
                <a:solidFill>
                  <a:srgbClr val="000000"/>
                </a:solidFill>
                <a:latin typeface="Times New Roman"/>
                <a:ea typeface="Calibri"/>
                <a:cs typeface="Times New Roman"/>
              </a:rPr>
              <a:t>contrast (34.8%), motion blur (41.4%) and low light (43.9%) hurt most.</a:t>
            </a:r>
            <a:endParaRPr lang="en-US" sz="1700">
              <a:latin typeface="Times New Roman"/>
              <a:ea typeface="Calibri"/>
              <a:cs typeface="Times New Roman"/>
            </a:endParaRPr>
          </a:p>
          <a:p>
            <a:pPr marL="342900" indent="-342900">
              <a:spcAft>
                <a:spcPts val="400"/>
              </a:spcAft>
              <a:buSzPct val="100000"/>
              <a:buChar char="•"/>
            </a:pPr>
            <a:r>
              <a:rPr lang="en-US" sz="1700" dirty="0" b="1">
                <a:solidFill>
                  <a:srgbClr val="000000"/>
                </a:solidFill>
                <a:latin typeface="Times New Roman"/>
                <a:ea typeface="Calibri"/>
                <a:cs typeface="Times New Roman"/>
              </a:rPr>
              <a:t>The unguarded model was wrong on 43.5% of all 94k inputs </a:t>
            </a:r>
            <a:r>
              <a:rPr lang="en-US" sz="1700" dirty="0">
                <a:solidFill>
                  <a:srgbClr val="000000"/>
                </a:solidFill>
                <a:latin typeface="Times New Roman"/>
                <a:ea typeface="Calibri"/>
                <a:cs typeface="Times New Roman"/>
              </a:rPr>
              <a:t>and still acted on every prediction, which is exactly the silent-failure risk EdgeGuard targets.</a:t>
            </a:r>
            <a:endParaRPr lang="en-US" sz="1700">
              <a:latin typeface="Times New Roman"/>
              <a:ea typeface="Calibri"/>
              <a:cs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Failure and OOD Detection (AUROC)</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graphicFrame>
        <p:nvGraphicFramePr>
          <p:cNvPr id="7" name="Table 6"/>
          <p:cNvGraphicFramePr>
            <a:graphicFrameLocks noGrp="1"/>
          </p:cNvGraphicFramePr>
          <p:nvPr/>
        </p:nvGraphicFramePr>
        <p:xfrm>
          <a:off x="411480" y="1234440"/>
          <a:ext cx="11338556" cy="3520440"/>
        </p:xfrm>
        <a:graphic>
          <a:graphicData uri="http://schemas.openxmlformats.org/drawingml/2006/table">
            <a:tbl>
              <a:tblPr/>
              <a:tblGrid>
                <a:gridCol w="2923222"/>
                <a:gridCol w="885825"/>
                <a:gridCol w="1328737"/>
                <a:gridCol w="1062989"/>
                <a:gridCol w="1328737"/>
                <a:gridCol w="1151572"/>
                <a:gridCol w="1328737"/>
                <a:gridCol w="1328737"/>
              </a:tblGrid>
              <a:tr h="502920">
                <a:tc>
                  <a:txBody>
                    <a:bodyPr wrap="square"/>
                    <a:lstStyle/>
                    <a:p>
                      <a:r>
                        <a:rPr sz="1500" b="1">
                          <a:solidFill>
                            <a:srgbClr val="000000"/>
                          </a:solidFill>
                          <a:latin typeface="Times New Roman"/>
                        </a:rPr>
                        <a:t>Method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Passes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Failure AUROC</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AUPR</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Unseen corr.</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OOD digits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OOD textures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FPR95 digits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02920">
                <a:tc>
                  <a:txBody>
                    <a:bodyPr wrap="square"/>
                    <a:lstStyle/>
                    <a:p>
                      <a:r>
                        <a:rPr sz="1500" b="0">
                          <a:solidFill>
                            <a:srgbClr val="000000"/>
                          </a:solidFill>
                          <a:latin typeface="Times New Roman"/>
                        </a:rPr>
                        <a:t>MSP [3]</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0.837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0.737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0.843</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0.866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0.385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02920">
                <a:tc>
                  <a:txBody>
                    <a:bodyPr wrap="square"/>
                    <a:lstStyle/>
                    <a:p>
                      <a:r>
                        <a:rPr sz="1500" b="0">
                          <a:solidFill>
                            <a:srgbClr val="000000"/>
                          </a:solidFill>
                          <a:latin typeface="Times New Roman"/>
                        </a:rPr>
                        <a:t>Entropy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0.838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0.741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0.882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0.860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0.376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02920">
                <a:tc>
                  <a:txBody>
                    <a:bodyPr wrap="square"/>
                    <a:lstStyle/>
                    <a:p>
                      <a:r>
                        <a:rPr sz="1500" b="0">
                          <a:solidFill>
                            <a:srgbClr val="000000"/>
                          </a:solidFill>
                          <a:latin typeface="Times New Roman"/>
                        </a:rPr>
                        <a:t>Energy [4]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0.818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0.724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0.827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0.884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0.874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0.336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02920">
                <a:tc>
                  <a:txBody>
                    <a:bodyPr wrap="square"/>
                    <a:lstStyle/>
                    <a:p>
                      <a:r>
                        <a:rPr sz="1500" b="0">
                          <a:solidFill>
                            <a:srgbClr val="000000"/>
                          </a:solidFill>
                          <a:latin typeface="Times New Roman"/>
                        </a:rPr>
                        <a:t>Mahalanobis (normalised) [2]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0.723</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0.804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0.971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0.937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0.148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02920">
                <a:tc>
                  <a:txBody>
                    <a:bodyPr wrap="square"/>
                    <a:lstStyle/>
                    <a:p>
                      <a:r>
                        <a:rPr sz="1500" b="0">
                          <a:solidFill>
                            <a:srgbClr val="000000"/>
                          </a:solidFill>
                          <a:latin typeface="Times New Roman"/>
                        </a:rPr>
                        <a:t>MC dropout [1]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20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0.836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0.738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0.881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0.858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0.366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02920">
                <a:tc>
                  <a:txBody>
                    <a:bodyPr wrap="square"/>
                    <a:lstStyle/>
                    <a:p>
                      <a:r>
                        <a:rPr sz="1500" b="1">
                          <a:solidFill>
                            <a:srgbClr val="000000"/>
                          </a:solidFill>
                          <a:latin typeface="Times New Roman"/>
                        </a:rPr>
                        <a:t>EdgeGuard CARS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1</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0.842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0.756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0.848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0.960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0.910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0.206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7" name="Text 4"/>
          <p:cNvSpPr txBox="1"/>
          <p:nvPr/>
        </p:nvSpPr>
        <p:spPr>
          <a:xfrm>
            <a:off x="411480" y="4937760"/>
            <a:ext cx="11338560" cy="1097280"/>
          </a:xfrm>
          <a:prstGeom prst="rect">
            <a:avLst/>
          </a:prstGeom>
          <a:noFill/>
          <a:ln/>
        </p:spPr>
        <p:txBody>
          <a:bodyPr wrap="square" lIns="0" tIns="0" rIns="0" bIns="0" rtlCol="0" anchor="t"/>
          <a:lstStyle/>
          <a:p>
            <a:pPr marL="342900" indent="-342900">
              <a:spcAft>
                <a:spcPts val="400"/>
              </a:spcAft>
              <a:buSzPct val="100000"/>
              <a:buChar char="•"/>
            </a:pPr>
            <a:r>
              <a:rPr lang="en-US" sz="1700" dirty="0" b="1">
                <a:solidFill>
                  <a:srgbClr val="000000"/>
                </a:solidFill>
                <a:latin typeface="Times New Roman"/>
                <a:ea typeface="Calibri"/>
                <a:cs typeface="Times New Roman"/>
              </a:rPr>
              <a:t>Failure ranking: </a:t>
            </a:r>
            <a:r>
              <a:rPr lang="en-US" sz="1700" dirty="0">
                <a:solidFill>
                  <a:srgbClr val="000000"/>
                </a:solidFill>
                <a:latin typeface="Times New Roman"/>
                <a:ea typeface="Calibri"/>
                <a:cs typeface="Times New Roman"/>
              </a:rPr>
              <a:t>CARS is best (0.842) but only slightly above softmax (0.837) and 20-pass MC dropout (0.836).</a:t>
            </a:r>
            <a:endParaRPr lang="en-US" sz="1700">
              <a:latin typeface="Times New Roman"/>
              <a:ea typeface="Calibri"/>
              <a:cs typeface="Times New Roman"/>
            </a:endParaRPr>
          </a:p>
          <a:p>
            <a:pPr marL="342900" indent="-342900">
              <a:spcAft>
                <a:spcPts val="400"/>
              </a:spcAft>
              <a:buSzPct val="100000"/>
              <a:buChar char="•"/>
            </a:pPr>
            <a:r>
              <a:rPr lang="en-US" sz="1700" dirty="0" b="1">
                <a:solidFill>
                  <a:srgbClr val="000000"/>
                </a:solidFill>
                <a:latin typeface="Times New Roman"/>
                <a:ea typeface="Calibri"/>
                <a:cs typeface="Times New Roman"/>
              </a:rPr>
              <a:t>Unknown objects: </a:t>
            </a:r>
            <a:r>
              <a:rPr lang="en-US" sz="1700" dirty="0">
                <a:solidFill>
                  <a:srgbClr val="000000"/>
                </a:solidFill>
                <a:latin typeface="Times New Roman"/>
                <a:ea typeface="Calibri"/>
                <a:cs typeface="Times New Roman"/>
              </a:rPr>
              <a:t>OOD AUROC 0.866 -&gt; 0.960 (digits) and 0.842 -&gt; 0.910 (textures) versus softmax; FPR95 halved.</a:t>
            </a:r>
            <a:endParaRPr lang="en-US" sz="1700">
              <a:latin typeface="Times New Roman"/>
              <a:ea typeface="Calibri"/>
              <a:cs typeface="Times New Roman"/>
            </a:endParaRPr>
          </a:p>
          <a:p>
            <a:pPr marL="342900" indent="-342900">
              <a:spcAft>
                <a:spcPts val="400"/>
              </a:spcAft>
              <a:buSzPct val="100000"/>
              <a:buChar char="•"/>
            </a:pPr>
            <a:r>
              <a:rPr lang="en-US" sz="1700" dirty="0" b="1">
                <a:solidFill>
                  <a:srgbClr val="000000"/>
                </a:solidFill>
                <a:latin typeface="Times New Roman"/>
                <a:ea typeface="Calibri"/>
                <a:cs typeface="Times New Roman"/>
              </a:rPr>
              <a:t>Mahalanobis alone </a:t>
            </a:r>
            <a:r>
              <a:rPr lang="en-US" sz="1700" dirty="0">
                <a:solidFill>
                  <a:srgbClr val="000000"/>
                </a:solidFill>
                <a:latin typeface="Times New Roman"/>
                <a:ea typeface="Calibri"/>
                <a:cs typeface="Times New Roman"/>
              </a:rPr>
              <a:t>is the best OOD detector but the worst failure detector, so the signals are needed together.</a:t>
            </a:r>
            <a:endParaRPr lang="en-US" sz="1700">
              <a:latin typeface="Times New Roman"/>
              <a:ea typeface="Calibri"/>
              <a:cs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Calibration and Decisions</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pic>
        <p:nvPicPr>
          <p:cNvPr id="7" name="Picture 6" descr="fig06_reliability_diagram.png"/>
          <p:cNvPicPr>
            <a:picLocks noChangeAspect="1"/>
          </p:cNvPicPr>
          <p:nvPr/>
        </p:nvPicPr>
        <p:blipFill>
          <a:blip r:embed="rId2"/>
          <a:stretch>
            <a:fillRect/>
          </a:stretch>
        </p:blipFill>
        <p:spPr>
          <a:xfrm>
            <a:off x="411480" y="1506931"/>
            <a:ext cx="6035040" cy="2655417"/>
          </a:xfrm>
          <a:prstGeom prst="rect">
            <a:avLst/>
          </a:prstGeom>
        </p:spPr>
      </p:pic>
      <p:sp>
        <p:nvSpPr>
          <p:cNvPr id="8" name="TextBox 7"/>
          <p:cNvSpPr txBox="1"/>
          <p:nvPr/>
        </p:nvSpPr>
        <p:spPr>
          <a:xfrm>
            <a:off x="411480" y="4526280"/>
            <a:ext cx="6035040" cy="1280160"/>
          </a:xfrm>
          <a:prstGeom prst="rect">
            <a:avLst/>
          </a:prstGeom>
          <a:noFill/>
        </p:spPr>
        <p:txBody>
          <a:bodyPr wrap="square" lIns="0" rIns="0" tIns="0" bIns="0">
            <a:spAutoFit/>
          </a:bodyPr>
          <a:lstStyle/>
          <a:p>
            <a:r>
              <a:rPr sz="1600" b="1" i="0">
                <a:solidFill>
                  <a:srgbClr val="000000"/>
                </a:solidFill>
                <a:latin typeface="Times New Roman"/>
              </a:rPr>
              <a:t>Calibration on corrupted inputs: </a:t>
            </a:r>
            <a:r>
              <a:rPr sz="1600" b="0" i="0">
                <a:solidFill>
                  <a:srgbClr val="000000"/>
                </a:solidFill>
                <a:latin typeface="Times New Roman"/>
              </a:rPr>
              <a:t>softmax ECE 12.5% vs EdgeGuard 4.2%. On clean images both are similar (1.9% vs 2.2%).</a:t>
            </a:r>
          </a:p>
        </p:txBody>
      </p:sp>
      <p:graphicFrame>
        <p:nvGraphicFramePr>
          <p:cNvPr id="9" name="Table 8"/>
          <p:cNvGraphicFramePr>
            <a:graphicFrameLocks noGrp="1"/>
          </p:cNvGraphicFramePr>
          <p:nvPr/>
        </p:nvGraphicFramePr>
        <p:xfrm>
          <a:off x="6720840" y="1280160"/>
          <a:ext cx="5029200" cy="3840480"/>
        </p:xfrm>
        <a:graphic>
          <a:graphicData uri="http://schemas.openxmlformats.org/drawingml/2006/table">
            <a:tbl>
              <a:tblPr/>
              <a:tblGrid>
                <a:gridCol w="3017520"/>
                <a:gridCol w="1005840"/>
                <a:gridCol w="1005840"/>
              </a:tblGrid>
              <a:tr h="548640">
                <a:tc>
                  <a:txBody>
                    <a:bodyPr wrap="square"/>
                    <a:lstStyle/>
                    <a:p>
                      <a:r>
                        <a:rPr sz="1500" b="1">
                          <a:solidFill>
                            <a:srgbClr val="000000"/>
                          </a:solidFill>
                          <a:latin typeface="Times New Roman"/>
                        </a:rPr>
                        <a:t>Metric (adaptive, 3% target)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Clean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All 94k</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48640">
                <a:tc>
                  <a:txBody>
                    <a:bodyPr wrap="square"/>
                    <a:lstStyle/>
                    <a:p>
                      <a:r>
                        <a:rPr sz="1500" b="0">
                          <a:solidFill>
                            <a:srgbClr val="000000"/>
                          </a:solidFill>
                          <a:latin typeface="Times New Roman"/>
                        </a:rPr>
                        <a:t>Error of unguarded model</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15.2%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43.5%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Coverage (ACCEPT)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59.4%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22.7%</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1">
                          <a:solidFill>
                            <a:srgbClr val="000000"/>
                          </a:solidFill>
                          <a:latin typeface="Times New Roman"/>
                        </a:rPr>
                        <a:t>Error on accepted inputs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2.8%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3.5%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Failures flagged (recall)</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89.0%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98.2%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Correct inputs deferred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21.5%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Correct inputs warned/deferred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31.9%</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61.3%</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Decisions Track Input Difficulty</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pic>
        <p:nvPicPr>
          <p:cNvPr id="7" name="Picture 6" descr="fig08_decision_breakdown.png"/>
          <p:cNvPicPr>
            <a:picLocks noChangeAspect="1"/>
          </p:cNvPicPr>
          <p:nvPr/>
        </p:nvPicPr>
        <p:blipFill>
          <a:blip r:embed="rId2"/>
          <a:stretch>
            <a:fillRect/>
          </a:stretch>
        </p:blipFill>
        <p:spPr>
          <a:xfrm>
            <a:off x="411480" y="1995133"/>
            <a:ext cx="7498079" cy="3142052"/>
          </a:xfrm>
          <a:prstGeom prst="rect">
            <a:avLst/>
          </a:prstGeom>
        </p:spPr>
      </p:pic>
      <p:sp>
        <p:nvSpPr>
          <p:cNvPr id="7" name="Text 4"/>
          <p:cNvSpPr txBox="1"/>
          <p:nvPr/>
        </p:nvSpPr>
        <p:spPr>
          <a:xfrm>
            <a:off x="8138160" y="1463040"/>
            <a:ext cx="3611880" cy="4206240"/>
          </a:xfrm>
          <a:prstGeom prst="rect">
            <a:avLst/>
          </a:prstGeom>
          <a:noFill/>
          <a:ln/>
        </p:spPr>
        <p:txBody>
          <a:bodyPr wrap="square" lIns="0" tIns="0" rIns="0" bIns="0" rtlCol="0" anchor="t"/>
          <a:lstStyle/>
          <a:p>
            <a:pPr marL="342900" indent="-342900">
              <a:spcAft>
                <a:spcPts val="1200"/>
              </a:spcAft>
              <a:buSzPct val="100000"/>
              <a:buChar char="•"/>
            </a:pPr>
            <a:r>
              <a:rPr lang="en-US" sz="1700" dirty="0" b="1">
                <a:solidFill>
                  <a:srgbClr val="000000"/>
                </a:solidFill>
                <a:latin typeface="Times New Roman"/>
                <a:ea typeface="Calibri"/>
                <a:cs typeface="Times New Roman"/>
              </a:rPr>
              <a:t>Clean: </a:t>
            </a:r>
            <a:r>
              <a:rPr lang="en-US" sz="1700" dirty="0">
                <a:solidFill>
                  <a:srgbClr val="000000"/>
                </a:solidFill>
                <a:latin typeface="Times New Roman"/>
                <a:ea typeface="Calibri"/>
                <a:cs typeface="Times New Roman"/>
              </a:rPr>
              <a:t>59% accepted, only 10% deferred.</a:t>
            </a:r>
            <a:endParaRPr lang="en-US" sz="1700">
              <a:latin typeface="Times New Roman"/>
              <a:ea typeface="Calibri"/>
              <a:cs typeface="Times New Roman"/>
            </a:endParaRPr>
          </a:p>
          <a:p>
            <a:pPr marL="342900" indent="-342900">
              <a:spcAft>
                <a:spcPts val="1200"/>
              </a:spcAft>
              <a:buSzPct val="100000"/>
              <a:buChar char="•"/>
            </a:pPr>
            <a:r>
              <a:rPr lang="en-US" sz="1700" dirty="0" b="1">
                <a:solidFill>
                  <a:srgbClr val="000000"/>
                </a:solidFill>
                <a:latin typeface="Times New Roman"/>
                <a:ea typeface="Calibri"/>
                <a:cs typeface="Times New Roman"/>
              </a:rPr>
              <a:t>Severe blur, low light, fog: </a:t>
            </a:r>
            <a:r>
              <a:rPr lang="en-US" sz="1700" dirty="0">
                <a:solidFill>
                  <a:srgbClr val="000000"/>
                </a:solidFill>
                <a:latin typeface="Times New Roman"/>
                <a:ea typeface="Calibri"/>
                <a:cs typeface="Times New Roman"/>
              </a:rPr>
              <a:t>almost nothing accepted (76-93% deferred).</a:t>
            </a:r>
            <a:endParaRPr lang="en-US" sz="1700">
              <a:latin typeface="Times New Roman"/>
              <a:ea typeface="Calibri"/>
              <a:cs typeface="Times New Roman"/>
            </a:endParaRPr>
          </a:p>
          <a:p>
            <a:pPr marL="342900" indent="-342900">
              <a:spcAft>
                <a:spcPts val="1200"/>
              </a:spcAft>
              <a:buSzPct val="100000"/>
              <a:buChar char="•"/>
            </a:pPr>
            <a:r>
              <a:rPr lang="en-US" sz="1700" dirty="0" b="1">
                <a:solidFill>
                  <a:srgbClr val="000000"/>
                </a:solidFill>
                <a:latin typeface="Times New Roman"/>
                <a:ea typeface="Calibri"/>
                <a:cs typeface="Times New Roman"/>
              </a:rPr>
              <a:t>Unknown digits: </a:t>
            </a:r>
            <a:r>
              <a:rPr lang="en-US" sz="1700" dirty="0">
                <a:solidFill>
                  <a:srgbClr val="000000"/>
                </a:solidFill>
                <a:latin typeface="Times New Roman"/>
                <a:ea typeface="Calibri"/>
                <a:cs typeface="Times New Roman"/>
              </a:rPr>
              <a:t>87% deferred, 0% accepted.</a:t>
            </a:r>
            <a:endParaRPr lang="en-US" sz="1700">
              <a:latin typeface="Times New Roman"/>
              <a:ea typeface="Calibri"/>
              <a:cs typeface="Times New Roman"/>
            </a:endParaRPr>
          </a:p>
          <a:p>
            <a:pPr marL="342900" indent="-342900">
              <a:spcAft>
                <a:spcPts val="1200"/>
              </a:spcAft>
              <a:buSzPct val="100000"/>
              <a:buChar char="•"/>
            </a:pPr>
            <a:r>
              <a:rPr lang="en-US" sz="1700" dirty="0" b="1">
                <a:solidFill>
                  <a:srgbClr val="000000"/>
                </a:solidFill>
                <a:latin typeface="Times New Roman"/>
                <a:ea typeface="Calibri"/>
                <a:cs typeface="Times New Roman"/>
              </a:rPr>
              <a:t>JPEG (unseen): </a:t>
            </a:r>
            <a:r>
              <a:rPr lang="en-US" sz="1700" dirty="0">
                <a:solidFill>
                  <a:srgbClr val="000000"/>
                </a:solidFill>
                <a:latin typeface="Times New Roman"/>
                <a:ea typeface="Calibri"/>
                <a:cs typeface="Times New Roman"/>
              </a:rPr>
              <a:t>33% still accepted, the weakest case.</a:t>
            </a:r>
            <a:endParaRPr lang="en-US" sz="1700">
              <a:latin typeface="Times New Roman"/>
              <a:ea typeface="Calibri"/>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Fixed vs Adaptive Thresholds</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ig09_fixed_vs_adaptive.png"/>
          <p:cNvPicPr>
            <a:picLocks noChangeAspect="1"/>
          </p:cNvPicPr>
          <p:nvPr/>
        </p:nvPicPr>
        <p:blipFill>
          <a:blip r:embed="rId2"/>
          <a:stretch>
            <a:fillRect/>
          </a:stretch>
        </p:blipFill>
        <p:spPr>
          <a:xfrm>
            <a:off x="692331" y="1188720"/>
            <a:ext cx="10776857" cy="4114800"/>
          </a:xfrm>
          <a:prstGeom prst="rect">
            <a:avLst/>
          </a:prstGeom>
        </p:spPr>
      </p:pic>
      <p:sp>
        <p:nvSpPr>
          <p:cNvPr id="7" name="Text 4"/>
          <p:cNvSpPr txBox="1"/>
          <p:nvPr/>
        </p:nvSpPr>
        <p:spPr>
          <a:xfrm>
            <a:off x="411480" y="5349240"/>
            <a:ext cx="11338560" cy="731520"/>
          </a:xfrm>
          <a:prstGeom prst="rect">
            <a:avLst/>
          </a:prstGeom>
          <a:noFill/>
          <a:ln/>
        </p:spPr>
        <p:txBody>
          <a:bodyPr wrap="square" lIns="0" tIns="0" rIns="0" bIns="0" rtlCol="0" anchor="t"/>
          <a:lstStyle/>
          <a:p>
            <a:pPr marL="342900" indent="-342900">
              <a:spcAft>
                <a:spcPts val="400"/>
              </a:spcAft>
              <a:buSzPct val="100000"/>
              <a:buChar char="•"/>
            </a:pPr>
            <a:r>
              <a:rPr lang="en-US" sz="1700" dirty="0" b="1">
                <a:solidFill>
                  <a:srgbClr val="000000"/>
                </a:solidFill>
                <a:latin typeface="Times New Roman"/>
                <a:ea typeface="Calibri"/>
                <a:cs typeface="Times New Roman"/>
              </a:rPr>
              <a:t>Helped on calibrated conditions: </a:t>
            </a:r>
            <a:r>
              <a:rPr lang="en-US" sz="1700" dirty="0">
                <a:solidFill>
                  <a:srgbClr val="000000"/>
                </a:solidFill>
                <a:latin typeface="Times New Roman"/>
                <a:ea typeface="Calibri"/>
                <a:cs typeface="Times New Roman"/>
              </a:rPr>
              <a:t>noise error 5.2% -&gt; 3.1% and fog 4.9% -&gt; 3.7%; overall error on accepted 4.0% -&gt; 3.5% (coverage 24.4% -&gt; 22.7%).</a:t>
            </a:r>
            <a:endParaRPr lang="en-US" sz="1700">
              <a:latin typeface="Times New Roman"/>
              <a:ea typeface="Calibri"/>
              <a:cs typeface="Times New Roman"/>
            </a:endParaRPr>
          </a:p>
          <a:p>
            <a:pPr marL="342900" indent="-342900">
              <a:spcAft>
                <a:spcPts val="400"/>
              </a:spcAft>
              <a:buSzPct val="100000"/>
              <a:buChar char="•"/>
            </a:pPr>
            <a:r>
              <a:rPr lang="en-US" sz="1700" dirty="0" b="1">
                <a:solidFill>
                  <a:srgbClr val="000000"/>
                </a:solidFill>
                <a:latin typeface="Times New Roman"/>
                <a:ea typeface="Calibri"/>
                <a:cs typeface="Times New Roman"/>
              </a:rPr>
              <a:t>Did not solve unseen shifts: </a:t>
            </a:r>
            <a:r>
              <a:rPr lang="en-US" sz="1700" dirty="0">
                <a:solidFill>
                  <a:srgbClr val="000000"/>
                </a:solidFill>
                <a:latin typeface="Times New Roman"/>
                <a:ea typeface="Calibri"/>
                <a:cs typeface="Times New Roman"/>
              </a:rPr>
              <a:t>accepted blurred images (mostly motion blur) were still 19.8% wrong, JPEG 6.8%.</a:t>
            </a:r>
            <a:endParaRPr lang="en-US" sz="1700">
              <a:latin typeface="Times New Roman"/>
              <a:ea typeface="Calibri"/>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Explanations and Blind-Spot Memory</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ig10_explanation_confusion.png"/>
          <p:cNvPicPr>
            <a:picLocks noChangeAspect="1"/>
          </p:cNvPicPr>
          <p:nvPr/>
        </p:nvPicPr>
        <p:blipFill>
          <a:blip r:embed="rId2"/>
          <a:stretch>
            <a:fillRect/>
          </a:stretch>
        </p:blipFill>
        <p:spPr>
          <a:xfrm>
            <a:off x="411480" y="1299930"/>
            <a:ext cx="4937760" cy="3069418"/>
          </a:xfrm>
          <a:prstGeom prst="rect">
            <a:avLst/>
          </a:prstGeom>
        </p:spPr>
      </p:pic>
      <p:pic>
        <p:nvPicPr>
          <p:cNvPr id="8" name="Picture 7" descr="fig13_blind_spot_memory.png"/>
          <p:cNvPicPr>
            <a:picLocks noChangeAspect="1"/>
          </p:cNvPicPr>
          <p:nvPr/>
        </p:nvPicPr>
        <p:blipFill>
          <a:blip r:embed="rId4"/>
          <a:stretch>
            <a:fillRect/>
          </a:stretch>
        </p:blipFill>
        <p:spPr>
          <a:xfrm>
            <a:off x="5532120" y="1704109"/>
            <a:ext cx="6217920" cy="2261061"/>
          </a:xfrm>
          <a:prstGeom prst="rect">
            <a:avLst/>
          </a:prstGeom>
        </p:spPr>
      </p:pic>
      <p:sp>
        <p:nvSpPr>
          <p:cNvPr id="9" name="TextBox 8"/>
          <p:cNvSpPr txBox="1"/>
          <p:nvPr/>
        </p:nvSpPr>
        <p:spPr>
          <a:xfrm>
            <a:off x="411480" y="4572000"/>
            <a:ext cx="4937760" cy="1371600"/>
          </a:xfrm>
          <a:prstGeom prst="rect">
            <a:avLst/>
          </a:prstGeom>
          <a:noFill/>
        </p:spPr>
        <p:txBody>
          <a:bodyPr wrap="square" lIns="0" rIns="0" tIns="0" bIns="0">
            <a:spAutoFit/>
          </a:bodyPr>
          <a:lstStyle/>
          <a:p>
            <a:r>
              <a:rPr sz="1500" b="1" i="0">
                <a:solidFill>
                  <a:srgbClr val="000000"/>
                </a:solidFill>
                <a:latin typeface="Times New Roman"/>
              </a:rPr>
              <a:t>Reason correct in 86.1% </a:t>
            </a:r>
            <a:r>
              <a:rPr sz="1500" b="0" i="0">
                <a:solidFill>
                  <a:srgbClr val="000000"/>
                </a:solidFill>
                <a:latin typeface="Times New Roman"/>
              </a:rPr>
              <a:t>of 43,084 flagged cases: noise 99.5%, blur 93.7%, low light 100%, fog 77.2%.</a:t>
            </a:r>
          </a:p>
          <a:p>
            <a:r>
              <a:rPr sz="1500" b="1" i="0">
                <a:solidFill>
                  <a:srgbClr val="000000"/>
                </a:solidFill>
                <a:latin typeface="Times New Roman"/>
              </a:rPr>
              <a:t>Unknown objects named first in 35.0% </a:t>
            </a:r>
            <a:r>
              <a:rPr sz="1500" b="0" i="0">
                <a:solidFill>
                  <a:srgbClr val="000000"/>
                </a:solidFill>
                <a:latin typeface="Times New Roman"/>
              </a:rPr>
              <a:t>(often also dark or low-contrast); OOD flag raised in 55.0%.</a:t>
            </a:r>
          </a:p>
        </p:txBody>
      </p:sp>
      <p:sp>
        <p:nvSpPr>
          <p:cNvPr id="10" name="TextBox 9"/>
          <p:cNvSpPr txBox="1"/>
          <p:nvPr/>
        </p:nvSpPr>
        <p:spPr>
          <a:xfrm>
            <a:off x="5532120" y="4572000"/>
            <a:ext cx="6217920" cy="1371600"/>
          </a:xfrm>
          <a:prstGeom prst="rect">
            <a:avLst/>
          </a:prstGeom>
          <a:noFill/>
        </p:spPr>
        <p:txBody>
          <a:bodyPr wrap="square" lIns="0" rIns="0" tIns="0" bIns="0">
            <a:spAutoFit/>
          </a:bodyPr>
          <a:lstStyle/>
          <a:p>
            <a:r>
              <a:rPr sz="1500" b="1" i="0">
                <a:solidFill>
                  <a:srgbClr val="000000"/>
                </a:solidFill>
                <a:latin typeface="Times New Roman"/>
              </a:rPr>
              <a:t>Silent misses: </a:t>
            </a:r>
            <a:r>
              <a:rPr sz="1500" b="0" i="0">
                <a:solidFill>
                  <a:srgbClr val="000000"/>
                </a:solidFill>
                <a:latin typeface="Times New Roman"/>
              </a:rPr>
              <a:t>2.36% -&gt; 1.95% (motion blur) and 7.04% -&gt; 6.20% (JPEG), i.e. 17% and 12% fewer.</a:t>
            </a:r>
          </a:p>
          <a:p>
            <a:r>
              <a:rPr sz="1500" b="1" i="0">
                <a:solidFill>
                  <a:srgbClr val="000000"/>
                </a:solidFill>
                <a:latin typeface="Times New Roman"/>
              </a:rPr>
              <a:t>Cost: </a:t>
            </a:r>
            <a:r>
              <a:rPr sz="1500" b="0" i="0">
                <a:solidFill>
                  <a:srgbClr val="000000"/>
                </a:solidFill>
                <a:latin typeface="Times New Roman"/>
              </a:rPr>
              <a:t>+3.1 / +2.1 points false alarms; gain depends on how much operators confirm.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Results : Ablation and Edge Efficiency</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TextBox 6"/>
          <p:cNvSpPr txBox="1"/>
          <p:nvPr/>
        </p:nvSpPr>
        <p:spPr>
          <a:xfrm>
            <a:off x="411480" y="1188720"/>
            <a:ext cx="5486400" cy="365760"/>
          </a:xfrm>
          <a:prstGeom prst="rect">
            <a:avLst/>
          </a:prstGeom>
          <a:noFill/>
        </p:spPr>
        <p:txBody>
          <a:bodyPr wrap="square" lIns="0" rIns="0" tIns="0" bIns="0">
            <a:spAutoFit/>
          </a:bodyPr>
          <a:lstStyle/>
          <a:p>
            <a:r>
              <a:rPr sz="1700" b="1" i="0">
                <a:solidFill>
                  <a:srgbClr val="000000"/>
                </a:solidFill>
                <a:latin typeface="Times New Roman"/>
              </a:rPr>
              <a:t>Ablation of signal groups (AUROC)</a:t>
            </a:r>
          </a:p>
        </p:txBody>
      </p:sp>
      <p:graphicFrame>
        <p:nvGraphicFramePr>
          <p:cNvPr id="8" name="Table 7"/>
          <p:cNvGraphicFramePr>
            <a:graphicFrameLocks noGrp="1"/>
          </p:cNvGraphicFramePr>
          <p:nvPr/>
        </p:nvGraphicFramePr>
        <p:xfrm>
          <a:off x="411480" y="1645920"/>
          <a:ext cx="5486400" cy="2743200"/>
        </p:xfrm>
        <a:graphic>
          <a:graphicData uri="http://schemas.openxmlformats.org/drawingml/2006/table">
            <a:tbl>
              <a:tblPr/>
              <a:tblGrid>
                <a:gridCol w="2468880"/>
                <a:gridCol w="1005840"/>
                <a:gridCol w="1005840"/>
                <a:gridCol w="1005840"/>
              </a:tblGrid>
              <a:tr h="548640">
                <a:tc>
                  <a:txBody>
                    <a:bodyPr wrap="square"/>
                    <a:lstStyle/>
                    <a:p>
                      <a:r>
                        <a:rPr sz="1500" b="1">
                          <a:solidFill>
                            <a:srgbClr val="000000"/>
                          </a:solidFill>
                          <a:latin typeface="Times New Roman"/>
                        </a:rPr>
                        <a:t>Signals used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Unreliable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Unseen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OOD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48640">
                <a:tc>
                  <a:txBody>
                    <a:bodyPr wrap="square"/>
                    <a:lstStyle/>
                    <a:p>
                      <a:r>
                        <a:rPr sz="1500" b="0">
                          <a:solidFill>
                            <a:srgbClr val="000000"/>
                          </a:solidFill>
                          <a:latin typeface="Times New Roman"/>
                        </a:rPr>
                        <a:t>Model uncertainty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0.835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0.872</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 Context shift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0.846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0.935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1">
                          <a:solidFill>
                            <a:srgbClr val="000000"/>
                          </a:solidFill>
                          <a:latin typeface="Times New Roman"/>
                        </a:rPr>
                        <a:t>+ Input quality (full)</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0.845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0.848</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0.935</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Input quality only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0.704</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0.726</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0.730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9" name="TextBox 8"/>
          <p:cNvSpPr txBox="1"/>
          <p:nvPr/>
        </p:nvSpPr>
        <p:spPr>
          <a:xfrm>
            <a:off x="6263640" y="1188720"/>
            <a:ext cx="5486400" cy="365760"/>
          </a:xfrm>
          <a:prstGeom prst="rect">
            <a:avLst/>
          </a:prstGeom>
          <a:noFill/>
        </p:spPr>
        <p:txBody>
          <a:bodyPr wrap="square" lIns="0" rIns="0" tIns="0" bIns="0">
            <a:spAutoFit/>
          </a:bodyPr>
          <a:lstStyle/>
          <a:p>
            <a:r>
              <a:rPr sz="1700" b="1" i="0">
                <a:solidFill>
                  <a:srgbClr val="000000"/>
                </a:solidFill>
                <a:latin typeface="Times New Roman"/>
              </a:rPr>
              <a:t>Latency per image (1 CPU thread)</a:t>
            </a:r>
          </a:p>
        </p:txBody>
      </p:sp>
      <p:graphicFrame>
        <p:nvGraphicFramePr>
          <p:cNvPr id="10" name="Table 9"/>
          <p:cNvGraphicFramePr>
            <a:graphicFrameLocks noGrp="1"/>
          </p:cNvGraphicFramePr>
          <p:nvPr/>
        </p:nvGraphicFramePr>
        <p:xfrm>
          <a:off x="6263640" y="1645920"/>
          <a:ext cx="5486400" cy="2743200"/>
        </p:xfrm>
        <a:graphic>
          <a:graphicData uri="http://schemas.openxmlformats.org/drawingml/2006/table">
            <a:tbl>
              <a:tblPr/>
              <a:tblGrid>
                <a:gridCol w="2468880"/>
                <a:gridCol w="1463040"/>
                <a:gridCol w="1554480"/>
              </a:tblGrid>
              <a:tr h="548640">
                <a:tc>
                  <a:txBody>
                    <a:bodyPr wrap="square"/>
                    <a:lstStyle/>
                    <a:p>
                      <a:r>
                        <a:rPr sz="1500" b="1">
                          <a:solidFill>
                            <a:srgbClr val="000000"/>
                          </a:solidFill>
                          <a:latin typeface="Times New Roman"/>
                        </a:rPr>
                        <a:t>Method</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Latency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500" b="1">
                          <a:solidFill>
                            <a:srgbClr val="000000"/>
                          </a:solidFill>
                          <a:latin typeface="Times New Roman"/>
                        </a:rPr>
                        <a:t>Extra memory</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48640">
                <a:tc>
                  <a:txBody>
                    <a:bodyPr wrap="square"/>
                    <a:lstStyle/>
                    <a:p>
                      <a:r>
                        <a:rPr sz="1500" b="0">
                          <a:solidFill>
                            <a:srgbClr val="000000"/>
                          </a:solidFill>
                          <a:latin typeface="Times New Roman"/>
                        </a:rPr>
                        <a:t>Base CNN (PyTorch / ONNX)</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2.31 / 0.95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1">
                          <a:solidFill>
                            <a:srgbClr val="000000"/>
                          </a:solidFill>
                          <a:latin typeface="Times New Roman"/>
                        </a:rPr>
                        <a:t>EdgeGuard (PyTorch base)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2.45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70 KB + 132 KB</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MC dropout, 10 passes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19.0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48640">
                <a:tc>
                  <a:txBody>
                    <a:bodyPr wrap="square"/>
                    <a:lstStyle/>
                    <a:p>
                      <a:r>
                        <a:rPr sz="1500" b="0">
                          <a:solidFill>
                            <a:srgbClr val="000000"/>
                          </a:solidFill>
                          <a:latin typeface="Times New Roman"/>
                        </a:rPr>
                        <a:t>Deep ensemble, 5 models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~11.6 ms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5x weights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7" name="Text 4"/>
          <p:cNvSpPr txBox="1"/>
          <p:nvPr/>
        </p:nvSpPr>
        <p:spPr>
          <a:xfrm>
            <a:off x="411480" y="4663440"/>
            <a:ext cx="11338560" cy="1280160"/>
          </a:xfrm>
          <a:prstGeom prst="rect">
            <a:avLst/>
          </a:prstGeom>
          <a:noFill/>
          <a:ln/>
        </p:spPr>
        <p:txBody>
          <a:bodyPr wrap="square" lIns="0" tIns="0" rIns="0" bIns="0" rtlCol="0" anchor="t"/>
          <a:lstStyle/>
          <a:p>
            <a:pPr marL="342900" indent="-342900">
              <a:spcAft>
                <a:spcPts val="600"/>
              </a:spcAft>
              <a:buSzPct val="100000"/>
              <a:buChar char="•"/>
            </a:pPr>
            <a:r>
              <a:rPr lang="en-US" sz="1700" dirty="0" b="1">
                <a:solidFill>
                  <a:srgbClr val="000000"/>
                </a:solidFill>
                <a:latin typeface="Times New Roman"/>
                <a:ea typeface="Calibri"/>
                <a:cs typeface="Times New Roman"/>
              </a:rPr>
              <a:t>Context shift </a:t>
            </a:r>
            <a:r>
              <a:rPr lang="en-US" sz="1700" dirty="0">
                <a:solidFill>
                  <a:srgbClr val="000000"/>
                </a:solidFill>
                <a:latin typeface="Times New Roman"/>
                <a:ea typeface="Calibri"/>
                <a:cs typeface="Times New Roman"/>
              </a:rPr>
              <a:t>adds most for OOD (0.872 -&gt; 0.935); quality alone is not enough.</a:t>
            </a:r>
            <a:endParaRPr lang="en-US" sz="1700">
              <a:latin typeface="Times New Roman"/>
              <a:ea typeface="Calibri"/>
              <a:cs typeface="Times New Roman"/>
            </a:endParaRPr>
          </a:p>
          <a:p>
            <a:pPr marL="342900" indent="-342900">
              <a:spcAft>
                <a:spcPts val="600"/>
              </a:spcAft>
              <a:buSzPct val="100000"/>
              <a:buChar char="•"/>
            </a:pPr>
            <a:r>
              <a:rPr lang="en-US" sz="1700" dirty="0" b="1">
                <a:solidFill>
                  <a:srgbClr val="000000"/>
                </a:solidFill>
                <a:latin typeface="Times New Roman"/>
                <a:ea typeface="Calibri"/>
                <a:cs typeface="Times New Roman"/>
              </a:rPr>
              <a:t>Overhead 0.14 ms = 5.9% </a:t>
            </a:r>
            <a:r>
              <a:rPr lang="en-US" sz="1700" dirty="0">
                <a:solidFill>
                  <a:srgbClr val="000000"/>
                </a:solidFill>
                <a:latin typeface="Times New Roman"/>
                <a:ea typeface="Calibri"/>
                <a:cs typeface="Times New Roman"/>
              </a:rPr>
              <a:t>of the PyTorch pass (14.3% of ONNX), inside the 10-15% NFR1 budget; MC dropout is ~8x slower.</a:t>
            </a:r>
            <a:endParaRPr lang="en-US" sz="1700">
              <a:latin typeface="Times New Roman"/>
              <a:ea typeface="Calibri"/>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Qualitative Results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pic>
        <p:nvPicPr>
          <p:cNvPr id="7" name="Picture 6" descr="fig00_examples.png"/>
          <p:cNvPicPr>
            <a:picLocks noChangeAspect="1"/>
          </p:cNvPicPr>
          <p:nvPr/>
        </p:nvPicPr>
        <p:blipFill>
          <a:blip r:embed="rId2"/>
          <a:stretch>
            <a:fillRect/>
          </a:stretch>
        </p:blipFill>
        <p:spPr>
          <a:xfrm>
            <a:off x="411480" y="1603214"/>
            <a:ext cx="11338560" cy="2554290"/>
          </a:xfrm>
          <a:prstGeom prst="rect">
            <a:avLst/>
          </a:prstGeom>
        </p:spPr>
      </p:pic>
      <p:sp>
        <p:nvSpPr>
          <p:cNvPr id="7" name="Text 4"/>
          <p:cNvSpPr txBox="1"/>
          <p:nvPr/>
        </p:nvSpPr>
        <p:spPr>
          <a:xfrm>
            <a:off x="411480" y="4754880"/>
            <a:ext cx="11338560" cy="1097280"/>
          </a:xfrm>
          <a:prstGeom prst="rect">
            <a:avLst/>
          </a:prstGeom>
          <a:noFill/>
          <a:ln/>
        </p:spPr>
        <p:txBody>
          <a:bodyPr wrap="square" lIns="0" tIns="0" rIns="0" bIns="0" rtlCol="0" anchor="t"/>
          <a:lstStyle/>
          <a:p>
            <a:pPr marL="342900" indent="-342900">
              <a:spcAft>
                <a:spcPts val="600"/>
              </a:spcAft>
              <a:buSzPct val="100000"/>
              <a:buChar char="•"/>
            </a:pPr>
            <a:r>
              <a:rPr lang="en-US" sz="1800" dirty="0" b="1">
                <a:solidFill>
                  <a:srgbClr val="000000"/>
                </a:solidFill>
                <a:latin typeface="Times New Roman"/>
                <a:ea typeface="Calibri"/>
                <a:cs typeface="Times New Roman"/>
              </a:rPr>
              <a:t>Same model, same single pass: </a:t>
            </a:r>
            <a:r>
              <a:rPr lang="en-US" sz="1800" dirty="0">
                <a:solidFill>
                  <a:srgbClr val="000000"/>
                </a:solidFill>
                <a:latin typeface="Times New Roman"/>
                <a:ea typeface="Calibri"/>
                <a:cs typeface="Times New Roman"/>
              </a:rPr>
              <a:t>the plain model is confidently wrong under low light, blur, fog, noise and on unknown objects.</a:t>
            </a:r>
            <a:endParaRPr lang="en-US" sz="1800">
              <a:latin typeface="Times New Roman"/>
              <a:ea typeface="Calibri"/>
              <a:cs typeface="Times New Roman"/>
            </a:endParaRPr>
          </a:p>
          <a:p>
            <a:pPr marL="342900" indent="-342900">
              <a:spcAft>
                <a:spcPts val="600"/>
              </a:spcAft>
              <a:buSzPct val="100000"/>
              <a:buChar char="•"/>
            </a:pPr>
            <a:r>
              <a:rPr lang="en-US" sz="1800" dirty="0" b="1">
                <a:solidFill>
                  <a:srgbClr val="000000"/>
                </a:solidFill>
                <a:latin typeface="Times New Roman"/>
                <a:ea typeface="Calibri"/>
                <a:cs typeface="Times New Roman"/>
              </a:rPr>
              <a:t>EdgeGuard flags each case </a:t>
            </a:r>
            <a:r>
              <a:rPr lang="en-US" sz="1800" dirty="0">
                <a:solidFill>
                  <a:srgbClr val="000000"/>
                </a:solidFill>
                <a:latin typeface="Times New Roman"/>
                <a:ea typeface="Calibri"/>
                <a:cs typeface="Times New Roman"/>
              </a:rPr>
              <a:t>(amber = WARN, red = DEFER) and names the cause; the clean image is accepted (green).</a:t>
            </a:r>
            <a:endParaRPr lang="en-US" sz="1800">
              <a:latin typeface="Times New Roman"/>
              <a:ea typeface="Calibri"/>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5EFA-5E16-2C84-6D4F-7FD036A4EBD8}"/>
            </a:ext>
          </a:extLst>
        </p:cNvPr>
        <p:cNvGrpSpPr/>
        <p:nvPr/>
      </p:nvGrpSpPr>
      <p:grpSpPr>
        <a:xfrm>
          <a:off x="0" y="0"/>
          <a:ext cx="0" cy="0"/>
          <a:chOff x="0" y="0"/>
          <a:chExt cx="0" cy="0"/>
        </a:xfrm>
      </p:grpSpPr>
      <p:pic>
        <p:nvPicPr>
          <p:cNvPr id="2" name="Image 0" descr="/home/claude/work/unpacked/ppt/media/image1.png">
            <a:extLst>
              <a:ext uri="{FF2B5EF4-FFF2-40B4-BE49-F238E27FC236}">
                <a16:creationId xmlns:a16="http://schemas.microsoft.com/office/drawing/2014/main" id="{30BF43BD-1D9E-1355-E3DD-2DF052DEBB06}"/>
              </a:ext>
            </a:extLst>
          </p:cNvPr>
          <p:cNvPicPr>
            <a:picLocks noChangeAspect="1"/>
          </p:cNvPicPr>
          <p:nvPr/>
        </p:nvPicPr>
        <p:blipFill>
          <a:blip r:embed="rId3"/>
          <a:stretch>
            <a:fillRect/>
          </a:stretch>
        </p:blipFill>
        <p:spPr>
          <a:xfrm>
            <a:off x="10931652" y="186538"/>
            <a:ext cx="1048817" cy="676656"/>
          </a:xfrm>
          <a:prstGeom prst="rect">
            <a:avLst/>
          </a:prstGeom>
        </p:spPr>
      </p:pic>
      <p:sp>
        <p:nvSpPr>
          <p:cNvPr id="3" name="Shape 0">
            <a:extLst>
              <a:ext uri="{FF2B5EF4-FFF2-40B4-BE49-F238E27FC236}">
                <a16:creationId xmlns:a16="http://schemas.microsoft.com/office/drawing/2014/main" id="{6DFC6835-6D1E-ED4F-54BF-A07B60110F8D}"/>
              </a:ext>
            </a:extLst>
          </p:cNvPr>
          <p:cNvSpPr/>
          <p:nvPr/>
        </p:nvSpPr>
        <p:spPr>
          <a:xfrm flipV="1">
            <a:off x="6556" y="980630"/>
            <a:ext cx="12153585" cy="20876"/>
          </a:xfrm>
          <a:prstGeom prst="line">
            <a:avLst/>
          </a:prstGeom>
          <a:noFill/>
          <a:ln w="19050">
            <a:solidFill>
              <a:srgbClr val="AEABAB"/>
            </a:solidFill>
            <a:prstDash val="solid"/>
          </a:ln>
        </p:spPr>
        <p:txBody>
          <a:bodyPr/>
          <a:p/>
        </p:txBody>
      </p:sp>
      <p:sp>
        <p:nvSpPr>
          <p:cNvPr id="4" name="Text 1">
            <a:extLst>
              <a:ext uri="{FF2B5EF4-FFF2-40B4-BE49-F238E27FC236}">
                <a16:creationId xmlns:a16="http://schemas.microsoft.com/office/drawing/2014/main" id="{EAA899C9-4789-C27F-8F70-8CA1BF1DE712}"/>
              </a:ext>
            </a:extLst>
          </p:cNvPr>
          <p:cNvSpPr txBox="1"/>
          <p:nvPr/>
        </p:nvSpPr>
        <p:spPr>
          <a:xfrm>
            <a:off x="274320" y="292608"/>
            <a:ext cx="9601200" cy="640080"/>
          </a:xfrm>
          <a:prstGeom prst="rect">
            <a:avLst/>
          </a:prstGeom>
          <a:noFill/>
          <a:ln/>
        </p:spPr>
        <p:txBody>
          <a:bodyPr wrap="square" lIns="0" tIns="0" rIns="0" bIns="0" rtlCol="0" anchor="ctr"/>
          <a:lstStyle/>
          <a:p>
            <a:pPr algn="just"/>
            <a:r>
              <a:rPr lang="en-US" sz="2400" b="1" dirty="0">
                <a:solidFill>
                  <a:srgbClr val="000000"/>
                </a:solidFill>
                <a:latin typeface="Times New Roman"/>
                <a:ea typeface="Calibri"/>
                <a:cs typeface="Times New Roman"/>
              </a:rPr>
              <a:t>Dataset Description :</a:t>
            </a:r>
            <a:endParaRPr lang="en-US" dirty="0">
              <a:latin typeface="Times New Roman"/>
              <a:cs typeface="Times New Roman"/>
            </a:endParaRPr>
          </a:p>
        </p:txBody>
      </p:sp>
      <p:sp>
        <p:nvSpPr>
          <p:cNvPr id="5" name="Text 2">
            <a:extLst>
              <a:ext uri="{FF2B5EF4-FFF2-40B4-BE49-F238E27FC236}">
                <a16:creationId xmlns:a16="http://schemas.microsoft.com/office/drawing/2014/main" id="{CFE41794-1466-6A54-0A66-9707E278A9ED}"/>
              </a:ext>
            </a:extLst>
          </p:cNvPr>
          <p:cNvSpPr txBox="1"/>
          <p:nvPr/>
        </p:nvSpPr>
        <p:spPr>
          <a:xfrm>
            <a:off x="274320" y="6565392"/>
            <a:ext cx="1828800" cy="256032"/>
          </a:xfrm>
          <a:prstGeom prst="rect">
            <a:avLst/>
          </a:prstGeom>
          <a:noFill/>
          <a:ln/>
        </p:spPr>
        <p:txBody>
          <a:bodyPr wrap="square" lIns="0" tIns="0" rIns="0" bIns="0" rtlCol="0" anchor="ctr"/>
          <a:lstStyle/>
          <a:p>
            <a:pPr marL="0" indent="0" algn="just">
              <a:buNone/>
            </a:pPr>
            <a:r>
              <a:rPr lang="en-US" sz="1000" dirty="0">
                <a:solidFill>
                  <a:srgbClr val="595959"/>
                </a:solidFill>
                <a:latin typeface="Times New Roman"/>
                <a:ea typeface="Calibri" pitchFamily="34" charset="-122"/>
                <a:cs typeface="Times New Roman"/>
              </a:rPr>
              <a:t>06-09-2026</a:t>
            </a:r>
            <a:endParaRPr lang="en-US" sz="1000" dirty="0">
              <a:latin typeface="Times New Roman"/>
              <a:cs typeface="Times New Roman"/>
            </a:endParaRPr>
          </a:p>
        </p:txBody>
      </p:sp>
      <p:sp>
        <p:nvSpPr>
          <p:cNvPr id="6" name="Text 3">
            <a:extLst>
              <a:ext uri="{FF2B5EF4-FFF2-40B4-BE49-F238E27FC236}">
                <a16:creationId xmlns:a16="http://schemas.microsoft.com/office/drawing/2014/main" id="{45B2919C-DABA-5474-79F2-944AB9B2CBB0}"/>
              </a:ext>
            </a:extLst>
          </p:cNvPr>
          <p:cNvSpPr txBox="1"/>
          <p:nvPr/>
        </p:nvSpPr>
        <p:spPr>
          <a:xfrm>
            <a:off x="11795760" y="6565392"/>
            <a:ext cx="365760" cy="256032"/>
          </a:xfrm>
          <a:prstGeom prst="rect">
            <a:avLst/>
          </a:prstGeom>
          <a:noFill/>
          <a:ln/>
        </p:spPr>
        <p:txBody>
          <a:bodyPr wrap="square" lIns="0" tIns="0" rIns="0" bIns="0" rtlCol="0" anchor="ctr"/>
          <a:lstStyle/>
          <a:p>
            <a:pPr marL="0" indent="0" algn="just">
              <a:buNone/>
            </a:pPr>
            <a:r>
              <a:rPr lang="en-US" sz="1000" dirty="0">
                <a:solidFill>
                  <a:srgbClr val="595959"/>
                </a:solidFill>
                <a:latin typeface="Times New Roman"/>
                <a:ea typeface="Calibri" pitchFamily="34" charset="-122"/>
                <a:cs typeface="Times New Roman"/>
              </a:rPr>
              <a:t>22</a:t>
            </a:r>
            <a:endParaRPr lang="en-US" sz="1000" dirty="0">
              <a:latin typeface="Times New Roman"/>
              <a:cs typeface="Times New Roman"/>
            </a:endParaRPr>
          </a:p>
        </p:txBody>
      </p:sp>
      <p:graphicFrame>
        <p:nvGraphicFramePr>
          <p:cNvPr id="8" name="Table 7">
            <a:extLst>
              <a:ext uri="{FF2B5EF4-FFF2-40B4-BE49-F238E27FC236}">
                <a16:creationId xmlns:a16="http://schemas.microsoft.com/office/drawing/2014/main" id="{BF26E393-EE34-B977-1A2C-8CD2A030B625}"/>
              </a:ext>
            </a:extLst>
          </p:cNvPr>
          <p:cNvGraphicFramePr>
            <a:graphicFrameLocks noGrp="1"/>
          </p:cNvGraphicFramePr>
          <p:nvPr>
            <p:extLst>
              <p:ext uri="{D42A27DB-BD31-4B8C-83A1-F6EECF244321}">
                <p14:modId xmlns:p14="http://schemas.microsoft.com/office/powerpoint/2010/main" val="3937923947"/>
              </p:ext>
            </p:extLst>
          </p:nvPr>
        </p:nvGraphicFramePr>
        <p:xfrm>
          <a:off x="488830" y="1180094"/>
          <a:ext cx="12191998" cy="1463040"/>
        </p:xfrm>
        <a:graphic>
          <a:graphicData uri="http://schemas.openxmlformats.org/drawingml/2006/table">
            <a:tbl>
              <a:tblPr bandRow="1">
                <a:tableStyleId>{5C22544A-7EE6-4342-B048-85BDC9FD1C3A}</a:tableStyleId>
              </a:tblPr>
              <a:tblGrid>
                <a:gridCol w="1658470">
                  <a:extLst>
                    <a:ext uri="{9D8B030D-6E8A-4147-A177-3AD203B41FA5}">
                      <a16:colId xmlns:a16="http://schemas.microsoft.com/office/drawing/2014/main" val="4094623913"/>
                    </a:ext>
                  </a:extLst>
                </a:gridCol>
                <a:gridCol w="10533528">
                  <a:extLst>
                    <a:ext uri="{9D8B030D-6E8A-4147-A177-3AD203B41FA5}">
                      <a16:colId xmlns:a16="http://schemas.microsoft.com/office/drawing/2014/main" val="3693096351"/>
                    </a:ext>
                  </a:extLst>
                </a:gridCol>
              </a:tblGrid>
              <a:tr h="0">
                <a:tc>
                  <a:txBody>
                    <a:bodyPr/>
                    <a:lstStyle/>
                    <a:p>
                      <a:pPr algn="just">
                        <a:buNone/>
                      </a:pPr>
                      <a:r>
                        <a:rPr lang="en-US" b="1" dirty="0">
                          <a:latin typeface="Times New Roman"/>
                          <a:cs typeface="Times New Roman"/>
                        </a:rPr>
                        <a:t>Dataset</a:t>
                      </a:r>
                      <a:endParaRPr lang="en-US">
                        <a:latin typeface="Times New Roman"/>
                        <a:cs typeface="Times New Roman"/>
                      </a:endParaRPr>
                    </a:p>
                  </a:txBody>
                  <a:tcPr anchor="ctr">
                    <a:lnL>
                      <a:noFill/>
                    </a:lnL>
                    <a:lnR>
                      <a:noFill/>
                    </a:lnR>
                    <a:lnT>
                      <a:noFill/>
                    </a:lnT>
                    <a:lnB>
                      <a:noFill/>
                    </a:lnB>
                    <a:noFill/>
                  </a:tcPr>
                </a:tc>
                <a:tc>
                  <a:txBody>
                    <a:bodyPr/>
                    <a:lstStyle/>
                    <a:p>
                      <a:pPr algn="just">
                        <a:buNone/>
                      </a:pPr>
                      <a:r>
                        <a:rPr lang="en-US" b="1" dirty="0">
                          <a:latin typeface="Times New Roman"/>
                          <a:cs typeface="Times New Roman"/>
                        </a:rPr>
                        <a:t>Role in </a:t>
                      </a:r>
                      <a:r>
                        <a:rPr lang="en-US" b="1" dirty="0" err="1">
                          <a:latin typeface="Times New Roman"/>
                          <a:cs typeface="Times New Roman"/>
                        </a:rPr>
                        <a:t>EdgeGuard</a:t>
                      </a:r>
                      <a:endParaRPr lang="en-US">
                        <a:latin typeface="Times New Roman"/>
                        <a:cs typeface="Times New Roman"/>
                      </a:endParaRPr>
                    </a:p>
                  </a:txBody>
                  <a:tcPr anchor="ctr">
                    <a:lnL>
                      <a:noFill/>
                    </a:lnL>
                    <a:lnR>
                      <a:noFill/>
                    </a:lnR>
                    <a:lnT>
                      <a:noFill/>
                    </a:lnT>
                    <a:lnB>
                      <a:noFill/>
                    </a:lnB>
                    <a:noFill/>
                  </a:tcPr>
                </a:tc>
                <a:extLst>
                  <a:ext uri="{0D108BD9-81ED-4DB2-BD59-A6C34878D82A}">
                    <a16:rowId xmlns:a16="http://schemas.microsoft.com/office/drawing/2014/main" val="1812726308"/>
                  </a:ext>
                </a:extLst>
              </a:tr>
              <a:tr h="0">
                <a:tc>
                  <a:txBody>
                    <a:bodyPr/>
                    <a:lstStyle/>
                    <a:p>
                      <a:pPr algn="just">
                        <a:buNone/>
                      </a:pPr>
                      <a:r>
                        <a:rPr lang="en-US" b="1" dirty="0">
                          <a:latin typeface="Times New Roman"/>
                          <a:cs typeface="Times New Roman"/>
                        </a:rPr>
                        <a:t>CIFAR-10</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Normal training / in-distribution data</a:t>
                      </a:r>
                    </a:p>
                  </a:txBody>
                  <a:tcPr anchor="ctr">
                    <a:lnL>
                      <a:noFill/>
                    </a:lnL>
                    <a:lnR>
                      <a:noFill/>
                    </a:lnR>
                    <a:lnT>
                      <a:noFill/>
                    </a:lnT>
                    <a:lnB>
                      <a:noFill/>
                    </a:lnB>
                    <a:noFill/>
                  </a:tcPr>
                </a:tc>
                <a:extLst>
                  <a:ext uri="{0D108BD9-81ED-4DB2-BD59-A6C34878D82A}">
                    <a16:rowId xmlns:a16="http://schemas.microsoft.com/office/drawing/2014/main" val="3205708528"/>
                  </a:ext>
                </a:extLst>
              </a:tr>
              <a:tr h="0">
                <a:tc>
                  <a:txBody>
                    <a:bodyPr/>
                    <a:lstStyle/>
                    <a:p>
                      <a:pPr algn="just">
                        <a:buNone/>
                      </a:pPr>
                      <a:r>
                        <a:rPr lang="en-US" b="1" dirty="0">
                          <a:latin typeface="Times New Roman"/>
                          <a:cs typeface="Times New Roman"/>
                        </a:rPr>
                        <a:t>CIFAR-100</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Unseen objects / out-of-distribution testing</a:t>
                      </a:r>
                    </a:p>
                  </a:txBody>
                  <a:tcPr anchor="ctr">
                    <a:lnL>
                      <a:noFill/>
                    </a:lnL>
                    <a:lnR>
                      <a:noFill/>
                    </a:lnR>
                    <a:lnT>
                      <a:noFill/>
                    </a:lnT>
                    <a:lnB>
                      <a:noFill/>
                    </a:lnB>
                    <a:noFill/>
                  </a:tcPr>
                </a:tc>
                <a:extLst>
                  <a:ext uri="{0D108BD9-81ED-4DB2-BD59-A6C34878D82A}">
                    <a16:rowId xmlns:a16="http://schemas.microsoft.com/office/drawing/2014/main" val="698764946"/>
                  </a:ext>
                </a:extLst>
              </a:tr>
              <a:tr h="0">
                <a:tc>
                  <a:txBody>
                    <a:bodyPr/>
                    <a:lstStyle/>
                    <a:p>
                      <a:pPr algn="just">
                        <a:buNone/>
                      </a:pPr>
                      <a:r>
                        <a:rPr lang="en-US" b="1" dirty="0">
                          <a:latin typeface="Times New Roman"/>
                          <a:cs typeface="Times New Roman"/>
                        </a:rPr>
                        <a:t>CIFAR-10-C</a:t>
                      </a:r>
                      <a:endParaRPr lang="en-US" dirty="0">
                        <a:latin typeface="Times New Roman"/>
                        <a:cs typeface="Times New Roman"/>
                      </a:endParaRPr>
                    </a:p>
                  </a:txBody>
                  <a:tcPr anchor="ctr">
                    <a:lnL>
                      <a:noFill/>
                    </a:lnL>
                    <a:lnR>
                      <a:noFill/>
                    </a:lnR>
                    <a:lnT>
                      <a:noFill/>
                    </a:lnT>
                    <a:lnB>
                      <a:noFill/>
                    </a:lnB>
                    <a:noFill/>
                  </a:tcPr>
                </a:tc>
                <a:tc>
                  <a:txBody>
                    <a:bodyPr/>
                    <a:lstStyle/>
                    <a:p>
                      <a:pPr algn="just">
                        <a:buNone/>
                      </a:pPr>
                      <a:r>
                        <a:rPr lang="en-US" dirty="0">
                          <a:latin typeface="Times New Roman"/>
                          <a:cs typeface="Times New Roman"/>
                        </a:rPr>
                        <a:t>Real-world image corruptions such as blur, noise, fog, and brightness changes</a:t>
                      </a:r>
                    </a:p>
                  </a:txBody>
                  <a:tcPr anchor="ctr">
                    <a:lnL>
                      <a:noFill/>
                    </a:lnL>
                    <a:lnR>
                      <a:noFill/>
                    </a:lnR>
                    <a:lnT>
                      <a:noFill/>
                    </a:lnT>
                    <a:lnB>
                      <a:noFill/>
                    </a:lnB>
                    <a:noFill/>
                  </a:tcPr>
                </a:tc>
                <a:extLst>
                  <a:ext uri="{0D108BD9-81ED-4DB2-BD59-A6C34878D82A}">
                    <a16:rowId xmlns:a16="http://schemas.microsoft.com/office/drawing/2014/main" val="1444836911"/>
                  </a:ext>
                </a:extLst>
              </a:tr>
            </a:tbl>
          </a:graphicData>
        </a:graphic>
      </p:graphicFrame>
      <p:graphicFrame>
        <p:nvGraphicFramePr>
          <p:cNvPr id="11" name="Table 10">
            <a:extLst>
              <a:ext uri="{FF2B5EF4-FFF2-40B4-BE49-F238E27FC236}">
                <a16:creationId xmlns:a16="http://schemas.microsoft.com/office/drawing/2014/main" id="{7060D6A7-5BE1-B430-B2B0-55F1C77122DF}"/>
              </a:ext>
            </a:extLst>
          </p:cNvPr>
          <p:cNvGraphicFramePr>
            <a:graphicFrameLocks noGrp="1"/>
          </p:cNvGraphicFramePr>
          <p:nvPr>
            <p:extLst>
              <p:ext uri="{D42A27DB-BD31-4B8C-83A1-F6EECF244321}">
                <p14:modId xmlns:p14="http://schemas.microsoft.com/office/powerpoint/2010/main" val="1958607822"/>
              </p:ext>
            </p:extLst>
          </p:nvPr>
        </p:nvGraphicFramePr>
        <p:xfrm>
          <a:off x="488830" y="3422099"/>
          <a:ext cx="9965648" cy="3291840"/>
        </p:xfrm>
        <a:graphic>
          <a:graphicData uri="http://schemas.openxmlformats.org/drawingml/2006/table">
            <a:tbl>
              <a:tblPr bandRow="1">
                <a:tableStyleId>{5A111915-BE36-4E01-A7E5-04B1672EAD32}</a:tableStyleId>
              </a:tblPr>
              <a:tblGrid>
                <a:gridCol w="3899646">
                  <a:extLst>
                    <a:ext uri="{9D8B030D-6E8A-4147-A177-3AD203B41FA5}">
                      <a16:colId xmlns:a16="http://schemas.microsoft.com/office/drawing/2014/main" val="600477711"/>
                    </a:ext>
                  </a:extLst>
                </a:gridCol>
                <a:gridCol w="6066002">
                  <a:extLst>
                    <a:ext uri="{9D8B030D-6E8A-4147-A177-3AD203B41FA5}">
                      <a16:colId xmlns:a16="http://schemas.microsoft.com/office/drawing/2014/main" val="1094224567"/>
                    </a:ext>
                  </a:extLst>
                </a:gridCol>
              </a:tblGrid>
              <a:tr h="0">
                <a:tc>
                  <a:txBody>
                    <a:bodyPr/>
                    <a:lstStyle/>
                    <a:p>
                      <a:pPr algn="just">
                        <a:buNone/>
                      </a:pPr>
                      <a:r>
                        <a:rPr lang="en-US" dirty="0">
                          <a:latin typeface="Times New Roman"/>
                          <a:cs typeface="Times New Roman"/>
                        </a:rPr>
                        <a:t>Metric</a:t>
                      </a:r>
                    </a:p>
                  </a:txBody>
                  <a:tcPr anchor="ctr"/>
                </a:tc>
                <a:tc>
                  <a:txBody>
                    <a:bodyPr/>
                    <a:lstStyle/>
                    <a:p>
                      <a:pPr algn="just">
                        <a:buNone/>
                      </a:pPr>
                      <a:r>
                        <a:rPr lang="en-US" dirty="0">
                          <a:latin typeface="Times New Roman"/>
                          <a:cs typeface="Times New Roman"/>
                        </a:rPr>
                        <a:t>Purpose</a:t>
                      </a:r>
                    </a:p>
                  </a:txBody>
                  <a:tcPr anchor="ctr"/>
                </a:tc>
                <a:extLst>
                  <a:ext uri="{0D108BD9-81ED-4DB2-BD59-A6C34878D82A}">
                    <a16:rowId xmlns:a16="http://schemas.microsoft.com/office/drawing/2014/main" val="2701300450"/>
                  </a:ext>
                </a:extLst>
              </a:tr>
              <a:tr h="0">
                <a:tc>
                  <a:txBody>
                    <a:bodyPr/>
                    <a:lstStyle/>
                    <a:p>
                      <a:pPr algn="just">
                        <a:buNone/>
                      </a:pPr>
                      <a:r>
                        <a:rPr lang="en-US" dirty="0">
                          <a:latin typeface="Times New Roman"/>
                          <a:cs typeface="Times New Roman"/>
                        </a:rPr>
                        <a:t>Classification Accuracy</a:t>
                      </a:r>
                    </a:p>
                  </a:txBody>
                  <a:tcPr anchor="ctr"/>
                </a:tc>
                <a:tc>
                  <a:txBody>
                    <a:bodyPr/>
                    <a:lstStyle/>
                    <a:p>
                      <a:pPr algn="just">
                        <a:buNone/>
                      </a:pPr>
                      <a:r>
                        <a:rPr lang="en-US" dirty="0">
                          <a:latin typeface="Times New Roman"/>
                          <a:cs typeface="Times New Roman"/>
                        </a:rPr>
                        <a:t>Measures correct predictions</a:t>
                      </a:r>
                    </a:p>
                  </a:txBody>
                  <a:tcPr anchor="ctr"/>
                </a:tc>
                <a:extLst>
                  <a:ext uri="{0D108BD9-81ED-4DB2-BD59-A6C34878D82A}">
                    <a16:rowId xmlns:a16="http://schemas.microsoft.com/office/drawing/2014/main" val="1277374795"/>
                  </a:ext>
                </a:extLst>
              </a:tr>
              <a:tr h="0">
                <a:tc>
                  <a:txBody>
                    <a:bodyPr/>
                    <a:lstStyle/>
                    <a:p>
                      <a:pPr algn="just">
                        <a:buNone/>
                      </a:pPr>
                      <a:r>
                        <a:rPr lang="en-US" dirty="0">
                          <a:latin typeface="Times New Roman"/>
                          <a:cs typeface="Times New Roman"/>
                        </a:rPr>
                        <a:t>Precision &amp; Recall</a:t>
                      </a:r>
                    </a:p>
                  </a:txBody>
                  <a:tcPr anchor="ctr"/>
                </a:tc>
                <a:tc>
                  <a:txBody>
                    <a:bodyPr/>
                    <a:lstStyle/>
                    <a:p>
                      <a:pPr algn="just">
                        <a:buNone/>
                      </a:pPr>
                      <a:r>
                        <a:rPr lang="en-US" dirty="0">
                          <a:latin typeface="Times New Roman"/>
                          <a:cs typeface="Times New Roman"/>
                        </a:rPr>
                        <a:t>Measures failure detection quality</a:t>
                      </a:r>
                    </a:p>
                  </a:txBody>
                  <a:tcPr anchor="ctr"/>
                </a:tc>
                <a:extLst>
                  <a:ext uri="{0D108BD9-81ED-4DB2-BD59-A6C34878D82A}">
                    <a16:rowId xmlns:a16="http://schemas.microsoft.com/office/drawing/2014/main" val="2601960156"/>
                  </a:ext>
                </a:extLst>
              </a:tr>
              <a:tr h="0">
                <a:tc>
                  <a:txBody>
                    <a:bodyPr/>
                    <a:lstStyle/>
                    <a:p>
                      <a:pPr algn="just">
                        <a:buNone/>
                      </a:pPr>
                      <a:r>
                        <a:rPr lang="en-US" dirty="0">
                          <a:latin typeface="Times New Roman"/>
                          <a:cs typeface="Times New Roman"/>
                        </a:rPr>
                        <a:t>F1-Score</a:t>
                      </a:r>
                    </a:p>
                  </a:txBody>
                  <a:tcPr anchor="ctr"/>
                </a:tc>
                <a:tc>
                  <a:txBody>
                    <a:bodyPr/>
                    <a:lstStyle/>
                    <a:p>
                      <a:pPr algn="just">
                        <a:buNone/>
                      </a:pPr>
                      <a:r>
                        <a:rPr lang="en-US" dirty="0">
                          <a:latin typeface="Times New Roman"/>
                          <a:cs typeface="Times New Roman"/>
                        </a:rPr>
                        <a:t>Provides a balanced measure of precision and recall</a:t>
                      </a:r>
                    </a:p>
                  </a:txBody>
                  <a:tcPr anchor="ctr"/>
                </a:tc>
                <a:extLst>
                  <a:ext uri="{0D108BD9-81ED-4DB2-BD59-A6C34878D82A}">
                    <a16:rowId xmlns:a16="http://schemas.microsoft.com/office/drawing/2014/main" val="3246386862"/>
                  </a:ext>
                </a:extLst>
              </a:tr>
              <a:tr h="0">
                <a:tc>
                  <a:txBody>
                    <a:bodyPr/>
                    <a:lstStyle/>
                    <a:p>
                      <a:pPr algn="just">
                        <a:buNone/>
                      </a:pPr>
                      <a:r>
                        <a:rPr lang="en-US" dirty="0">
                          <a:latin typeface="Times New Roman"/>
                          <a:cs typeface="Times New Roman"/>
                        </a:rPr>
                        <a:t>AUROC</a:t>
                      </a:r>
                    </a:p>
                  </a:txBody>
                  <a:tcPr anchor="ctr"/>
                </a:tc>
                <a:tc>
                  <a:txBody>
                    <a:bodyPr/>
                    <a:lstStyle/>
                    <a:p>
                      <a:pPr algn="just">
                        <a:buNone/>
                      </a:pPr>
                      <a:r>
                        <a:rPr lang="en-US" dirty="0">
                          <a:latin typeface="Times New Roman"/>
                          <a:cs typeface="Times New Roman"/>
                        </a:rPr>
                        <a:t>Evaluates out-of-distribution (OOD) detection capability</a:t>
                      </a:r>
                    </a:p>
                  </a:txBody>
                  <a:tcPr anchor="ctr"/>
                </a:tc>
                <a:extLst>
                  <a:ext uri="{0D108BD9-81ED-4DB2-BD59-A6C34878D82A}">
                    <a16:rowId xmlns:a16="http://schemas.microsoft.com/office/drawing/2014/main" val="2515133662"/>
                  </a:ext>
                </a:extLst>
              </a:tr>
              <a:tr h="0">
                <a:tc>
                  <a:txBody>
                    <a:bodyPr/>
                    <a:lstStyle/>
                    <a:p>
                      <a:pPr algn="just">
                        <a:buNone/>
                      </a:pPr>
                      <a:r>
                        <a:rPr lang="en-US" dirty="0">
                          <a:latin typeface="Times New Roman"/>
                          <a:cs typeface="Times New Roman"/>
                        </a:rPr>
                        <a:t>False Alarm Rate</a:t>
                      </a:r>
                    </a:p>
                  </a:txBody>
                  <a:tcPr anchor="ctr"/>
                </a:tc>
                <a:tc>
                  <a:txBody>
                    <a:bodyPr/>
                    <a:lstStyle/>
                    <a:p>
                      <a:pPr algn="just">
                        <a:buNone/>
                      </a:pPr>
                      <a:r>
                        <a:rPr lang="en-US" dirty="0">
                          <a:latin typeface="Times New Roman"/>
                          <a:cs typeface="Times New Roman"/>
                        </a:rPr>
                        <a:t>Measures incorrect warnings generated by the system</a:t>
                      </a:r>
                    </a:p>
                  </a:txBody>
                  <a:tcPr anchor="ctr"/>
                </a:tc>
                <a:extLst>
                  <a:ext uri="{0D108BD9-81ED-4DB2-BD59-A6C34878D82A}">
                    <a16:rowId xmlns:a16="http://schemas.microsoft.com/office/drawing/2014/main" val="236090235"/>
                  </a:ext>
                </a:extLst>
              </a:tr>
              <a:tr h="0">
                <a:tc>
                  <a:txBody>
                    <a:bodyPr/>
                    <a:lstStyle/>
                    <a:p>
                      <a:pPr algn="just">
                        <a:buNone/>
                      </a:pPr>
                      <a:r>
                        <a:rPr lang="en-US" dirty="0">
                          <a:latin typeface="Times New Roman"/>
                          <a:cs typeface="Times New Roman"/>
                        </a:rPr>
                        <a:t>Inference Latency (</a:t>
                      </a:r>
                      <a:r>
                        <a:rPr lang="en-US" dirty="0" err="1">
                          <a:latin typeface="Times New Roman"/>
                          <a:cs typeface="Times New Roman"/>
                        </a:rPr>
                        <a:t>ms</a:t>
                      </a:r>
                      <a:r>
                        <a:rPr lang="en-US" dirty="0">
                          <a:latin typeface="Times New Roman"/>
                          <a:cs typeface="Times New Roman"/>
                        </a:rPr>
                        <a:t>)</a:t>
                      </a:r>
                    </a:p>
                  </a:txBody>
                  <a:tcPr anchor="ctr"/>
                </a:tc>
                <a:tc>
                  <a:txBody>
                    <a:bodyPr/>
                    <a:lstStyle/>
                    <a:p>
                      <a:pPr algn="just">
                        <a:buNone/>
                      </a:pPr>
                      <a:r>
                        <a:rPr lang="en-US" dirty="0">
                          <a:latin typeface="Times New Roman"/>
                          <a:cs typeface="Times New Roman"/>
                        </a:rPr>
                        <a:t>Measures real-time prediction performance</a:t>
                      </a:r>
                    </a:p>
                  </a:txBody>
                  <a:tcPr anchor="ctr"/>
                </a:tc>
                <a:extLst>
                  <a:ext uri="{0D108BD9-81ED-4DB2-BD59-A6C34878D82A}">
                    <a16:rowId xmlns:a16="http://schemas.microsoft.com/office/drawing/2014/main" val="2180930275"/>
                  </a:ext>
                </a:extLst>
              </a:tr>
              <a:tr h="0">
                <a:tc>
                  <a:txBody>
                    <a:bodyPr/>
                    <a:lstStyle/>
                    <a:p>
                      <a:pPr algn="just">
                        <a:buNone/>
                      </a:pPr>
                      <a:r>
                        <a:rPr lang="en-US" dirty="0">
                          <a:latin typeface="Times New Roman"/>
                          <a:cs typeface="Times New Roman"/>
                        </a:rPr>
                        <a:t>Memory Usage (MB)</a:t>
                      </a:r>
                    </a:p>
                  </a:txBody>
                  <a:tcPr anchor="ctr"/>
                </a:tc>
                <a:tc>
                  <a:txBody>
                    <a:bodyPr/>
                    <a:lstStyle/>
                    <a:p>
                      <a:pPr algn="just">
                        <a:buNone/>
                      </a:pPr>
                      <a:r>
                        <a:rPr lang="en-US" dirty="0">
                          <a:latin typeface="Times New Roman"/>
                          <a:cs typeface="Times New Roman"/>
                        </a:rPr>
                        <a:t>Evaluates efficiency on edge devices</a:t>
                      </a:r>
                    </a:p>
                  </a:txBody>
                  <a:tcPr anchor="ctr"/>
                </a:tc>
                <a:extLst>
                  <a:ext uri="{0D108BD9-81ED-4DB2-BD59-A6C34878D82A}">
                    <a16:rowId xmlns:a16="http://schemas.microsoft.com/office/drawing/2014/main" val="1970061603"/>
                  </a:ext>
                </a:extLst>
              </a:tr>
              <a:tr h="0">
                <a:tc>
                  <a:txBody>
                    <a:bodyPr/>
                    <a:lstStyle/>
                    <a:p>
                      <a:pPr algn="just">
                        <a:buNone/>
                      </a:pPr>
                      <a:r>
                        <a:rPr lang="en-US" dirty="0">
                          <a:latin typeface="Times New Roman"/>
                          <a:cs typeface="Times New Roman"/>
                        </a:rPr>
                        <a:t>Reliability Score</a:t>
                      </a:r>
                    </a:p>
                  </a:txBody>
                  <a:tcPr anchor="ctr"/>
                </a:tc>
                <a:tc>
                  <a:txBody>
                    <a:bodyPr/>
                    <a:lstStyle/>
                    <a:p>
                      <a:pPr algn="just">
                        <a:buNone/>
                      </a:pPr>
                      <a:r>
                        <a:rPr lang="en-US" dirty="0">
                          <a:latin typeface="Times New Roman"/>
                          <a:cs typeface="Times New Roman"/>
                        </a:rPr>
                        <a:t>Measures the trustworthiness of each prediction</a:t>
                      </a:r>
                    </a:p>
                  </a:txBody>
                  <a:tcPr anchor="ctr"/>
                </a:tc>
                <a:extLst>
                  <a:ext uri="{0D108BD9-81ED-4DB2-BD59-A6C34878D82A}">
                    <a16:rowId xmlns:a16="http://schemas.microsoft.com/office/drawing/2014/main" val="3033063071"/>
                  </a:ext>
                </a:extLst>
              </a:tr>
            </a:tbl>
          </a:graphicData>
        </a:graphic>
      </p:graphicFrame>
      <p:sp>
        <p:nvSpPr>
          <p:cNvPr id="12" name="TextBox 11">
            <a:extLst>
              <a:ext uri="{FF2B5EF4-FFF2-40B4-BE49-F238E27FC236}">
                <a16:creationId xmlns:a16="http://schemas.microsoft.com/office/drawing/2014/main" id="{A054C3D7-E8EC-1495-2F6C-BCA014BCC909}"/>
              </a:ext>
            </a:extLst>
          </p:cNvPr>
          <p:cNvSpPr txBox="1"/>
          <p:nvPr/>
        </p:nvSpPr>
        <p:spPr>
          <a:xfrm>
            <a:off x="388189" y="2738888"/>
            <a:ext cx="108117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latin typeface="Times New Roman"/>
                <a:cs typeface="Times New Roman"/>
              </a:rPr>
              <a:t>Evaluation Metrics</a:t>
            </a:r>
          </a:p>
          <a:p>
            <a:pPr algn="just"/>
            <a:r>
              <a:rPr lang="en-US" dirty="0">
                <a:latin typeface="Times New Roman"/>
                <a:cs typeface="Times New Roman"/>
              </a:rPr>
              <a:t>We evaluate both </a:t>
            </a:r>
            <a:r>
              <a:rPr lang="en-US" b="1" dirty="0">
                <a:latin typeface="Times New Roman"/>
                <a:cs typeface="Times New Roman"/>
              </a:rPr>
              <a:t>AI prediction performance</a:t>
            </a:r>
            <a:r>
              <a:rPr lang="en-US" dirty="0">
                <a:latin typeface="Times New Roman"/>
                <a:cs typeface="Times New Roman"/>
              </a:rPr>
              <a:t> and </a:t>
            </a:r>
            <a:r>
              <a:rPr lang="en-US" b="1" dirty="0">
                <a:latin typeface="Times New Roman"/>
                <a:cs typeface="Times New Roman"/>
              </a:rPr>
              <a:t>system reliability</a:t>
            </a:r>
            <a:r>
              <a:rPr lang="en-US" dirty="0">
                <a:latin typeface="Times New Roman"/>
                <a:cs typeface="Times New Roman"/>
              </a:rPr>
              <a:t>.</a:t>
            </a:r>
            <a:endParaRPr lang="en-US" dirty="0">
              <a:latin typeface="Times New Roman"/>
              <a:ea typeface="Calibri"/>
              <a:cs typeface="Times New Roman"/>
            </a:endParaRPr>
          </a:p>
          <a:p>
            <a:pPr algn="just"/>
            <a:endParaRPr lang="en-US">
              <a:latin typeface="Times New Roman"/>
              <a:cs typeface="Times New Roman"/>
            </a:endParaRPr>
          </a:p>
        </p:txBody>
      </p:sp>
    </p:spTree>
    <p:extLst>
      <p:ext uri="{BB962C8B-B14F-4D97-AF65-F5344CB8AC3E}">
        <p14:creationId xmlns:p14="http://schemas.microsoft.com/office/powerpoint/2010/main" val="1543338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txBody>
          <a:bodyPr/>
          <a:p/>
        </p:txBody>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Dataset Description : Test Sets and Metrics</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graphicFrame>
        <p:nvGraphicFramePr>
          <p:cNvPr id="7" name="Table 6"/>
          <p:cNvGraphicFramePr>
            <a:graphicFrameLocks noGrp="1"/>
          </p:cNvGraphicFramePr>
          <p:nvPr/>
        </p:nvGraphicFramePr>
        <p:xfrm>
          <a:off x="411480" y="1234440"/>
          <a:ext cx="7040879" cy="3401568"/>
        </p:xfrm>
        <a:graphic>
          <a:graphicData uri="http://schemas.openxmlformats.org/drawingml/2006/table">
            <a:tbl>
              <a:tblPr/>
              <a:tblGrid>
                <a:gridCol w="3778033"/>
                <a:gridCol w="1030372"/>
                <a:gridCol w="2232474"/>
              </a:tblGrid>
              <a:tr h="566928">
                <a:tc>
                  <a:txBody>
                    <a:bodyPr wrap="square"/>
                    <a:lstStyle/>
                    <a:p>
                      <a:r>
                        <a:rPr sz="1600" b="1">
                          <a:solidFill>
                            <a:srgbClr val="000000"/>
                          </a:solidFill>
                          <a:latin typeface="Times New Roman"/>
                        </a:rPr>
                        <a:t>Test set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Images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c>
                  <a:txBody>
                    <a:bodyPr wrap="square"/>
                    <a:lstStyle/>
                    <a:p>
                      <a:r>
                        <a:rPr sz="1600" b="1">
                          <a:solidFill>
                            <a:srgbClr val="000000"/>
                          </a:solidFill>
                          <a:latin typeface="Times New Roman"/>
                        </a:rPr>
                        <a:t>Role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2E9DE"/>
                    </a:solidFill>
                  </a:tcPr>
                </a:tc>
              </a:tr>
              <a:tr h="566928">
                <a:tc>
                  <a:txBody>
                    <a:bodyPr wrap="square"/>
                    <a:lstStyle/>
                    <a:p>
                      <a:r>
                        <a:rPr sz="1500" b="0">
                          <a:solidFill>
                            <a:srgbClr val="000000"/>
                          </a:solidFill>
                          <a:latin typeface="Times New Roman"/>
                        </a:rPr>
                        <a:t>Clean CIFAR-10 test</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10,000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In-distribution performance</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Seen corruptions: Gaussian noise, defocus blur, low light, fog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40,000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Degradations used in calibration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Unseen corruptions: shot noise, motion blur, contrast, JPEG</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40,000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Generalisation to new shifts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0">
                          <a:solidFill>
                            <a:srgbClr val="000000"/>
                          </a:solidFill>
                          <a:latin typeface="Times New Roman"/>
                        </a:rPr>
                        <a:t>OOD: SVHN-style digits, DTD-style textures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4,000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Unknown objects</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r h="566928">
                <a:tc>
                  <a:txBody>
                    <a:bodyPr wrap="square"/>
                    <a:lstStyle/>
                    <a:p>
                      <a:r>
                        <a:rPr sz="1500" b="1">
                          <a:solidFill>
                            <a:srgbClr val="000000"/>
                          </a:solidFill>
                          <a:latin typeface="Times New Roman"/>
                        </a:rPr>
                        <a:t>Total</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1">
                          <a:solidFill>
                            <a:srgbClr val="000000"/>
                          </a:solidFill>
                          <a:latin typeface="Times New Roman"/>
                        </a:rPr>
                        <a:t>94,000</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c>
                  <a:txBody>
                    <a:bodyPr wrap="square"/>
                    <a:lstStyle/>
                    <a:p>
                      <a:r>
                        <a:rPr sz="1500" b="0">
                          <a:solidFill>
                            <a:srgbClr val="000000"/>
                          </a:solidFill>
                          <a:latin typeface="Times New Roman"/>
                        </a:rPr>
                        <a:t>5 severities x 2,000 images per corruption</a:t>
                      </a:r>
                    </a:p>
                  </a:txBody>
                  <a:tcPr marL="54864" marR="54864" marT="27432" marB="27432" anchor="ctr">
                    <a:lnL w="9525" cap="flat" cmpd="sng" algn="ctr">
                      <a:solidFill>
                        <a:srgbClr val="AEABAB"/>
                      </a:solidFill>
                      <a:prstDash val="solid"/>
                    </a:lnL>
                    <a:lnR w="9525" cap="flat" cmpd="sng" algn="ctr">
                      <a:solidFill>
                        <a:srgbClr val="AEABAB"/>
                      </a:solidFill>
                      <a:prstDash val="solid"/>
                    </a:lnR>
                    <a:lnT w="9525" cap="flat" cmpd="sng" algn="ctr">
                      <a:solidFill>
                        <a:srgbClr val="AEABAB"/>
                      </a:solidFill>
                      <a:prstDash val="solid"/>
                    </a:lnT>
                    <a:lnB w="9525" cap="flat" cmpd="sng" algn="ctr">
                      <a:solidFill>
                        <a:srgbClr val="AEABAB"/>
                      </a:solidFill>
                      <a:prstDash val="solid"/>
                    </a:lnB>
                    <a:solidFill>
                      <a:srgbClr val="FFFFFF"/>
                    </a:solidFill>
                  </a:tcPr>
                </a:tc>
              </a:tr>
            </a:tbl>
          </a:graphicData>
        </a:graphic>
      </p:graphicFrame>
      <p:sp>
        <p:nvSpPr>
          <p:cNvPr id="7" name="Text 4"/>
          <p:cNvSpPr txBox="1"/>
          <p:nvPr/>
        </p:nvSpPr>
        <p:spPr>
          <a:xfrm>
            <a:off x="7726679" y="1325880"/>
            <a:ext cx="4023360" cy="4572000"/>
          </a:xfrm>
          <a:prstGeom prst="rect">
            <a:avLst/>
          </a:prstGeom>
          <a:noFill/>
          <a:ln/>
        </p:spPr>
        <p:txBody>
          <a:bodyPr wrap="square" lIns="0" tIns="0" rIns="0" bIns="0" rtlCol="0" anchor="t"/>
          <a:lstStyle/>
          <a:p>
            <a:pPr marL="342900" indent="-342900">
              <a:spcAft>
                <a:spcPts val="1000"/>
              </a:spcAft>
              <a:buSzPct val="100000"/>
              <a:buChar char="•"/>
            </a:pPr>
            <a:r>
              <a:rPr lang="en-US" sz="1600" dirty="0" b="1">
                <a:solidFill>
                  <a:srgbClr val="000000"/>
                </a:solidFill>
                <a:latin typeface="Times New Roman"/>
                <a:ea typeface="Calibri"/>
                <a:cs typeface="Times New Roman"/>
              </a:rPr>
              <a:t>Baselines: </a:t>
            </a:r>
            <a:r>
              <a:rPr lang="en-US" sz="1600" dirty="0">
                <a:solidFill>
                  <a:srgbClr val="000000"/>
                </a:solidFill>
                <a:latin typeface="Times New Roman"/>
                <a:ea typeface="Calibri"/>
                <a:cs typeface="Times New Roman"/>
              </a:rPr>
              <a:t>MSP [3], entropy, energy [4], Mahalanobis [2], MC dropout [1] (20 samples).</a:t>
            </a:r>
            <a:endParaRPr lang="en-US" sz="1600">
              <a:latin typeface="Times New Roman"/>
              <a:ea typeface="Calibri"/>
              <a:cs typeface="Times New Roman"/>
            </a:endParaRPr>
          </a:p>
          <a:p>
            <a:pPr marL="342900" indent="-342900">
              <a:spcAft>
                <a:spcPts val="1000"/>
              </a:spcAft>
              <a:buSzPct val="100000"/>
              <a:buChar char="•"/>
            </a:pPr>
            <a:r>
              <a:rPr lang="en-US" sz="1600" dirty="0" b="1">
                <a:solidFill>
                  <a:srgbClr val="000000"/>
                </a:solidFill>
                <a:latin typeface="Times New Roman"/>
                <a:ea typeface="Calibri"/>
                <a:cs typeface="Times New Roman"/>
              </a:rPr>
              <a:t>Metrics: </a:t>
            </a:r>
            <a:r>
              <a:rPr lang="en-US" sz="1600" dirty="0">
                <a:solidFill>
                  <a:srgbClr val="000000"/>
                </a:solidFill>
                <a:latin typeface="Times New Roman"/>
                <a:ea typeface="Calibri"/>
                <a:cs typeface="Times New Roman"/>
              </a:rPr>
              <a:t>AUROC, AUPR, FPR95, ECE [5], AURC [8], coverage, error on accepted, false alarms, latency, memory.</a:t>
            </a:r>
            <a:endParaRPr lang="en-US" sz="1600">
              <a:latin typeface="Times New Roman"/>
              <a:ea typeface="Calibri"/>
              <a:cs typeface="Times New Roman"/>
            </a:endParaRPr>
          </a:p>
          <a:p>
            <a:pPr marL="342900" indent="-342900">
              <a:spcAft>
                <a:spcPts val="1000"/>
              </a:spcAft>
              <a:buSzPct val="100000"/>
              <a:buChar char="•"/>
            </a:pPr>
            <a:r>
              <a:rPr lang="en-US" sz="1600" dirty="0" b="1">
                <a:solidFill>
                  <a:srgbClr val="000000"/>
                </a:solidFill>
                <a:latin typeface="Times New Roman"/>
                <a:ea typeface="Calibri"/>
                <a:cs typeface="Times New Roman"/>
              </a:rPr>
              <a:t>Note: </a:t>
            </a:r>
            <a:r>
              <a:rPr lang="en-US" sz="1600" dirty="0">
                <a:solidFill>
                  <a:srgbClr val="000000"/>
                </a:solidFill>
                <a:latin typeface="Times New Roman"/>
                <a:ea typeface="Calibri"/>
                <a:cs typeface="Times New Roman"/>
              </a:rPr>
              <a:t>OOD sets are generated proxies; real CIFAR-100 / SVHN in the final run.</a:t>
            </a:r>
            <a:endParaRPr lang="en-US" sz="1600">
              <a:latin typeface="Times New Roman"/>
              <a:ea typeface="Calibri"/>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9601200" cy="640080"/>
          </a:xfrm>
          <a:prstGeom prst="rect">
            <a:avLst/>
          </a:prstGeom>
          <a:noFill/>
          <a:ln/>
        </p:spPr>
        <p:txBody>
          <a:bodyPr wrap="square" lIns="0" tIns="0" rIns="0" bIns="0" rtlCol="0" anchor="ctr"/>
          <a:lstStyle/>
          <a:p>
            <a:pPr marL="0" indent="0" algn="l">
              <a:buNone/>
            </a:pPr>
            <a:r>
              <a:rPr lang="en-US" sz="2400" b="1" dirty="0">
                <a:solidFill>
                  <a:srgbClr val="000000"/>
                </a:solidFill>
                <a:latin typeface="Times New Roman"/>
                <a:ea typeface="Calibri" pitchFamily="34" charset="-122"/>
                <a:cs typeface="Times New Roman"/>
              </a:rPr>
              <a:t>References :</a:t>
            </a:r>
            <a:endParaRPr lang="en-US" sz="2400">
              <a:latin typeface="Times New Roman"/>
              <a:cs typeface="Times New Roman"/>
            </a:endParaRPr>
          </a:p>
        </p:txBody>
      </p:sp>
      <p:sp>
        <p:nvSpPr>
          <p:cNvPr id="5" name="Text 2"/>
          <p:cNvSpPr txBox="1"/>
          <p:nvPr/>
        </p:nvSpPr>
        <p:spPr>
          <a:xfrm>
            <a:off x="274320" y="6565392"/>
            <a:ext cx="1828800" cy="256032"/>
          </a:xfrm>
          <a:prstGeom prst="rect">
            <a:avLst/>
          </a:prstGeom>
          <a:noFill/>
          <a:ln/>
        </p:spPr>
        <p:txBody>
          <a:bodyPr wrap="square" lIns="0" tIns="0" rIns="0" bIns="0" rtlCol="0" anchor="ctr"/>
          <a:lstStyle/>
          <a:p>
            <a:pPr marL="0" indent="0">
              <a:buNone/>
            </a:pPr>
            <a:r>
              <a:rPr lang="en-US" sz="1000" dirty="0">
                <a:solidFill>
                  <a:srgbClr val="595959"/>
                </a:solidFill>
                <a:latin typeface="Calibri" pitchFamily="34" charset="0"/>
                <a:ea typeface="Calibri" pitchFamily="34" charset="-122"/>
                <a:cs typeface="Calibri" pitchFamily="34" charset="-120"/>
              </a:rPr>
              <a:t>06-09-2026</a:t>
            </a:r>
            <a:endParaRPr lang="en-US" sz="1000" dirty="0"/>
          </a:p>
        </p:txBody>
      </p:sp>
      <p:sp>
        <p:nvSpPr>
          <p:cNvPr id="6" name="Text 3"/>
          <p:cNvSpPr txBox="1"/>
          <p:nvPr/>
        </p:nvSpPr>
        <p:spPr>
          <a:xfrm>
            <a:off x="11795760" y="6565392"/>
            <a:ext cx="365760" cy="256032"/>
          </a:xfrm>
          <a:prstGeom prst="rect">
            <a:avLst/>
          </a:prstGeom>
          <a:noFill/>
          <a:ln/>
        </p:spPr>
        <p:txBody>
          <a:bodyPr wrap="square" lIns="0" tIns="0" rIns="0" bIns="0" rtlCol="0" anchor="ctr"/>
          <a:lstStyle/>
          <a:p>
            <a:pPr marL="0" indent="0" algn="r">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sp>
        <p:nvSpPr>
          <p:cNvPr id="7" name="Text 4"/>
          <p:cNvSpPr txBox="1"/>
          <p:nvPr/>
        </p:nvSpPr>
        <p:spPr>
          <a:xfrm>
            <a:off x="411480" y="1171810"/>
            <a:ext cx="11556625" cy="5274710"/>
          </a:xfrm>
          <a:prstGeom prst="rect">
            <a:avLst/>
          </a:prstGeom>
          <a:noFill/>
          <a:ln/>
        </p:spPr>
        <p:txBody>
          <a:bodyPr wrap="square" lIns="0" tIns="0" rIns="0" bIns="0" rtlCol="0" anchor="t"/>
          <a:lstStyle/>
          <a:p>
            <a:pPr marL="0" indent="0" algn="just">
              <a:spcAft>
                <a:spcPts val="1200"/>
              </a:spcAft>
              <a:buNone/>
            </a:pPr>
            <a:r>
              <a:rPr lang="en-US" sz="1800" dirty="0">
                <a:solidFill>
                  <a:srgbClr val="000000"/>
                </a:solidFill>
                <a:latin typeface="Times New Roman"/>
                <a:ea typeface="Calibri"/>
                <a:cs typeface="Times New Roman"/>
              </a:rPr>
              <a:t>[1] Y. Gal and Z. Ghahramani, “Dropout as a Bayesian Approximation: Representing Model Uncertainty in Deep Learning,” ICML, pp. 1050–1059, 2016.</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[2] K. Lee, K. Lee, H. Lee, and J. Shin, “A Simple Unified Framework for Detecting Out-of-Distribution Samples and Adversarial Attacks,” NeurIPS, 2018.</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[3] D. Hendrycks and K. Gimpel, “A Baseline for Detecting Misclassified and Out-of-Distribution Examples in Neural Networks,” ICLR, 2017.</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[4] W. Liu, X. Wang, J. Owens, and Y. Li, “Energy-based Out-of-distribution Detection,” NeurIPS, 2020.</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[5] C. Guo, G. Pleiss, Y. Sun, and K. Q. Weinberger, “On Calibration of Modern Neural Networks,” ICML, pp. 1321–1330, 2017.</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[6] D. Hendrycks and T. Dietterich, “Benchmarking Neural Network Robustness to Common Corruptions and Perturbations,” ICLR, 2019.</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[7] A. Krizhevsky, “Learning Multiple Layers of Features from Tiny Images,” Tech. Rep., University of Toronto, 2009.</a:t>
            </a:r>
            <a:endParaRPr lang="en-US" sz="1600">
              <a:latin typeface="Times New Roman"/>
              <a:ea typeface="Calibri"/>
              <a:cs typeface="Times New Roman"/>
            </a:endParaRPr>
          </a:p>
          <a:p>
            <a:pPr marL="0" indent="0" algn="just">
              <a:spcAft>
                <a:spcPts val="1200"/>
              </a:spcAft>
              <a:buNone/>
            </a:pPr>
            <a:r>
              <a:rPr lang="en-US" sz="1800" dirty="0">
                <a:solidFill>
                  <a:srgbClr val="000000"/>
                </a:solidFill>
                <a:latin typeface="Times New Roman"/>
                <a:ea typeface="Calibri"/>
                <a:cs typeface="Times New Roman"/>
              </a:rPr>
              <a:t>[8] Y. Geifman and R. El-Yaniv, “Selective Classification for Deep Neural Networks,” NeurIPS, 2017.</a:t>
            </a:r>
            <a:endParaRPr lang="en-US" sz="1600">
              <a:latin typeface="Times New Roman"/>
              <a:ea typeface="Calibri"/>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work/unpacked/ppt/media/image1.png"/>
          <p:cNvPicPr>
            <a:picLocks noChangeAspect="1"/>
          </p:cNvPicPr>
          <p:nvPr/>
        </p:nvPicPr>
        <p:blipFill>
          <a:blip r:embed="rId3"/>
          <a:stretch>
            <a:fillRect/>
          </a:stretch>
        </p:blipFill>
        <p:spPr>
          <a:xfrm>
            <a:off x="10931652" y="186538"/>
            <a:ext cx="1048817" cy="676656"/>
          </a:xfrm>
          <a:prstGeom prst="rect">
            <a:avLst/>
          </a:prstGeom>
        </p:spPr>
      </p:pic>
      <p:sp>
        <p:nvSpPr>
          <p:cNvPr id="3" name="Shape 0"/>
          <p:cNvSpPr/>
          <p:nvPr/>
        </p:nvSpPr>
        <p:spPr>
          <a:xfrm>
            <a:off x="27432" y="1095451"/>
            <a:ext cx="12070080" cy="0"/>
          </a:xfrm>
          <a:prstGeom prst="line">
            <a:avLst/>
          </a:prstGeom>
          <a:noFill/>
          <a:ln w="19050">
            <a:solidFill>
              <a:srgbClr val="AEABAB"/>
            </a:solidFill>
            <a:prstDash val="solid"/>
          </a:ln>
        </p:spPr>
      </p:sp>
      <p:sp>
        <p:nvSpPr>
          <p:cNvPr id="4" name="Text 1"/>
          <p:cNvSpPr txBox="1"/>
          <p:nvPr/>
        </p:nvSpPr>
        <p:spPr>
          <a:xfrm>
            <a:off x="274320" y="292608"/>
            <a:ext cx="11430000" cy="640080"/>
          </a:xfrm>
          <a:prstGeom prst="rect">
            <a:avLst/>
          </a:prstGeom>
          <a:noFill/>
          <a:ln/>
        </p:spPr>
        <p:txBody>
          <a:bodyPr wrap="square" lIns="0" tIns="0" rIns="0" bIns="0" rtlCol="0" anchor="ctr"/>
          <a:lstStyle/>
          <a:p>
            <a:pPr marL="0" indent="0" algn="ctr">
              <a:buNone/>
            </a:pPr>
            <a:r>
              <a:rPr lang="en-US" sz="2000" b="1" dirty="0">
                <a:solidFill>
                  <a:srgbClr val="000000"/>
                </a:solidFill>
                <a:latin typeface="Times New Roman"/>
                <a:ea typeface="Calibri" pitchFamily="34" charset="-122"/>
                <a:cs typeface="Times New Roman"/>
              </a:rPr>
              <a:t>EdgeGuard: Uncertainty-Aware Edge AI for Reliable Decision Making</a:t>
            </a:r>
            <a:endParaRPr lang="en-US" sz="2000">
              <a:latin typeface="Times New Roman"/>
              <a:cs typeface="Times New Roman"/>
            </a:endParaRPr>
          </a:p>
        </p:txBody>
      </p:sp>
      <p:sp>
        <p:nvSpPr>
          <p:cNvPr id="5" name="Text 2"/>
          <p:cNvSpPr txBox="1"/>
          <p:nvPr/>
        </p:nvSpPr>
        <p:spPr>
          <a:xfrm>
            <a:off x="0" y="2834640"/>
            <a:ext cx="12191695" cy="1097280"/>
          </a:xfrm>
          <a:prstGeom prst="rect">
            <a:avLst/>
          </a:prstGeom>
          <a:noFill/>
          <a:ln/>
        </p:spPr>
        <p:txBody>
          <a:bodyPr wrap="square" lIns="0" tIns="0" rIns="0" bIns="0" rtlCol="0" anchor="ctr"/>
          <a:lstStyle/>
          <a:p>
            <a:pPr marL="0" indent="0" algn="ctr">
              <a:buNone/>
            </a:pPr>
            <a:r>
              <a:rPr lang="en-US" sz="5400" dirty="0">
                <a:solidFill>
                  <a:srgbClr val="000000"/>
                </a:solidFill>
                <a:latin typeface="Times New Roman"/>
                <a:ea typeface="Cambria" pitchFamily="34" charset="-122"/>
                <a:cs typeface="Times New Roman"/>
              </a:rPr>
              <a:t>THANK YOU</a:t>
            </a:r>
            <a:endParaRPr lang="en-US" sz="54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259</cp:revision>
  <dcterms:created xsi:type="dcterms:W3CDTF">2026-09-06T14:06:09Z</dcterms:created>
  <dcterms:modified xsi:type="dcterms:W3CDTF">2026-09-10T15:07:53Z</dcterms:modified>
</cp:coreProperties>
</file>