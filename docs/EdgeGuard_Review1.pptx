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79" r:id="rId14"/>
    <p:sldId id="270" r:id="rId15"/>
    <p:sldId id="280" r:id="rId16"/>
    <p:sldId id="281" r:id="rId17"/>
    <p:sldId id="276" r:id="rId18"/>
    <p:sldId id="277" r:id="rId19"/>
    <p:sldId id="278" r:id="rId20"/>
    <p:sldId id="271" r:id="rId21"/>
    <p:sldId id="272" r:id="rId22"/>
    <p:sldId id="273" r:id="rId23"/>
    <p:sldId id="274" r:id="rId24"/>
    <p:sldId id="275"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3C997E-27A5-4B5C-8AC2-D4FE2BF74184}" v="711" dt="2026-09-10T15:07:37.6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E9B4F2E4-22B3-40E7-92A5-C50FE198D323}" type="datetimeFigureOut">
              <a:t>9/10/2026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087A4CE5-6872-4DDC-A6AB-F175E62B40CF}" type="slidenum">
              <a:t>‹#›</a:t>
            </a:fld>
            <a:endParaRPr lang="en-US"/>
          </a:p>
        </p:txBody>
      </p:sp>
    </p:spTree>
    <p:extLst>
      <p:ext uri="{BB962C8B-B14F-4D97-AF65-F5344CB8AC3E}">
        <p14:creationId xmlns:p14="http://schemas.microsoft.com/office/powerpoint/2010/main" val="4334637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45901-3EBC-1B7C-8EC0-05C594D343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743B81-70E4-B0BA-2D51-40923A4B23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9CF104-E3D0-4530-6959-D006F54A39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380204-D6DB-2518-B8A5-9375646B1D1E}"/>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5405449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87644-E646-5940-A611-0972C5D925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1F9A6D-6C04-3519-57FC-F79C79E8FE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A59421-1682-AB45-CFBE-543D453A9B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8DFBFF-13E6-0C04-34F9-DB8DB2F91E93}"/>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6825500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D7007-A36F-2A31-F251-F130E45568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F1BF6C-9A1A-0DAA-7F93-3EE7A954CC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8945AF-E52E-F4C9-EF5F-41F6157C25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F0D159-90DC-6522-3162-F9981C9B50AC}"/>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3006607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3C0B3-9C6A-0343-B6E3-111B740DC8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B929C7-91C4-8741-683E-D1FBEA2D93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E94096-DB3A-D27F-175D-49FD27FE1C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B0323D-D10B-901F-2018-612D3F650519}"/>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0134586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797D8-1270-62AB-DF5D-BBE56E909E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5125FC-65D3-2EF7-ADB5-7919879F38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112D4B-B017-1F99-DEC9-D8613A36A0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018F25-57D1-40F5-5775-F14D01C8F486}"/>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6270406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9D75E-8613-EE80-9B26-1B93EC8E26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2A0DB9-A2AB-0715-ED67-5100C4334D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247648-1C64-DFA6-FA64-1ED939588A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669B4A-F845-1663-DC46-1B94A0245B5C}"/>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41848861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Text 0"/>
          <p:cNvSpPr txBox="1"/>
          <p:nvPr/>
        </p:nvSpPr>
        <p:spPr>
          <a:xfrm>
            <a:off x="0" y="228600"/>
            <a:ext cx="12191695" cy="548640"/>
          </a:xfrm>
          <a:prstGeom prst="rect">
            <a:avLst/>
          </a:prstGeom>
          <a:noFill/>
          <a:ln/>
        </p:spPr>
        <p:txBody>
          <a:bodyPr wrap="square" lIns="0" tIns="0" rIns="0" bIns="0" rtlCol="0" anchor="ctr"/>
          <a:lstStyle/>
          <a:p>
            <a:pPr marL="0" indent="0" algn="ctr">
              <a:buNone/>
            </a:pPr>
            <a:r>
              <a:rPr lang="en-US" sz="2600" b="1" dirty="0">
                <a:solidFill>
                  <a:srgbClr val="000000"/>
                </a:solidFill>
                <a:latin typeface="Times New Roman"/>
                <a:ea typeface="Calibri" pitchFamily="34" charset="-122"/>
                <a:cs typeface="Times New Roman"/>
              </a:rPr>
              <a:t>Senior Design Project</a:t>
            </a:r>
            <a:endParaRPr lang="en-US" sz="2600">
              <a:latin typeface="Times New Roman"/>
              <a:cs typeface="Times New Roman"/>
            </a:endParaRPr>
          </a:p>
        </p:txBody>
      </p:sp>
      <p:sp>
        <p:nvSpPr>
          <p:cNvPr id="4" name="Shape 1"/>
          <p:cNvSpPr/>
          <p:nvPr/>
        </p:nvSpPr>
        <p:spPr>
          <a:xfrm>
            <a:off x="27432" y="960120"/>
            <a:ext cx="12070080" cy="0"/>
          </a:xfrm>
          <a:prstGeom prst="line">
            <a:avLst/>
          </a:prstGeom>
          <a:noFill/>
          <a:ln w="19050">
            <a:solidFill>
              <a:srgbClr val="AEABAB"/>
            </a:solidFill>
            <a:prstDash val="solid"/>
          </a:ln>
        </p:spPr>
      </p:sp>
      <p:sp>
        <p:nvSpPr>
          <p:cNvPr id="5" name="Text 2"/>
          <p:cNvSpPr txBox="1"/>
          <p:nvPr/>
        </p:nvSpPr>
        <p:spPr>
          <a:xfrm>
            <a:off x="457200" y="1234440"/>
            <a:ext cx="11277295" cy="457200"/>
          </a:xfrm>
          <a:prstGeom prst="rect">
            <a:avLst/>
          </a:prstGeom>
          <a:noFill/>
          <a:ln/>
        </p:spPr>
        <p:txBody>
          <a:bodyPr wrap="square" lIns="0" tIns="0" rIns="0" bIns="0" rtlCol="0" anchor="ctr"/>
          <a:lstStyle/>
          <a:p>
            <a:pPr marL="0" indent="0" algn="ctr">
              <a:buNone/>
            </a:pPr>
            <a:r>
              <a:rPr lang="en-US" sz="1800" b="1" dirty="0">
                <a:solidFill>
                  <a:srgbClr val="000000"/>
                </a:solidFill>
                <a:latin typeface="Times New Roman"/>
                <a:ea typeface="Calibri"/>
                <a:cs typeface="Times New Roman"/>
              </a:rPr>
              <a:t>School of Computer Science and Engineering (AI)</a:t>
            </a:r>
            <a:endParaRPr lang="en-US" sz="1800" b="1">
              <a:latin typeface="Times New Roman"/>
              <a:ea typeface="Calibri"/>
              <a:cs typeface="Times New Roman"/>
            </a:endParaRPr>
          </a:p>
        </p:txBody>
      </p:sp>
      <p:sp>
        <p:nvSpPr>
          <p:cNvPr id="6" name="Text 3"/>
          <p:cNvSpPr txBox="1"/>
          <p:nvPr/>
        </p:nvSpPr>
        <p:spPr>
          <a:xfrm>
            <a:off x="457200" y="1783080"/>
            <a:ext cx="11277295" cy="548640"/>
          </a:xfrm>
          <a:prstGeom prst="rect">
            <a:avLst/>
          </a:prstGeom>
          <a:noFill/>
          <a:ln/>
        </p:spPr>
        <p:txBody>
          <a:bodyPr wrap="square" lIns="0" tIns="0" rIns="0" bIns="0" rtlCol="0" anchor="ctr"/>
          <a:lstStyle/>
          <a:p>
            <a:pPr marL="0" indent="0" algn="ctr">
              <a:buNone/>
            </a:pPr>
            <a:r>
              <a:rPr lang="en-US" sz="2000" b="1" dirty="0">
                <a:solidFill>
                  <a:srgbClr val="000000"/>
                </a:solidFill>
                <a:latin typeface="Times New Roman"/>
                <a:ea typeface="Calibri" pitchFamily="34" charset="-122"/>
                <a:cs typeface="Times New Roman"/>
              </a:rPr>
              <a:t>Title: EdgeGuard: Uncertainty-Aware Edge AI for Reliable Decision Making</a:t>
            </a:r>
            <a:endParaRPr lang="en-US" sz="2000">
              <a:latin typeface="Times New Roman"/>
              <a:cs typeface="Times New Roman"/>
            </a:endParaRPr>
          </a:p>
        </p:txBody>
      </p:sp>
      <p:sp>
        <p:nvSpPr>
          <p:cNvPr id="7" name="Text 4"/>
          <p:cNvSpPr txBox="1"/>
          <p:nvPr/>
        </p:nvSpPr>
        <p:spPr>
          <a:xfrm>
            <a:off x="457200" y="2514600"/>
            <a:ext cx="11277295" cy="365760"/>
          </a:xfrm>
          <a:prstGeom prst="rect">
            <a:avLst/>
          </a:prstGeom>
          <a:noFill/>
          <a:ln/>
        </p:spPr>
        <p:txBody>
          <a:bodyPr wrap="square" lIns="0" tIns="0" rIns="0" bIns="0" rtlCol="0" anchor="ctr"/>
          <a:lstStyle/>
          <a:p>
            <a:pPr marL="0" indent="0" algn="ctr">
              <a:buNone/>
            </a:pPr>
            <a:r>
              <a:rPr lang="en-US" sz="2000" b="1" dirty="0">
                <a:solidFill>
                  <a:srgbClr val="000000"/>
                </a:solidFill>
                <a:latin typeface="Times New Roman"/>
                <a:ea typeface="Calibri"/>
                <a:cs typeface="Times New Roman"/>
              </a:rPr>
              <a:t>Team Details</a:t>
            </a:r>
            <a:endParaRPr lang="en-US" sz="2000" b="1">
              <a:latin typeface="Times New Roman"/>
              <a:ea typeface="Calibri"/>
              <a:cs typeface="Times New Roman"/>
            </a:endParaRPr>
          </a:p>
        </p:txBody>
      </p:sp>
      <p:graphicFrame>
        <p:nvGraphicFramePr>
          <p:cNvPr id="8" name="Table 0"/>
          <p:cNvGraphicFramePr>
            <a:graphicFrameLocks noGrp="1"/>
          </p:cNvGraphicFramePr>
          <p:nvPr>
            <p:extLst>
              <p:ext uri="{D42A27DB-BD31-4B8C-83A1-F6EECF244321}">
                <p14:modId xmlns:p14="http://schemas.microsoft.com/office/powerpoint/2010/main" val="4057637219"/>
              </p:ext>
            </p:extLst>
          </p:nvPr>
        </p:nvGraphicFramePr>
        <p:xfrm>
          <a:off x="2103120" y="2971800"/>
          <a:ext cx="7955280" cy="1828800"/>
        </p:xfrm>
        <a:graphic>
          <a:graphicData uri="http://schemas.openxmlformats.org/drawingml/2006/table">
            <a:tbl>
              <a:tblPr/>
              <a:tblGrid>
                <a:gridCol w="9144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329184">
                <a:tc>
                  <a:txBody>
                    <a:bodyPr/>
                    <a:lstStyle/>
                    <a:p>
                      <a:pPr marL="0" indent="0" algn="l">
                        <a:buNone/>
                      </a:pPr>
                      <a:r>
                        <a:rPr lang="en-US" sz="1800" b="1" dirty="0">
                          <a:solidFill>
                            <a:srgbClr val="000000"/>
                          </a:solidFill>
                          <a:latin typeface="Times New Roman"/>
                          <a:ea typeface="Calibri"/>
                          <a:cs typeface="Times New Roman"/>
                        </a:rPr>
                        <a:t>Sl.No</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solidFill>
                      <a:srgbClr val="F2E9DE"/>
                    </a:solidFill>
                  </a:tcPr>
                </a:tc>
                <a:tc>
                  <a:txBody>
                    <a:bodyPr/>
                    <a:lstStyle/>
                    <a:p>
                      <a:pPr marL="0" indent="0" algn="l">
                        <a:buNone/>
                      </a:pPr>
                      <a:r>
                        <a:rPr lang="en-US" sz="1800" b="1" dirty="0">
                          <a:solidFill>
                            <a:srgbClr val="000000"/>
                          </a:solidFill>
                          <a:latin typeface="Times New Roman"/>
                          <a:ea typeface="Calibri"/>
                          <a:cs typeface="Times New Roman"/>
                        </a:rPr>
                        <a:t>Roll No.</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solidFill>
                      <a:srgbClr val="F2E9DE"/>
                    </a:solidFill>
                  </a:tcPr>
                </a:tc>
                <a:tc>
                  <a:txBody>
                    <a:bodyPr/>
                    <a:lstStyle/>
                    <a:p>
                      <a:pPr marL="0" indent="0" algn="l">
                        <a:buNone/>
                      </a:pPr>
                      <a:r>
                        <a:rPr lang="en-US" sz="1800" b="1" dirty="0">
                          <a:solidFill>
                            <a:srgbClr val="000000"/>
                          </a:solidFill>
                          <a:latin typeface="Times New Roman"/>
                          <a:ea typeface="Calibri"/>
                          <a:cs typeface="Times New Roman"/>
                        </a:rPr>
                        <a:t>Name</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solidFill>
                      <a:srgbClr val="F2E9DE"/>
                    </a:solidFill>
                  </a:tcPr>
                </a:tc>
                <a:tc>
                  <a:txBody>
                    <a:bodyPr/>
                    <a:lstStyle/>
                    <a:p>
                      <a:pPr marL="0" indent="0" algn="l">
                        <a:buNone/>
                      </a:pPr>
                      <a:r>
                        <a:rPr lang="en-US" sz="1800" b="1" dirty="0">
                          <a:solidFill>
                            <a:srgbClr val="000000"/>
                          </a:solidFill>
                          <a:latin typeface="Times New Roman"/>
                          <a:ea typeface="Calibri"/>
                          <a:cs typeface="Times New Roman"/>
                        </a:rPr>
                        <a:t>USN</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solidFill>
                      <a:srgbClr val="F2E9DE"/>
                    </a:solidFill>
                  </a:tcPr>
                </a:tc>
                <a:extLst>
                  <a:ext uri="{0D108BD9-81ED-4DB2-BD59-A6C34878D82A}">
                    <a16:rowId xmlns:a16="http://schemas.microsoft.com/office/drawing/2014/main" val="10000"/>
                  </a:ext>
                </a:extLst>
              </a:tr>
              <a:tr h="329184">
                <a:tc>
                  <a:txBody>
                    <a:bodyPr/>
                    <a:lstStyle/>
                    <a:p>
                      <a:pPr marL="0" indent="0" algn="l">
                        <a:buNone/>
                      </a:pPr>
                      <a:r>
                        <a:rPr lang="en-US" sz="1800" dirty="0">
                          <a:solidFill>
                            <a:srgbClr val="000000"/>
                          </a:solidFill>
                          <a:latin typeface="Times New Roman"/>
                          <a:ea typeface="Calibri"/>
                          <a:cs typeface="Times New Roman"/>
                        </a:rPr>
                        <a:t>1.</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tcPr>
                </a:tc>
                <a:tc>
                  <a:txBody>
                    <a:bodyPr/>
                    <a:lstStyle/>
                    <a:p>
                      <a:pPr marL="0" indent="0" algn="l">
                        <a:buNone/>
                      </a:pPr>
                      <a:r>
                        <a:rPr lang="en-US" sz="1800" dirty="0">
                          <a:solidFill>
                            <a:srgbClr val="000000"/>
                          </a:solidFill>
                          <a:latin typeface="Times New Roman"/>
                          <a:ea typeface="Calibri"/>
                          <a:cs typeface="Times New Roman"/>
                        </a:rPr>
                        <a:t>234</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tcPr>
                </a:tc>
                <a:tc>
                  <a:txBody>
                    <a:bodyPr/>
                    <a:lstStyle/>
                    <a:p>
                      <a:pPr marL="0" indent="0" algn="l">
                        <a:buNone/>
                      </a:pPr>
                      <a:r>
                        <a:rPr lang="en-US" sz="1800" dirty="0">
                          <a:solidFill>
                            <a:srgbClr val="000000"/>
                          </a:solidFill>
                          <a:latin typeface="Times New Roman"/>
                          <a:ea typeface="Calibri"/>
                          <a:cs typeface="Times New Roman"/>
                        </a:rPr>
                        <a:t>Vijeta Hegde</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tcPr>
                </a:tc>
                <a:tc>
                  <a:txBody>
                    <a:bodyPr/>
                    <a:lstStyle/>
                    <a:p>
                      <a:pPr marL="0" indent="0" algn="l">
                        <a:buNone/>
                      </a:pPr>
                      <a:r>
                        <a:rPr lang="en-US" sz="1800" dirty="0">
                          <a:solidFill>
                            <a:srgbClr val="000000"/>
                          </a:solidFill>
                          <a:latin typeface="Times New Roman"/>
                          <a:ea typeface="Calibri"/>
                          <a:cs typeface="Times New Roman"/>
                        </a:rPr>
                        <a:t>01FE23BCI082</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lgn="l">
                        <a:buNone/>
                      </a:pPr>
                      <a:r>
                        <a:rPr lang="en-US" sz="1800" dirty="0">
                          <a:solidFill>
                            <a:srgbClr val="000000"/>
                          </a:solidFill>
                          <a:latin typeface="Times New Roman"/>
                          <a:ea typeface="Calibri"/>
                          <a:cs typeface="Times New Roman"/>
                        </a:rPr>
                        <a:t>2.</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tcPr>
                </a:tc>
                <a:tc>
                  <a:txBody>
                    <a:bodyPr/>
                    <a:lstStyle/>
                    <a:p>
                      <a:pPr marL="0" indent="0" algn="l">
                        <a:buNone/>
                      </a:pPr>
                      <a:r>
                        <a:rPr lang="en-US" sz="1800" dirty="0">
                          <a:solidFill>
                            <a:srgbClr val="000000"/>
                          </a:solidFill>
                          <a:latin typeface="Times New Roman"/>
                          <a:ea typeface="Calibri"/>
                          <a:cs typeface="Times New Roman"/>
                        </a:rPr>
                        <a:t>215</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tcPr>
                </a:tc>
                <a:tc>
                  <a:txBody>
                    <a:bodyPr/>
                    <a:lstStyle/>
                    <a:p>
                      <a:pPr marL="0" indent="0" algn="l">
                        <a:buNone/>
                      </a:pPr>
                      <a:r>
                        <a:rPr lang="en-US" sz="1800" dirty="0">
                          <a:solidFill>
                            <a:srgbClr val="000000"/>
                          </a:solidFill>
                          <a:latin typeface="Times New Roman"/>
                          <a:ea typeface="Calibri"/>
                          <a:cs typeface="Times New Roman"/>
                        </a:rPr>
                        <a:t>Rakshita R Talegaon</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tcPr>
                </a:tc>
                <a:tc>
                  <a:txBody>
                    <a:bodyPr/>
                    <a:lstStyle/>
                    <a:p>
                      <a:pPr marL="0" indent="0" algn="l">
                        <a:buNone/>
                      </a:pPr>
                      <a:r>
                        <a:rPr lang="en-US" sz="1800" dirty="0">
                          <a:solidFill>
                            <a:srgbClr val="000000"/>
                          </a:solidFill>
                          <a:latin typeface="Times New Roman"/>
                          <a:ea typeface="Calibri"/>
                          <a:cs typeface="Times New Roman"/>
                        </a:rPr>
                        <a:t>01FE23BCI041</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lgn="l">
                        <a:buNone/>
                      </a:pPr>
                      <a:r>
                        <a:rPr lang="en-US" sz="1800" dirty="0">
                          <a:solidFill>
                            <a:srgbClr val="000000"/>
                          </a:solidFill>
                          <a:latin typeface="Times New Roman"/>
                          <a:ea typeface="Calibri"/>
                          <a:cs typeface="Times New Roman"/>
                        </a:rPr>
                        <a:t>3.</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tcPr>
                </a:tc>
                <a:tc>
                  <a:txBody>
                    <a:bodyPr/>
                    <a:lstStyle/>
                    <a:p>
                      <a:pPr marL="0" indent="0" algn="l">
                        <a:buNone/>
                      </a:pPr>
                      <a:r>
                        <a:rPr lang="en-US" sz="1800" dirty="0">
                          <a:solidFill>
                            <a:srgbClr val="000000"/>
                          </a:solidFill>
                          <a:latin typeface="Times New Roman"/>
                          <a:ea typeface="Calibri"/>
                          <a:cs typeface="Times New Roman"/>
                        </a:rPr>
                        <a:t>237</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tcPr>
                </a:tc>
                <a:tc>
                  <a:txBody>
                    <a:bodyPr/>
                    <a:lstStyle/>
                    <a:p>
                      <a:pPr marL="0" indent="0" algn="l">
                        <a:buNone/>
                      </a:pPr>
                      <a:r>
                        <a:rPr lang="en-US" sz="1800" dirty="0">
                          <a:solidFill>
                            <a:srgbClr val="000000"/>
                          </a:solidFill>
                          <a:latin typeface="Times New Roman"/>
                          <a:ea typeface="Calibri"/>
                          <a:cs typeface="Times New Roman"/>
                        </a:rPr>
                        <a:t>Tejaswini M V</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tcPr>
                </a:tc>
                <a:tc>
                  <a:txBody>
                    <a:bodyPr/>
                    <a:lstStyle/>
                    <a:p>
                      <a:pPr marL="0" indent="0" algn="l">
                        <a:buNone/>
                      </a:pPr>
                      <a:r>
                        <a:rPr lang="en-US" sz="1800" dirty="0">
                          <a:solidFill>
                            <a:srgbClr val="000000"/>
                          </a:solidFill>
                          <a:latin typeface="Times New Roman"/>
                          <a:ea typeface="Calibri"/>
                          <a:cs typeface="Times New Roman"/>
                        </a:rPr>
                        <a:t>01FE23BCI044</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lgn="l">
                        <a:buNone/>
                      </a:pPr>
                      <a:r>
                        <a:rPr lang="en-US" sz="1800" dirty="0">
                          <a:solidFill>
                            <a:srgbClr val="000000"/>
                          </a:solidFill>
                          <a:latin typeface="Times New Roman"/>
                          <a:ea typeface="Calibri"/>
                          <a:cs typeface="Times New Roman"/>
                        </a:rPr>
                        <a:t>4.</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tcPr>
                </a:tc>
                <a:tc>
                  <a:txBody>
                    <a:bodyPr/>
                    <a:lstStyle/>
                    <a:p>
                      <a:pPr marL="0" indent="0" algn="l">
                        <a:buNone/>
                      </a:pPr>
                      <a:r>
                        <a:rPr lang="en-US" sz="1800" dirty="0">
                          <a:solidFill>
                            <a:srgbClr val="000000"/>
                          </a:solidFill>
                          <a:latin typeface="Times New Roman"/>
                          <a:ea typeface="Calibri"/>
                          <a:cs typeface="Times New Roman"/>
                        </a:rPr>
                        <a:t>241</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tcPr>
                </a:tc>
                <a:tc>
                  <a:txBody>
                    <a:bodyPr/>
                    <a:lstStyle/>
                    <a:p>
                      <a:pPr marL="0" indent="0" algn="l">
                        <a:buNone/>
                      </a:pPr>
                      <a:r>
                        <a:rPr lang="en-US" sz="1800" dirty="0">
                          <a:solidFill>
                            <a:srgbClr val="000000"/>
                          </a:solidFill>
                          <a:latin typeface="Times New Roman"/>
                          <a:ea typeface="Calibri"/>
                          <a:cs typeface="Times New Roman"/>
                        </a:rPr>
                        <a:t>Manjula Nayak</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tcPr>
                </a:tc>
                <a:tc>
                  <a:txBody>
                    <a:bodyPr/>
                    <a:lstStyle/>
                    <a:p>
                      <a:pPr marL="0" indent="0" algn="l">
                        <a:buNone/>
                      </a:pPr>
                      <a:r>
                        <a:rPr lang="en-US" sz="1800" dirty="0">
                          <a:solidFill>
                            <a:srgbClr val="000000"/>
                          </a:solidFill>
                          <a:latin typeface="Times New Roman"/>
                          <a:ea typeface="Calibri"/>
                          <a:cs typeface="Times New Roman"/>
                        </a:rPr>
                        <a:t>01FE23BCI097</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Text 5"/>
          <p:cNvSpPr txBox="1"/>
          <p:nvPr/>
        </p:nvSpPr>
        <p:spPr>
          <a:xfrm>
            <a:off x="2104293" y="5359485"/>
            <a:ext cx="5486400" cy="365760"/>
          </a:xfrm>
          <a:prstGeom prst="rect">
            <a:avLst/>
          </a:prstGeom>
          <a:noFill/>
          <a:ln/>
        </p:spPr>
        <p:txBody>
          <a:bodyPr wrap="square" lIns="0" tIns="0" rIns="0" bIns="0" rtlCol="0" anchor="ctr"/>
          <a:lstStyle/>
          <a:p>
            <a:r>
              <a:rPr lang="en-US" sz="2000" dirty="0">
                <a:solidFill>
                  <a:srgbClr val="000000"/>
                </a:solidFill>
                <a:latin typeface="Times New Roman"/>
                <a:ea typeface="Calibri"/>
                <a:cs typeface="Times New Roman"/>
              </a:rPr>
              <a:t>Guide :</a:t>
            </a:r>
            <a:r>
              <a:rPr lang="en-US" sz="2000" dirty="0" err="1">
                <a:solidFill>
                  <a:srgbClr val="000000"/>
                </a:solidFill>
                <a:latin typeface="Times New Roman"/>
                <a:ea typeface="Calibri"/>
                <a:cs typeface="Times New Roman"/>
              </a:rPr>
              <a:t>Maheshawari</a:t>
            </a:r>
            <a:r>
              <a:rPr lang="en-US" sz="2000" dirty="0">
                <a:solidFill>
                  <a:srgbClr val="000000"/>
                </a:solidFill>
                <a:latin typeface="Times New Roman"/>
                <a:ea typeface="Calibri"/>
                <a:cs typeface="Times New Roman"/>
              </a:rPr>
              <a:t> Kittur</a:t>
            </a:r>
            <a:endParaRPr lang="en-US" sz="2000" dirty="0" err="1">
              <a:latin typeface="Times New Roman"/>
              <a:ea typeface="Calibri"/>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sp>
      <p:sp>
        <p:nvSpPr>
          <p:cNvPr id="4" name="Text 1"/>
          <p:cNvSpPr txBox="1"/>
          <p:nvPr/>
        </p:nvSpPr>
        <p:spPr>
          <a:xfrm>
            <a:off x="274320" y="292608"/>
            <a:ext cx="9601200" cy="640080"/>
          </a:xfrm>
          <a:prstGeom prst="rect">
            <a:avLst/>
          </a:prstGeom>
          <a:noFill/>
          <a:ln/>
        </p:spPr>
        <p:txBody>
          <a:bodyPr wrap="square" lIns="0" tIns="0" rIns="0" bIns="0" rtlCol="0" anchor="ctr"/>
          <a:lstStyle/>
          <a:p>
            <a:pPr marL="0" indent="0" algn="l">
              <a:buNone/>
            </a:pPr>
            <a:r>
              <a:rPr lang="en-US" sz="2400" b="1" dirty="0">
                <a:solidFill>
                  <a:srgbClr val="000000"/>
                </a:solidFill>
                <a:latin typeface="Times New Roman"/>
                <a:ea typeface="Calibri" pitchFamily="34" charset="-122"/>
                <a:cs typeface="Times New Roman"/>
              </a:rPr>
              <a:t>Content :</a:t>
            </a:r>
            <a:endParaRPr lang="en-US" sz="2400">
              <a:latin typeface="Times New Roman"/>
              <a:cs typeface="Times New Roman"/>
            </a:endParaRPr>
          </a:p>
        </p:txBody>
      </p:sp>
      <p:sp>
        <p:nvSpPr>
          <p:cNvPr id="5" name="Text 2"/>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2</a:t>
            </a:r>
            <a:endParaRPr lang="en-US" sz="1000" dirty="0"/>
          </a:p>
        </p:txBody>
      </p:sp>
      <p:sp>
        <p:nvSpPr>
          <p:cNvPr id="7" name="Text 4"/>
          <p:cNvSpPr txBox="1"/>
          <p:nvPr/>
        </p:nvSpPr>
        <p:spPr>
          <a:xfrm>
            <a:off x="411480" y="1234440"/>
            <a:ext cx="11368735" cy="512064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000000"/>
                </a:solidFill>
                <a:latin typeface="Times New Roman"/>
                <a:ea typeface="Calibri"/>
                <a:cs typeface="Times New Roman"/>
              </a:rPr>
              <a:t>Introduction</a:t>
            </a:r>
            <a:endParaRPr lang="en-US" sz="2000">
              <a:latin typeface="Times New Roman"/>
              <a:ea typeface="Calibri"/>
              <a:cs typeface="Times New Roman"/>
            </a:endParaRPr>
          </a:p>
          <a:p>
            <a:pPr marL="342900" indent="-342900">
              <a:spcAft>
                <a:spcPts val="1000"/>
              </a:spcAft>
              <a:buSzPct val="100000"/>
              <a:buChar char="•"/>
            </a:pPr>
            <a:r>
              <a:rPr lang="en-US" sz="2000" dirty="0">
                <a:solidFill>
                  <a:srgbClr val="000000"/>
                </a:solidFill>
                <a:latin typeface="Times New Roman"/>
                <a:ea typeface="Calibri"/>
                <a:cs typeface="Times New Roman"/>
              </a:rPr>
              <a:t>Motivation</a:t>
            </a:r>
            <a:endParaRPr lang="en-US" sz="2000">
              <a:latin typeface="Times New Roman"/>
              <a:ea typeface="Calibri"/>
              <a:cs typeface="Times New Roman"/>
            </a:endParaRPr>
          </a:p>
          <a:p>
            <a:pPr marL="342900" indent="-342900">
              <a:spcAft>
                <a:spcPts val="1000"/>
              </a:spcAft>
              <a:buSzPct val="100000"/>
              <a:buChar char="•"/>
            </a:pPr>
            <a:r>
              <a:rPr lang="en-US" sz="2000" dirty="0">
                <a:solidFill>
                  <a:srgbClr val="000000"/>
                </a:solidFill>
                <a:latin typeface="Times New Roman"/>
                <a:ea typeface="Calibri"/>
                <a:cs typeface="Times New Roman"/>
              </a:rPr>
              <a:t>Literature Survey</a:t>
            </a:r>
            <a:endParaRPr lang="en-US" sz="2000" dirty="0">
              <a:latin typeface="Times New Roman"/>
              <a:ea typeface="Calibri"/>
              <a:cs typeface="Times New Roman"/>
            </a:endParaRPr>
          </a:p>
          <a:p>
            <a:pPr marL="342900" indent="-342900">
              <a:spcAft>
                <a:spcPts val="1000"/>
              </a:spcAft>
              <a:buSzPct val="100000"/>
              <a:buChar char="•"/>
            </a:pPr>
            <a:r>
              <a:rPr lang="en-US" sz="2000" dirty="0">
                <a:solidFill>
                  <a:srgbClr val="000000"/>
                </a:solidFill>
                <a:latin typeface="Times New Roman"/>
                <a:ea typeface="Calibri"/>
                <a:cs typeface="Times New Roman"/>
              </a:rPr>
              <a:t>Problem Analysis</a:t>
            </a:r>
            <a:endParaRPr lang="en-US" sz="2000">
              <a:latin typeface="Times New Roman"/>
              <a:ea typeface="Calibri"/>
              <a:cs typeface="Times New Roman"/>
            </a:endParaRPr>
          </a:p>
          <a:p>
            <a:pPr marL="342900" indent="-342900">
              <a:spcAft>
                <a:spcPts val="1000"/>
              </a:spcAft>
              <a:buSzPct val="100000"/>
              <a:buChar char="•"/>
            </a:pPr>
            <a:r>
              <a:rPr lang="en-US" sz="2000" dirty="0">
                <a:solidFill>
                  <a:srgbClr val="000000"/>
                </a:solidFill>
                <a:latin typeface="Times New Roman"/>
                <a:ea typeface="Calibri"/>
                <a:cs typeface="Times New Roman"/>
              </a:rPr>
              <a:t>Problem Statement</a:t>
            </a:r>
            <a:endParaRPr lang="en-US" sz="2000">
              <a:latin typeface="Times New Roman"/>
              <a:ea typeface="Calibri"/>
              <a:cs typeface="Times New Roman"/>
            </a:endParaRPr>
          </a:p>
          <a:p>
            <a:pPr marL="342900" indent="-342900">
              <a:spcAft>
                <a:spcPts val="1000"/>
              </a:spcAft>
              <a:buSzPct val="100000"/>
              <a:buChar char="•"/>
            </a:pPr>
            <a:r>
              <a:rPr lang="en-US" sz="2000" dirty="0">
                <a:solidFill>
                  <a:srgbClr val="000000"/>
                </a:solidFill>
                <a:latin typeface="Times New Roman"/>
                <a:ea typeface="Calibri"/>
                <a:cs typeface="Times New Roman"/>
              </a:rPr>
              <a:t>Objectives</a:t>
            </a:r>
            <a:endParaRPr lang="en-US" sz="2000">
              <a:latin typeface="Times New Roman"/>
              <a:ea typeface="Calibri"/>
              <a:cs typeface="Times New Roman"/>
            </a:endParaRPr>
          </a:p>
          <a:p>
            <a:pPr marL="342900" indent="-342900">
              <a:spcAft>
                <a:spcPts val="1000"/>
              </a:spcAft>
              <a:buSzPct val="100000"/>
              <a:buChar char="•"/>
            </a:pPr>
            <a:r>
              <a:rPr lang="en-US" sz="2000" dirty="0">
                <a:solidFill>
                  <a:srgbClr val="000000"/>
                </a:solidFill>
                <a:latin typeface="Times New Roman"/>
                <a:ea typeface="Calibri"/>
                <a:cs typeface="Times New Roman"/>
              </a:rPr>
              <a:t>Design Principles</a:t>
            </a:r>
            <a:endParaRPr lang="en-US" sz="2000">
              <a:latin typeface="Times New Roman"/>
              <a:ea typeface="Calibri"/>
              <a:cs typeface="Times New Roman"/>
            </a:endParaRPr>
          </a:p>
          <a:p>
            <a:pPr marL="342900" indent="-342900">
              <a:spcAft>
                <a:spcPts val="1000"/>
              </a:spcAft>
              <a:buSzPct val="100000"/>
              <a:buChar char="•"/>
            </a:pPr>
            <a:r>
              <a:rPr lang="en-US" sz="2000" dirty="0">
                <a:solidFill>
                  <a:srgbClr val="000000"/>
                </a:solidFill>
                <a:latin typeface="Times New Roman"/>
                <a:ea typeface="Calibri"/>
                <a:cs typeface="Times New Roman"/>
              </a:rPr>
              <a:t>Functional Requirements</a:t>
            </a:r>
          </a:p>
          <a:p>
            <a:pPr marL="342900" indent="-342900">
              <a:spcAft>
                <a:spcPts val="1000"/>
              </a:spcAft>
              <a:buSzPct val="100000"/>
              <a:buChar char="•"/>
            </a:pPr>
            <a:r>
              <a:rPr lang="en-US" sz="2000" dirty="0">
                <a:solidFill>
                  <a:srgbClr val="000000"/>
                </a:solidFill>
                <a:latin typeface="Times New Roman"/>
                <a:ea typeface="Calibri"/>
                <a:cs typeface="Times New Roman"/>
              </a:rPr>
              <a:t>Non-Functional Requirements</a:t>
            </a:r>
          </a:p>
          <a:p>
            <a:pPr marL="342900" indent="-342900">
              <a:spcAft>
                <a:spcPts val="1000"/>
              </a:spcAft>
              <a:buSzPct val="100000"/>
              <a:buChar char="•"/>
            </a:pPr>
            <a:r>
              <a:rPr lang="en-US" sz="2000" dirty="0">
                <a:solidFill>
                  <a:srgbClr val="000000"/>
                </a:solidFill>
                <a:latin typeface="Times New Roman"/>
                <a:ea typeface="Calibri"/>
                <a:cs typeface="Times New Roman"/>
              </a:rPr>
              <a:t>Proposed Solution</a:t>
            </a:r>
          </a:p>
          <a:p>
            <a:pPr marL="342900" indent="-342900">
              <a:spcAft>
                <a:spcPts val="1000"/>
              </a:spcAft>
              <a:buSzPct val="100000"/>
              <a:buChar char="•"/>
            </a:pPr>
            <a:r>
              <a:rPr lang="en-US" sz="2000" dirty="0">
                <a:solidFill>
                  <a:srgbClr val="000000"/>
                </a:solidFill>
                <a:latin typeface="Times New Roman"/>
                <a:ea typeface="Calibri"/>
                <a:cs typeface="Times New Roman"/>
              </a:rPr>
              <a:t>Dataset and Evaluation metrics</a:t>
            </a:r>
          </a:p>
          <a:p>
            <a:pPr marL="342900" indent="-342900">
              <a:spcAft>
                <a:spcPts val="1000"/>
              </a:spcAft>
              <a:buSzPct val="100000"/>
              <a:buChar char="•"/>
            </a:pPr>
            <a:r>
              <a:rPr lang="en-US" sz="2000" dirty="0">
                <a:solidFill>
                  <a:srgbClr val="000000"/>
                </a:solidFill>
                <a:latin typeface="Times New Roman"/>
                <a:ea typeface="Calibri"/>
                <a:cs typeface="Times New Roman"/>
              </a:rPr>
              <a:t>Project Management</a:t>
            </a:r>
            <a:endParaRPr lang="en-US" sz="2000">
              <a:latin typeface="Times New Roman"/>
              <a:ea typeface="Calibri"/>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sp>
      <p:sp>
        <p:nvSpPr>
          <p:cNvPr id="4" name="Text 1"/>
          <p:cNvSpPr txBox="1"/>
          <p:nvPr/>
        </p:nvSpPr>
        <p:spPr>
          <a:xfrm>
            <a:off x="274320" y="292608"/>
            <a:ext cx="9601200" cy="640080"/>
          </a:xfrm>
          <a:prstGeom prst="rect">
            <a:avLst/>
          </a:prstGeom>
          <a:noFill/>
          <a:ln/>
        </p:spPr>
        <p:txBody>
          <a:bodyPr wrap="square" lIns="0" tIns="0" rIns="0" bIns="0" rtlCol="0" anchor="ctr"/>
          <a:lstStyle/>
          <a:p>
            <a:pPr marL="0" indent="0" algn="l">
              <a:buNone/>
            </a:pPr>
            <a:r>
              <a:rPr lang="en-US" sz="2400" b="1" dirty="0">
                <a:solidFill>
                  <a:srgbClr val="000000"/>
                </a:solidFill>
                <a:latin typeface="Times New Roman"/>
                <a:ea typeface="Calibri" pitchFamily="34" charset="-122"/>
                <a:cs typeface="Times New Roman"/>
              </a:rPr>
              <a:t>Introduction :</a:t>
            </a:r>
            <a:endParaRPr lang="en-US" sz="2400">
              <a:latin typeface="Times New Roman"/>
              <a:cs typeface="Times New Roman"/>
            </a:endParaRPr>
          </a:p>
        </p:txBody>
      </p:sp>
      <p:sp>
        <p:nvSpPr>
          <p:cNvPr id="5" name="Text 2"/>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3</a:t>
            </a:r>
            <a:endParaRPr lang="en-US" sz="1000" dirty="0"/>
          </a:p>
        </p:txBody>
      </p:sp>
      <p:sp>
        <p:nvSpPr>
          <p:cNvPr id="7" name="Text 4"/>
          <p:cNvSpPr txBox="1"/>
          <p:nvPr/>
        </p:nvSpPr>
        <p:spPr>
          <a:xfrm>
            <a:off x="411480" y="1234440"/>
            <a:ext cx="11368735" cy="512064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000000"/>
                </a:solidFill>
                <a:latin typeface="Times New Roman"/>
                <a:ea typeface="Calibri"/>
                <a:cs typeface="Times New Roman"/>
              </a:rPr>
              <a:t>AI models are increasingly deployed in real-world systems like self-driving cars, robots, and industrial cameras to make real-time decisions.</a:t>
            </a:r>
            <a:endParaRPr lang="en-US" sz="2000">
              <a:latin typeface="Times New Roman"/>
              <a:ea typeface="Calibri"/>
              <a:cs typeface="Times New Roman"/>
            </a:endParaRPr>
          </a:p>
          <a:p>
            <a:pPr marL="342900" indent="-342900">
              <a:spcAft>
                <a:spcPts val="1000"/>
              </a:spcAft>
              <a:buSzPct val="100000"/>
              <a:buChar char="•"/>
            </a:pPr>
            <a:r>
              <a:rPr lang="en-US" sz="2000" dirty="0">
                <a:solidFill>
                  <a:srgbClr val="000000"/>
                </a:solidFill>
                <a:latin typeface="Times New Roman"/>
                <a:ea typeface="Calibri"/>
                <a:cs typeface="Times New Roman"/>
              </a:rPr>
              <a:t>These models are trained on a fixed set of conditions/objects, but real-world environments are unpredictable  poor lighting, fog, occlusion, unknown objects.</a:t>
            </a:r>
            <a:endParaRPr lang="en-US" sz="2000">
              <a:latin typeface="Times New Roman"/>
              <a:ea typeface="Calibri"/>
              <a:cs typeface="Times New Roman"/>
            </a:endParaRPr>
          </a:p>
          <a:p>
            <a:pPr marL="342900" indent="-342900">
              <a:spcAft>
                <a:spcPts val="1000"/>
              </a:spcAft>
              <a:buSzPct val="100000"/>
              <a:buChar char="•"/>
            </a:pPr>
            <a:r>
              <a:rPr lang="en-US" sz="2000" dirty="0">
                <a:solidFill>
                  <a:srgbClr val="000000"/>
                </a:solidFill>
                <a:latin typeface="Times New Roman"/>
                <a:ea typeface="Calibri"/>
                <a:cs typeface="Times New Roman"/>
              </a:rPr>
              <a:t>Most AI models still give confident predictions even when facing unfamiliar or degraded inputs — they don't know what they don't know.</a:t>
            </a:r>
            <a:endParaRPr lang="en-US" sz="2000">
              <a:latin typeface="Times New Roman"/>
              <a:ea typeface="Calibri"/>
              <a:cs typeface="Times New Roman"/>
            </a:endParaRPr>
          </a:p>
          <a:p>
            <a:pPr marL="342900" indent="-342900">
              <a:spcAft>
                <a:spcPts val="1000"/>
              </a:spcAft>
              <a:buSzPct val="100000"/>
              <a:buChar char="•"/>
            </a:pPr>
            <a:r>
              <a:rPr lang="en-US" sz="2000" dirty="0">
                <a:solidFill>
                  <a:srgbClr val="000000"/>
                </a:solidFill>
                <a:latin typeface="Times New Roman"/>
                <a:ea typeface="Calibri"/>
                <a:cs typeface="Times New Roman"/>
              </a:rPr>
              <a:t>This overconfidence can lead to dangerous failures in safety-critical applications where wrong predictions have real consequences.</a:t>
            </a:r>
            <a:endParaRPr lang="en-US" sz="2000">
              <a:latin typeface="Times New Roman"/>
              <a:ea typeface="Calibri"/>
              <a:cs typeface="Times New Roman"/>
            </a:endParaRPr>
          </a:p>
          <a:p>
            <a:pPr marL="342900" indent="-342900">
              <a:spcAft>
                <a:spcPts val="1000"/>
              </a:spcAft>
              <a:buSzPct val="100000"/>
              <a:buChar char="•"/>
            </a:pPr>
            <a:r>
              <a:rPr lang="en-US" sz="2000" dirty="0">
                <a:solidFill>
                  <a:srgbClr val="000000"/>
                </a:solidFill>
                <a:latin typeface="Times New Roman"/>
                <a:ea typeface="Calibri"/>
                <a:cs typeface="Times New Roman"/>
              </a:rPr>
              <a:t>EdgeGuard proposes an AI system that can detect its own unreliable predictions in real time, directly on edge devices without depending on the cloud.</a:t>
            </a:r>
            <a:endParaRPr lang="en-US" sz="2000" dirty="0">
              <a:latin typeface="Times New Roman"/>
              <a:ea typeface="Calibri"/>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sp>
      <p:sp>
        <p:nvSpPr>
          <p:cNvPr id="4" name="Text 1"/>
          <p:cNvSpPr txBox="1"/>
          <p:nvPr/>
        </p:nvSpPr>
        <p:spPr>
          <a:xfrm>
            <a:off x="274320" y="292608"/>
            <a:ext cx="9601200" cy="640080"/>
          </a:xfrm>
          <a:prstGeom prst="rect">
            <a:avLst/>
          </a:prstGeom>
          <a:noFill/>
          <a:ln/>
        </p:spPr>
        <p:txBody>
          <a:bodyPr wrap="square" lIns="0" tIns="0" rIns="0" bIns="0" rtlCol="0" anchor="ctr"/>
          <a:lstStyle/>
          <a:p>
            <a:pPr marL="0" indent="0" algn="l">
              <a:buNone/>
            </a:pPr>
            <a:r>
              <a:rPr lang="en-US" sz="2400" b="1" dirty="0">
                <a:solidFill>
                  <a:srgbClr val="000000"/>
                </a:solidFill>
                <a:latin typeface="Times New Roman"/>
                <a:ea typeface="Calibri" pitchFamily="34" charset="-122"/>
                <a:cs typeface="Times New Roman"/>
              </a:rPr>
              <a:t>Motivation :</a:t>
            </a:r>
            <a:endParaRPr lang="en-US" sz="2400">
              <a:latin typeface="Times New Roman"/>
              <a:cs typeface="Times New Roman"/>
            </a:endParaRPr>
          </a:p>
        </p:txBody>
      </p:sp>
      <p:sp>
        <p:nvSpPr>
          <p:cNvPr id="5" name="Text 2"/>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4</a:t>
            </a:r>
            <a:endParaRPr lang="en-US" sz="1000" dirty="0"/>
          </a:p>
        </p:txBody>
      </p:sp>
      <p:sp>
        <p:nvSpPr>
          <p:cNvPr id="7" name="Text 4"/>
          <p:cNvSpPr txBox="1"/>
          <p:nvPr/>
        </p:nvSpPr>
        <p:spPr>
          <a:xfrm>
            <a:off x="275781" y="1265755"/>
            <a:ext cx="11514872" cy="5298091"/>
          </a:xfrm>
          <a:prstGeom prst="rect">
            <a:avLst/>
          </a:prstGeom>
          <a:noFill/>
          <a:ln/>
        </p:spPr>
        <p:txBody>
          <a:bodyPr wrap="square" lIns="0" tIns="0" rIns="0" bIns="0" rtlCol="0" anchor="t"/>
          <a:lstStyle/>
          <a:p>
            <a:pPr marL="342900" indent="-342900" algn="just">
              <a:spcAft>
                <a:spcPts val="1000"/>
              </a:spcAft>
              <a:buSzPct val="100000"/>
              <a:buChar char="•"/>
            </a:pPr>
            <a:r>
              <a:rPr lang="en-US" sz="2000" dirty="0">
                <a:solidFill>
                  <a:srgbClr val="000000"/>
                </a:solidFill>
                <a:latin typeface="Times New Roman"/>
                <a:ea typeface="Calibri"/>
                <a:cs typeface="Times New Roman"/>
              </a:rPr>
              <a:t>A wrong prediction made confidently is more dangerous than a system that says “I'm not sure” silent failures are the real risk.</a:t>
            </a:r>
            <a:endParaRPr lang="en-US" sz="2000">
              <a:latin typeface="Times New Roman"/>
              <a:ea typeface="Calibri"/>
              <a:cs typeface="Times New Roman"/>
            </a:endParaRPr>
          </a:p>
          <a:p>
            <a:pPr marL="342900" indent="-342900" algn="just">
              <a:spcAft>
                <a:spcPts val="1000"/>
              </a:spcAft>
              <a:buSzPct val="100000"/>
              <a:buChar char="•"/>
            </a:pPr>
            <a:r>
              <a:rPr lang="en-US" sz="2000" dirty="0">
                <a:solidFill>
                  <a:srgbClr val="000000"/>
                </a:solidFill>
                <a:latin typeface="Times New Roman"/>
                <a:ea typeface="Calibri"/>
                <a:cs typeface="Times New Roman"/>
              </a:rPr>
              <a:t>Existing AI failure-detection methods (Deep Ensembles, Monte Carlo Dropout) require multiple model runs too slow for real-time, resource-limited edge devices.</a:t>
            </a:r>
            <a:endParaRPr lang="en-US" sz="2000" dirty="0">
              <a:latin typeface="Times New Roman"/>
              <a:ea typeface="Calibri"/>
              <a:cs typeface="Times New Roman"/>
            </a:endParaRPr>
          </a:p>
          <a:p>
            <a:pPr marL="342900" indent="-342900" algn="just">
              <a:spcAft>
                <a:spcPts val="1000"/>
              </a:spcAft>
              <a:buSzPct val="100000"/>
              <a:buChar char="•"/>
            </a:pPr>
            <a:r>
              <a:rPr lang="en-US" sz="2000" dirty="0">
                <a:solidFill>
                  <a:srgbClr val="000000"/>
                </a:solidFill>
                <a:latin typeface="Times New Roman"/>
                <a:ea typeface="Calibri"/>
                <a:cs typeface="Times New Roman"/>
              </a:rPr>
              <a:t>Edge devices (cameras, in-vehicle systems, robots) have strict compute, memory, and power constraints  solutions must be lightweight and fast (single forward pass).</a:t>
            </a:r>
            <a:endParaRPr lang="en-US" sz="2000" dirty="0">
              <a:latin typeface="Times New Roman"/>
              <a:ea typeface="Calibri"/>
              <a:cs typeface="Times New Roman"/>
            </a:endParaRPr>
          </a:p>
          <a:p>
            <a:pPr marL="342900" indent="-342900" algn="just">
              <a:spcAft>
                <a:spcPts val="1000"/>
              </a:spcAft>
              <a:buSzPct val="100000"/>
              <a:buChar char="•"/>
            </a:pPr>
            <a:r>
              <a:rPr lang="en-US" sz="2000" dirty="0">
                <a:solidFill>
                  <a:srgbClr val="000000"/>
                </a:solidFill>
                <a:latin typeface="Times New Roman"/>
                <a:ea typeface="Calibri"/>
                <a:cs typeface="Times New Roman"/>
              </a:rPr>
              <a:t>Cloud-based reliability checks introduce latency and require constant connectivity  not viable for safety-critical, real-time decisions.</a:t>
            </a:r>
            <a:endParaRPr lang="en-US" sz="2000">
              <a:latin typeface="Times New Roman"/>
              <a:ea typeface="Calibri"/>
              <a:cs typeface="Times New Roman"/>
            </a:endParaRPr>
          </a:p>
          <a:p>
            <a:pPr marL="342900" indent="-342900" algn="just">
              <a:spcAft>
                <a:spcPts val="1000"/>
              </a:spcAft>
              <a:buSzPct val="100000"/>
              <a:buChar char="•"/>
            </a:pPr>
            <a:r>
              <a:rPr lang="en-US" sz="2000" dirty="0">
                <a:solidFill>
                  <a:srgbClr val="000000"/>
                </a:solidFill>
                <a:latin typeface="Times New Roman"/>
                <a:ea typeface="Calibri"/>
                <a:cs typeface="Times New Roman"/>
              </a:rPr>
              <a:t>There is a clear real-world need (autonomous driving, industrial inspection, robotics) for AI that is not just accurate, but self-aware of its own limitations  motivating </a:t>
            </a:r>
            <a:r>
              <a:rPr lang="en-US" sz="2000" dirty="0" err="1">
                <a:solidFill>
                  <a:srgbClr val="000000"/>
                </a:solidFill>
                <a:latin typeface="Times New Roman"/>
                <a:ea typeface="Calibri"/>
                <a:cs typeface="Times New Roman"/>
              </a:rPr>
              <a:t>EdgeGuard's</a:t>
            </a:r>
            <a:r>
              <a:rPr lang="en-US" sz="2000" dirty="0">
                <a:solidFill>
                  <a:srgbClr val="000000"/>
                </a:solidFill>
                <a:latin typeface="Times New Roman"/>
                <a:ea typeface="Calibri"/>
                <a:cs typeface="Times New Roman"/>
              </a:rPr>
              <a:t> core objective.</a:t>
            </a:r>
            <a:endParaRPr lang="en-US" sz="2000" dirty="0">
              <a:latin typeface="Times New Roman"/>
              <a:ea typeface="Calibri"/>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sp>
      <p:sp>
        <p:nvSpPr>
          <p:cNvPr id="4" name="Text 1"/>
          <p:cNvSpPr txBox="1"/>
          <p:nvPr/>
        </p:nvSpPr>
        <p:spPr>
          <a:xfrm>
            <a:off x="274320" y="292608"/>
            <a:ext cx="9601200" cy="640080"/>
          </a:xfrm>
          <a:prstGeom prst="rect">
            <a:avLst/>
          </a:prstGeom>
          <a:noFill/>
          <a:ln/>
        </p:spPr>
        <p:txBody>
          <a:bodyPr wrap="square" lIns="0" tIns="0" rIns="0" bIns="0" rtlCol="0" anchor="ctr"/>
          <a:lstStyle/>
          <a:p>
            <a:pPr marL="0" indent="0" algn="l">
              <a:buNone/>
            </a:pPr>
            <a:r>
              <a:rPr lang="en-US" sz="2400" b="1" dirty="0">
                <a:solidFill>
                  <a:srgbClr val="000000"/>
                </a:solidFill>
                <a:latin typeface="Times New Roman"/>
                <a:ea typeface="Calibri" pitchFamily="34" charset="-122"/>
                <a:cs typeface="Times New Roman"/>
              </a:rPr>
              <a:t>Literature Survey :</a:t>
            </a:r>
            <a:endParaRPr lang="en-US" sz="2400">
              <a:latin typeface="Times New Roman"/>
              <a:cs typeface="Times New Roman"/>
            </a:endParaRPr>
          </a:p>
        </p:txBody>
      </p:sp>
      <p:sp>
        <p:nvSpPr>
          <p:cNvPr id="5" name="Text 2"/>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5</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4026428083"/>
              </p:ext>
            </p:extLst>
          </p:nvPr>
        </p:nvGraphicFramePr>
        <p:xfrm>
          <a:off x="274320" y="1234440"/>
          <a:ext cx="11643055" cy="5146951"/>
        </p:xfrm>
        <a:graphic>
          <a:graphicData uri="http://schemas.openxmlformats.org/drawingml/2006/table">
            <a:tbl>
              <a:tblPr/>
              <a:tblGrid>
                <a:gridCol w="27432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1858975">
                  <a:extLst>
                    <a:ext uri="{9D8B030D-6E8A-4147-A177-3AD203B41FA5}">
                      <a16:colId xmlns:a16="http://schemas.microsoft.com/office/drawing/2014/main" val="20004"/>
                    </a:ext>
                  </a:extLst>
                </a:gridCol>
              </a:tblGrid>
              <a:tr h="532279">
                <a:tc>
                  <a:txBody>
                    <a:bodyPr/>
                    <a:lstStyle/>
                    <a:p>
                      <a:pPr marL="0" indent="0" algn="l">
                        <a:buNone/>
                      </a:pPr>
                      <a:r>
                        <a:rPr lang="en-US" sz="1400" b="1" dirty="0">
                          <a:solidFill>
                            <a:srgbClr val="000000"/>
                          </a:solidFill>
                          <a:latin typeface="Times New Roman"/>
                          <a:ea typeface="Calibri"/>
                          <a:cs typeface="Times New Roman"/>
                        </a:rPr>
                        <a:t>Title &amp; Year</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solidFill>
                      <a:srgbClr val="F2E9DE"/>
                    </a:solidFill>
                  </a:tcPr>
                </a:tc>
                <a:tc>
                  <a:txBody>
                    <a:bodyPr/>
                    <a:lstStyle/>
                    <a:p>
                      <a:pPr marL="0" indent="0" algn="l">
                        <a:buNone/>
                      </a:pPr>
                      <a:r>
                        <a:rPr lang="en-US" sz="1400" b="1" dirty="0">
                          <a:solidFill>
                            <a:srgbClr val="000000"/>
                          </a:solidFill>
                          <a:latin typeface="Times New Roman"/>
                          <a:ea typeface="Calibri"/>
                          <a:cs typeface="Times New Roman"/>
                        </a:rPr>
                        <a:t>Dataset</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solidFill>
                      <a:srgbClr val="F2E9DE"/>
                    </a:solidFill>
                  </a:tcPr>
                </a:tc>
                <a:tc>
                  <a:txBody>
                    <a:bodyPr/>
                    <a:lstStyle/>
                    <a:p>
                      <a:pPr marL="0" indent="0" algn="l">
                        <a:buNone/>
                      </a:pPr>
                      <a:r>
                        <a:rPr lang="en-US" sz="1400" b="1" dirty="0">
                          <a:solidFill>
                            <a:srgbClr val="000000"/>
                          </a:solidFill>
                          <a:latin typeface="Times New Roman"/>
                          <a:ea typeface="Calibri"/>
                          <a:cs typeface="Times New Roman"/>
                        </a:rPr>
                        <a:t>Proposed Work</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solidFill>
                      <a:srgbClr val="F2E9DE"/>
                    </a:solidFill>
                  </a:tcPr>
                </a:tc>
                <a:tc>
                  <a:txBody>
                    <a:bodyPr/>
                    <a:lstStyle/>
                    <a:p>
                      <a:pPr marL="0" indent="0" algn="l">
                        <a:buNone/>
                      </a:pPr>
                      <a:r>
                        <a:rPr lang="en-US" sz="1400" b="1" dirty="0">
                          <a:solidFill>
                            <a:srgbClr val="000000"/>
                          </a:solidFill>
                          <a:latin typeface="Times New Roman"/>
                          <a:ea typeface="Calibri"/>
                          <a:cs typeface="Times New Roman"/>
                        </a:rPr>
                        <a:t>Results</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solidFill>
                      <a:srgbClr val="F2E9DE"/>
                    </a:solidFill>
                  </a:tcPr>
                </a:tc>
                <a:tc>
                  <a:txBody>
                    <a:bodyPr/>
                    <a:lstStyle/>
                    <a:p>
                      <a:pPr marL="0" indent="0" algn="l">
                        <a:buNone/>
                      </a:pPr>
                      <a:r>
                        <a:rPr lang="en-US" sz="1400" b="1" dirty="0">
                          <a:solidFill>
                            <a:srgbClr val="000000"/>
                          </a:solidFill>
                          <a:latin typeface="Times New Roman"/>
                          <a:ea typeface="Calibri"/>
                          <a:cs typeface="Times New Roman"/>
                        </a:rPr>
                        <a:t>Limitations</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solidFill>
                      <a:srgbClr val="F2E9DE"/>
                    </a:solidFill>
                  </a:tcPr>
                </a:tc>
                <a:extLst>
                  <a:ext uri="{0D108BD9-81ED-4DB2-BD59-A6C34878D82A}">
                    <a16:rowId xmlns:a16="http://schemas.microsoft.com/office/drawing/2014/main" val="10000"/>
                  </a:ext>
                </a:extLst>
              </a:tr>
              <a:tr h="1042416">
                <a:tc>
                  <a:txBody>
                    <a:bodyPr/>
                    <a:lstStyle/>
                    <a:p>
                      <a:pPr marL="0" indent="0" algn="l">
                        <a:buNone/>
                      </a:pPr>
                      <a:r>
                        <a:rPr lang="en-US" sz="1400" dirty="0">
                          <a:solidFill>
                            <a:srgbClr val="000000"/>
                          </a:solidFill>
                          <a:latin typeface="Times New Roman"/>
                          <a:ea typeface="Calibri"/>
                          <a:cs typeface="Times New Roman"/>
                        </a:rPr>
                        <a:t>EmbodiTTA: Resource-Efficient Test-Time Adaptation for Embodied Visual Systems (2026)</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CIFAR10-C, ImageNet-C, CORe50, SHIFT</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On-demand TTA using EMA-entropy shift detection, similar-source selection, and decoupled BN adaptation.</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Up to 6.7× lower latency, 47.2% lower energy, strong accuracy even at batch size 1.</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Mainly evaluated for visual embodied systems; threshold selection involves an accuracy–energy trade-off.</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extLst>
                  <a:ext uri="{0D108BD9-81ED-4DB2-BD59-A6C34878D82A}">
                    <a16:rowId xmlns:a16="http://schemas.microsoft.com/office/drawing/2014/main" val="10001"/>
                  </a:ext>
                </a:extLst>
              </a:tr>
              <a:tr h="1042416">
                <a:tc>
                  <a:txBody>
                    <a:bodyPr/>
                    <a:lstStyle/>
                    <a:p>
                      <a:pPr marL="0" indent="0" algn="l">
                        <a:buNone/>
                      </a:pPr>
                      <a:r>
                        <a:rPr lang="en-US" sz="1400" dirty="0">
                          <a:solidFill>
                            <a:srgbClr val="000000"/>
                          </a:solidFill>
                          <a:latin typeface="Times New Roman"/>
                          <a:ea typeface="Calibri"/>
                          <a:cs typeface="Times New Roman"/>
                        </a:rPr>
                        <a:t>ODD: Overlap-aware Estimation of Model Performance under Distribution Shift (2025)</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Synthetic 2D, Domain Adaptation benchmarks</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Domain-classifier approach to calculate target performance bounds.</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Tighter, more realistic performance bounds than standard D²TS.</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Depends heavily on accurate overlap estimation between domains.</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extLst>
                  <a:ext uri="{0D108BD9-81ED-4DB2-BD59-A6C34878D82A}">
                    <a16:rowId xmlns:a16="http://schemas.microsoft.com/office/drawing/2014/main" val="10002"/>
                  </a:ext>
                </a:extLst>
              </a:tr>
              <a:tr h="1042416">
                <a:tc>
                  <a:txBody>
                    <a:bodyPr/>
                    <a:lstStyle/>
                    <a:p>
                      <a:pPr marL="0" indent="0" algn="l">
                        <a:buNone/>
                      </a:pPr>
                      <a:r>
                        <a:rPr lang="en-US" sz="1400" dirty="0">
                          <a:solidFill>
                            <a:srgbClr val="000000"/>
                          </a:solidFill>
                          <a:latin typeface="Times New Roman"/>
                          <a:ea typeface="Calibri"/>
                          <a:cs typeface="Times New Roman"/>
                        </a:rPr>
                        <a:t>On Continuous Monitoring of Risk Violations under Unknown Shift (2025)</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ImageNet-based, Yearbook, Naval Propulsion; synthetic and natural temporal shifts</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Sequential testing-by-betting framework for continuous risk monitoring under unknown shifts.</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Low detection delay with controlled false-alarm rate; asymptotically detects persistent risk violations.</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Requires observed labels/losses; detects violations but does not perform model adaptation.</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extLst>
                  <a:ext uri="{0D108BD9-81ED-4DB2-BD59-A6C34878D82A}">
                    <a16:rowId xmlns:a16="http://schemas.microsoft.com/office/drawing/2014/main" val="10003"/>
                  </a:ext>
                </a:extLst>
              </a:tr>
              <a:tr h="1042416">
                <a:tc>
                  <a:txBody>
                    <a:bodyPr/>
                    <a:lstStyle/>
                    <a:p>
                      <a:pPr marL="0" indent="0" algn="l">
                        <a:buNone/>
                      </a:pPr>
                      <a:r>
                        <a:rPr lang="en-US" sz="1400" dirty="0">
                          <a:solidFill>
                            <a:srgbClr val="000000"/>
                          </a:solidFill>
                          <a:latin typeface="Times New Roman"/>
                          <a:ea typeface="Calibri"/>
                          <a:cs typeface="Times New Roman"/>
                        </a:rPr>
                        <a:t>Incremental Uncertainty-aware Performance Monitoring with Active Labeling Intervention (2025)</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2D Synthetic, MNIST, Imagenette, Yearbook</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OT-based performance tracking under gradual shift with active intervention.</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Cuts error by up to ~10% over baselines (ATC, AC, DOC).</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Tailored for gradual shifts; struggles with sudden non-gradual shifts.</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sp>
      <p:sp>
        <p:nvSpPr>
          <p:cNvPr id="4" name="Text 1"/>
          <p:cNvSpPr txBox="1"/>
          <p:nvPr/>
        </p:nvSpPr>
        <p:spPr>
          <a:xfrm>
            <a:off x="274320" y="292608"/>
            <a:ext cx="9601200" cy="640080"/>
          </a:xfrm>
          <a:prstGeom prst="rect">
            <a:avLst/>
          </a:prstGeom>
          <a:noFill/>
          <a:ln/>
        </p:spPr>
        <p:txBody>
          <a:bodyPr wrap="square" lIns="0" tIns="0" rIns="0" bIns="0" rtlCol="0" anchor="ctr"/>
          <a:lstStyle/>
          <a:p>
            <a:pPr marL="0" indent="0" algn="l">
              <a:buNone/>
            </a:pPr>
            <a:r>
              <a:rPr lang="en-US" sz="2400" b="1" dirty="0">
                <a:solidFill>
                  <a:srgbClr val="000000"/>
                </a:solidFill>
                <a:latin typeface="Times New Roman"/>
                <a:ea typeface="Calibri" pitchFamily="34" charset="-122"/>
                <a:cs typeface="Times New Roman"/>
              </a:rPr>
              <a:t>Continued</a:t>
            </a:r>
            <a:endParaRPr lang="en-US" sz="2400">
              <a:latin typeface="Times New Roman"/>
              <a:cs typeface="Times New Roman"/>
            </a:endParaRPr>
          </a:p>
        </p:txBody>
      </p:sp>
      <p:sp>
        <p:nvSpPr>
          <p:cNvPr id="5" name="Text 2"/>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3707490544"/>
              </p:ext>
            </p:extLst>
          </p:nvPr>
        </p:nvGraphicFramePr>
        <p:xfrm>
          <a:off x="274320" y="1234440"/>
          <a:ext cx="11643055" cy="4975613"/>
        </p:xfrm>
        <a:graphic>
          <a:graphicData uri="http://schemas.openxmlformats.org/drawingml/2006/table">
            <a:tbl>
              <a:tblPr/>
              <a:tblGrid>
                <a:gridCol w="27432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1858975">
                  <a:extLst>
                    <a:ext uri="{9D8B030D-6E8A-4147-A177-3AD203B41FA5}">
                      <a16:colId xmlns:a16="http://schemas.microsoft.com/office/drawing/2014/main" val="20004"/>
                    </a:ext>
                  </a:extLst>
                </a:gridCol>
              </a:tblGrid>
              <a:tr h="574301">
                <a:tc>
                  <a:txBody>
                    <a:bodyPr/>
                    <a:lstStyle/>
                    <a:p>
                      <a:pPr marL="0" indent="0" algn="l">
                        <a:buNone/>
                      </a:pPr>
                      <a:r>
                        <a:rPr lang="en-US" sz="1400" b="1" dirty="0">
                          <a:solidFill>
                            <a:srgbClr val="000000"/>
                          </a:solidFill>
                          <a:latin typeface="Times New Roman"/>
                          <a:ea typeface="Calibri"/>
                          <a:cs typeface="Times New Roman"/>
                        </a:rPr>
                        <a:t>Title &amp; Year</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solidFill>
                      <a:srgbClr val="F2E9DE"/>
                    </a:solidFill>
                  </a:tcPr>
                </a:tc>
                <a:tc>
                  <a:txBody>
                    <a:bodyPr/>
                    <a:lstStyle/>
                    <a:p>
                      <a:pPr marL="0" indent="0" algn="l">
                        <a:buNone/>
                      </a:pPr>
                      <a:r>
                        <a:rPr lang="en-US" sz="1400" b="1" dirty="0">
                          <a:solidFill>
                            <a:srgbClr val="000000"/>
                          </a:solidFill>
                          <a:latin typeface="Times New Roman"/>
                          <a:ea typeface="Calibri"/>
                          <a:cs typeface="Times New Roman"/>
                        </a:rPr>
                        <a:t>Dataset</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solidFill>
                      <a:srgbClr val="F2E9DE"/>
                    </a:solidFill>
                  </a:tcPr>
                </a:tc>
                <a:tc>
                  <a:txBody>
                    <a:bodyPr/>
                    <a:lstStyle/>
                    <a:p>
                      <a:pPr marL="0" indent="0" algn="l">
                        <a:buNone/>
                      </a:pPr>
                      <a:r>
                        <a:rPr lang="en-US" sz="1400" b="1" dirty="0">
                          <a:solidFill>
                            <a:srgbClr val="000000"/>
                          </a:solidFill>
                          <a:latin typeface="Times New Roman"/>
                          <a:ea typeface="Calibri"/>
                          <a:cs typeface="Times New Roman"/>
                        </a:rPr>
                        <a:t>Proposed Work</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solidFill>
                      <a:srgbClr val="F2E9DE"/>
                    </a:solidFill>
                  </a:tcPr>
                </a:tc>
                <a:tc>
                  <a:txBody>
                    <a:bodyPr/>
                    <a:lstStyle/>
                    <a:p>
                      <a:pPr marL="0" indent="0" algn="l">
                        <a:buNone/>
                      </a:pPr>
                      <a:r>
                        <a:rPr lang="en-US" sz="1400" b="1" dirty="0">
                          <a:solidFill>
                            <a:srgbClr val="000000"/>
                          </a:solidFill>
                          <a:latin typeface="Times New Roman"/>
                          <a:ea typeface="Calibri"/>
                          <a:cs typeface="Times New Roman"/>
                        </a:rPr>
                        <a:t>Results</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solidFill>
                      <a:srgbClr val="F2E9DE"/>
                    </a:solidFill>
                  </a:tcPr>
                </a:tc>
                <a:tc>
                  <a:txBody>
                    <a:bodyPr/>
                    <a:lstStyle/>
                    <a:p>
                      <a:pPr marL="0" indent="0" algn="l">
                        <a:buNone/>
                      </a:pPr>
                      <a:r>
                        <a:rPr lang="en-US" sz="1400" b="1" dirty="0">
                          <a:solidFill>
                            <a:srgbClr val="000000"/>
                          </a:solidFill>
                          <a:latin typeface="Times New Roman"/>
                          <a:ea typeface="Calibri"/>
                          <a:cs typeface="Times New Roman"/>
                        </a:rPr>
                        <a:t>Limitations</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solidFill>
                      <a:srgbClr val="F2E9DE"/>
                    </a:solidFill>
                  </a:tcPr>
                </a:tc>
                <a:extLst>
                  <a:ext uri="{0D108BD9-81ED-4DB2-BD59-A6C34878D82A}">
                    <a16:rowId xmlns:a16="http://schemas.microsoft.com/office/drawing/2014/main" val="10000"/>
                  </a:ext>
                </a:extLst>
              </a:tr>
              <a:tr h="1042416">
                <a:tc>
                  <a:txBody>
                    <a:bodyPr/>
                    <a:lstStyle/>
                    <a:p>
                      <a:pPr marL="0" indent="0" algn="l">
                        <a:buNone/>
                      </a:pPr>
                      <a:r>
                        <a:rPr lang="en-US" sz="1400" dirty="0">
                          <a:solidFill>
                            <a:srgbClr val="000000"/>
                          </a:solidFill>
                          <a:latin typeface="Times New Roman"/>
                          <a:ea typeface="Calibri"/>
                          <a:cs typeface="Times New Roman"/>
                        </a:rPr>
                        <a:t>BoTTA: Benchmarking On-device Test-Time Adaptation (2026)</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CIFAR-10-C, PACS, UCI-HAR; ResNet &amp; ViT</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Benchmarks on-device TTA under realistic edge constraints and proposes periodic adaptation.</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SHOT: up to 2.7× accuracy, but 3× latency/energy on Pi.</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Accurate TTA methods are too costly; performance drops under complex shifts.</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extLst>
                  <a:ext uri="{0D108BD9-81ED-4DB2-BD59-A6C34878D82A}">
                    <a16:rowId xmlns:a16="http://schemas.microsoft.com/office/drawing/2014/main" val="10001"/>
                  </a:ext>
                </a:extLst>
              </a:tr>
              <a:tr h="1042416">
                <a:tc>
                  <a:txBody>
                    <a:bodyPr/>
                    <a:lstStyle/>
                    <a:p>
                      <a:pPr marL="0" indent="0" algn="l">
                        <a:buNone/>
                      </a:pPr>
                      <a:r>
                        <a:rPr lang="en-US" sz="1400" dirty="0">
                          <a:solidFill>
                            <a:srgbClr val="000000"/>
                          </a:solidFill>
                          <a:latin typeface="Times New Roman"/>
                          <a:ea typeface="Calibri"/>
                          <a:cs typeface="Times New Roman"/>
                        </a:rPr>
                        <a:t>Adaptive Dual Uncertainty Optimization (DUO) for Monocular 3D Object Detection (2025)</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KITTI-C, nuScenes; MonoFlex &amp; MonoGround</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Jointly adapts semantic and geometric uncertainty using online backpropagation.</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+2.1–2.2 AP3D on KITTI-C; ~18% gain on nuScenes shifts.</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Compute-heavy; requires online adaptation and is tailored to 3D detection.</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extLst>
                  <a:ext uri="{0D108BD9-81ED-4DB2-BD59-A6C34878D82A}">
                    <a16:rowId xmlns:a16="http://schemas.microsoft.com/office/drawing/2014/main" val="10002"/>
                  </a:ext>
                </a:extLst>
              </a:tr>
              <a:tr h="1042416">
                <a:tc>
                  <a:txBody>
                    <a:bodyPr/>
                    <a:lstStyle/>
                    <a:p>
                      <a:pPr marL="0" indent="0" algn="l">
                        <a:buNone/>
                      </a:pPr>
                      <a:r>
                        <a:rPr lang="en-US" sz="1400" dirty="0">
                          <a:solidFill>
                            <a:srgbClr val="000000"/>
                          </a:solidFill>
                          <a:latin typeface="Times New Roman"/>
                          <a:ea typeface="Calibri"/>
                          <a:cs typeface="Times New Roman"/>
                        </a:rPr>
                        <a:t>Mitigating Overconfidence in OOD Detection by Capturing Extreme Activations (CEA) (2024)</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Tabular datasets, MNIST, CIFAR-10/100; MLP/ResNet/Transformer</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Corrects OOD scores using extreme penultimate activations without retraining.</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+45.6% AUC on synthetic OOD and +41.1% on real tabular OOD.</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Requires validation-based tuning; limited benefit for some models/scores.</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extLst>
                  <a:ext uri="{0D108BD9-81ED-4DB2-BD59-A6C34878D82A}">
                    <a16:rowId xmlns:a16="http://schemas.microsoft.com/office/drawing/2014/main" val="10003"/>
                  </a:ext>
                </a:extLst>
              </a:tr>
              <a:tr h="1042416">
                <a:tc>
                  <a:txBody>
                    <a:bodyPr/>
                    <a:lstStyle/>
                    <a:p>
                      <a:pPr marL="0" indent="0" algn="l">
                        <a:buNone/>
                      </a:pPr>
                      <a:r>
                        <a:rPr lang="en-US" sz="1400" dirty="0">
                          <a:solidFill>
                            <a:srgbClr val="000000"/>
                          </a:solidFill>
                          <a:latin typeface="Times New Roman"/>
                          <a:ea typeface="Calibri"/>
                          <a:cs typeface="Times New Roman"/>
                        </a:rPr>
                        <a:t>TULiP: Test-time Uncertainty Estimation via Linearization and Weight Perturbation (2025)</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OpenOOD v1.5: CIFAR, ImageNet; ResNet, ViT, MobileNet, VGG</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Estimates test-time epistemic uncertainty using linearization and weight perturbation.</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Near-SOTA/SOTA AUROC across benchmarks and architectures.</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Needs ~10 forward passes, causing 1.7–3.4× higher latency.</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sp>
      <p:sp>
        <p:nvSpPr>
          <p:cNvPr id="4" name="Text 1"/>
          <p:cNvSpPr txBox="1"/>
          <p:nvPr/>
        </p:nvSpPr>
        <p:spPr>
          <a:xfrm>
            <a:off x="274320" y="292608"/>
            <a:ext cx="9601200" cy="640080"/>
          </a:xfrm>
          <a:prstGeom prst="rect">
            <a:avLst/>
          </a:prstGeom>
          <a:noFill/>
          <a:ln/>
        </p:spPr>
        <p:txBody>
          <a:bodyPr wrap="square" lIns="0" tIns="0" rIns="0" bIns="0" rtlCol="0" anchor="ctr"/>
          <a:lstStyle/>
          <a:p>
            <a:pPr marL="0" indent="0" algn="l">
              <a:buNone/>
            </a:pPr>
            <a:r>
              <a:rPr lang="en-US" sz="2400" b="1" dirty="0">
                <a:solidFill>
                  <a:srgbClr val="000000"/>
                </a:solidFill>
                <a:latin typeface="Times New Roman"/>
                <a:ea typeface="Calibri" pitchFamily="34" charset="-122"/>
                <a:cs typeface="Times New Roman"/>
              </a:rPr>
              <a:t>Continued</a:t>
            </a:r>
            <a:endParaRPr lang="en-US" sz="2400">
              <a:latin typeface="Times New Roman"/>
              <a:cs typeface="Times New Roman"/>
            </a:endParaRPr>
          </a:p>
        </p:txBody>
      </p:sp>
      <p:sp>
        <p:nvSpPr>
          <p:cNvPr id="5" name="Text 2"/>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7</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3321697470"/>
              </p:ext>
            </p:extLst>
          </p:nvPr>
        </p:nvGraphicFramePr>
        <p:xfrm>
          <a:off x="274320" y="1234440"/>
          <a:ext cx="11643055" cy="4817767"/>
        </p:xfrm>
        <a:graphic>
          <a:graphicData uri="http://schemas.openxmlformats.org/drawingml/2006/table">
            <a:tbl>
              <a:tblPr/>
              <a:tblGrid>
                <a:gridCol w="27432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1858975">
                  <a:extLst>
                    <a:ext uri="{9D8B030D-6E8A-4147-A177-3AD203B41FA5}">
                      <a16:colId xmlns:a16="http://schemas.microsoft.com/office/drawing/2014/main" val="20004"/>
                    </a:ext>
                  </a:extLst>
                </a:gridCol>
              </a:tblGrid>
              <a:tr h="532279">
                <a:tc>
                  <a:txBody>
                    <a:bodyPr/>
                    <a:lstStyle/>
                    <a:p>
                      <a:pPr marL="0" indent="0" algn="l">
                        <a:buNone/>
                      </a:pPr>
                      <a:r>
                        <a:rPr lang="en-US" sz="1400" b="1" dirty="0">
                          <a:solidFill>
                            <a:srgbClr val="000000"/>
                          </a:solidFill>
                          <a:latin typeface="Times New Roman"/>
                          <a:ea typeface="Calibri"/>
                          <a:cs typeface="Times New Roman"/>
                        </a:rPr>
                        <a:t>Title &amp; Year</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solidFill>
                      <a:srgbClr val="F2E9DE"/>
                    </a:solidFill>
                  </a:tcPr>
                </a:tc>
                <a:tc>
                  <a:txBody>
                    <a:bodyPr/>
                    <a:lstStyle/>
                    <a:p>
                      <a:pPr marL="0" indent="0" algn="l">
                        <a:buNone/>
                      </a:pPr>
                      <a:r>
                        <a:rPr lang="en-US" sz="1400" b="1" dirty="0">
                          <a:solidFill>
                            <a:srgbClr val="000000"/>
                          </a:solidFill>
                          <a:latin typeface="Times New Roman"/>
                          <a:ea typeface="Calibri"/>
                          <a:cs typeface="Times New Roman"/>
                        </a:rPr>
                        <a:t>Dataset</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solidFill>
                      <a:srgbClr val="F2E9DE"/>
                    </a:solidFill>
                  </a:tcPr>
                </a:tc>
                <a:tc>
                  <a:txBody>
                    <a:bodyPr/>
                    <a:lstStyle/>
                    <a:p>
                      <a:pPr marL="0" indent="0" algn="l">
                        <a:buNone/>
                      </a:pPr>
                      <a:r>
                        <a:rPr lang="en-US" sz="1400" b="1" dirty="0">
                          <a:solidFill>
                            <a:srgbClr val="000000"/>
                          </a:solidFill>
                          <a:latin typeface="Times New Roman"/>
                          <a:ea typeface="Calibri"/>
                          <a:cs typeface="Times New Roman"/>
                        </a:rPr>
                        <a:t>Proposed Work</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solidFill>
                      <a:srgbClr val="F2E9DE"/>
                    </a:solidFill>
                  </a:tcPr>
                </a:tc>
                <a:tc>
                  <a:txBody>
                    <a:bodyPr/>
                    <a:lstStyle/>
                    <a:p>
                      <a:pPr marL="0" indent="0" algn="l">
                        <a:buNone/>
                      </a:pPr>
                      <a:r>
                        <a:rPr lang="en-US" sz="1400" b="1" dirty="0">
                          <a:solidFill>
                            <a:srgbClr val="000000"/>
                          </a:solidFill>
                          <a:latin typeface="Times New Roman"/>
                          <a:ea typeface="Calibri"/>
                          <a:cs typeface="Times New Roman"/>
                        </a:rPr>
                        <a:t>Results</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solidFill>
                      <a:srgbClr val="F2E9DE"/>
                    </a:solidFill>
                  </a:tcPr>
                </a:tc>
                <a:tc>
                  <a:txBody>
                    <a:bodyPr/>
                    <a:lstStyle/>
                    <a:p>
                      <a:pPr marL="0" indent="0" algn="l">
                        <a:buNone/>
                      </a:pPr>
                      <a:r>
                        <a:rPr lang="en-US" sz="1400" b="1" dirty="0">
                          <a:solidFill>
                            <a:srgbClr val="000000"/>
                          </a:solidFill>
                          <a:latin typeface="Times New Roman"/>
                          <a:ea typeface="Calibri"/>
                          <a:cs typeface="Times New Roman"/>
                        </a:rPr>
                        <a:t>Limitations</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solidFill>
                      <a:srgbClr val="F2E9DE"/>
                    </a:solidFill>
                  </a:tcPr>
                </a:tc>
                <a:extLst>
                  <a:ext uri="{0D108BD9-81ED-4DB2-BD59-A6C34878D82A}">
                    <a16:rowId xmlns:a16="http://schemas.microsoft.com/office/drawing/2014/main" val="10000"/>
                  </a:ext>
                </a:extLst>
              </a:tr>
              <a:tr h="1042416">
                <a:tc>
                  <a:txBody>
                    <a:bodyPr/>
                    <a:lstStyle/>
                    <a:p>
                      <a:pPr marL="0" indent="0" algn="l">
                        <a:buNone/>
                      </a:pPr>
                      <a:r>
                        <a:rPr lang="en-US" sz="1400" dirty="0">
                          <a:solidFill>
                            <a:srgbClr val="000000"/>
                          </a:solidFill>
                          <a:latin typeface="Times New Roman"/>
                          <a:ea typeface="Calibri"/>
                          <a:cs typeface="Times New Roman"/>
                        </a:rPr>
                        <a:t>OOD Detection: A Task-Oriented Survey (2024)</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CIFAR, MNIST, ImageNet, BDD100K, CARLA</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Task-oriented OOD taxonomy.</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Strong performance using AUROC, AUPR, FPR95.</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Near-OOD &amp; real-world deployment challenges.</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extLst>
                  <a:ext uri="{0D108BD9-81ED-4DB2-BD59-A6C34878D82A}">
                    <a16:rowId xmlns:a16="http://schemas.microsoft.com/office/drawing/2014/main" val="10001"/>
                  </a:ext>
                </a:extLst>
              </a:tr>
              <a:tr h="1042416">
                <a:tc>
                  <a:txBody>
                    <a:bodyPr/>
                    <a:lstStyle/>
                    <a:p>
                      <a:pPr marL="0" indent="0" algn="l">
                        <a:buNone/>
                      </a:pPr>
                      <a:r>
                        <a:rPr lang="en-US" sz="1400" dirty="0">
                          <a:solidFill>
                            <a:srgbClr val="000000"/>
                          </a:solidFill>
                          <a:latin typeface="Times New Roman"/>
                          <a:ea typeface="Calibri"/>
                          <a:cs typeface="Times New Roman"/>
                        </a:rPr>
                        <a:t>Failure Detection for Motion Prediction of Autonomous Driving (2023)</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SinD, INTERACTION, nuScenes</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Motion + model uncertainty for failure detection.</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AUROC up to 0.918; promising failure detection.</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Difficult failures &amp; distribution shifts remain.</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extLst>
                  <a:ext uri="{0D108BD9-81ED-4DB2-BD59-A6C34878D82A}">
                    <a16:rowId xmlns:a16="http://schemas.microsoft.com/office/drawing/2014/main" val="10002"/>
                  </a:ext>
                </a:extLst>
              </a:tr>
              <a:tr h="1042416">
                <a:tc>
                  <a:txBody>
                    <a:bodyPr/>
                    <a:lstStyle/>
                    <a:p>
                      <a:pPr marL="0" indent="0" algn="l">
                        <a:buNone/>
                      </a:pPr>
                      <a:r>
                        <a:rPr lang="en-US" sz="1400" dirty="0">
                          <a:solidFill>
                            <a:srgbClr val="000000"/>
                          </a:solidFill>
                          <a:latin typeface="Times New Roman"/>
                          <a:ea typeface="Calibri"/>
                          <a:cs typeface="Times New Roman"/>
                        </a:rPr>
                        <a:t>Uncertainty Estimation by Density-Aware Evidential Deep Learning (DAEDL) (2024)</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MNIST, CIFAR-10, KMNIST, FMNIST, SVHN</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Density-aware evidential deep learning.</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AUROC up to 99.90%.</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May not capture uncertainty in complex scenarios.</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extLst>
                  <a:ext uri="{0D108BD9-81ED-4DB2-BD59-A6C34878D82A}">
                    <a16:rowId xmlns:a16="http://schemas.microsoft.com/office/drawing/2014/main" val="10003"/>
                  </a:ext>
                </a:extLst>
              </a:tr>
              <a:tr h="1042416">
                <a:tc>
                  <a:txBody>
                    <a:bodyPr/>
                    <a:lstStyle/>
                    <a:p>
                      <a:pPr marL="0" indent="0" algn="l">
                        <a:buNone/>
                      </a:pPr>
                      <a:r>
                        <a:rPr lang="en-US" sz="1400" dirty="0">
                          <a:solidFill>
                            <a:srgbClr val="000000"/>
                          </a:solidFill>
                          <a:latin typeface="Times New Roman"/>
                          <a:ea typeface="Calibri"/>
                          <a:cs typeface="Times New Roman"/>
                        </a:rPr>
                        <a:t>Edge Case Detection in Automated Driving (2026)</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AV datasets + CARLA</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Perception, trajectory &amp; knowledge-driven edge cases.</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Comprehensive detection taxonomy &amp; metrics.</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Data scarcity, Sim2Real gap, computation &amp; interpretability challenges.</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sp>
      <p:sp>
        <p:nvSpPr>
          <p:cNvPr id="4" name="Text 1"/>
          <p:cNvSpPr txBox="1"/>
          <p:nvPr/>
        </p:nvSpPr>
        <p:spPr>
          <a:xfrm>
            <a:off x="274320" y="292608"/>
            <a:ext cx="9601200" cy="640080"/>
          </a:xfrm>
          <a:prstGeom prst="rect">
            <a:avLst/>
          </a:prstGeom>
          <a:noFill/>
          <a:ln/>
        </p:spPr>
        <p:txBody>
          <a:bodyPr wrap="square" lIns="0" tIns="0" rIns="0" bIns="0" rtlCol="0" anchor="ctr"/>
          <a:lstStyle/>
          <a:p>
            <a:pPr marL="0" indent="0" algn="l">
              <a:buNone/>
            </a:pPr>
            <a:r>
              <a:rPr lang="en-US" sz="2400" b="1" dirty="0">
                <a:solidFill>
                  <a:srgbClr val="000000"/>
                </a:solidFill>
                <a:latin typeface="Times New Roman"/>
                <a:ea typeface="Calibri" pitchFamily="34" charset="-122"/>
                <a:cs typeface="Times New Roman"/>
              </a:rPr>
              <a:t>Continued</a:t>
            </a:r>
            <a:endParaRPr lang="en-US" sz="2400">
              <a:latin typeface="Times New Roman"/>
              <a:cs typeface="Times New Roman"/>
            </a:endParaRPr>
          </a:p>
        </p:txBody>
      </p:sp>
      <p:sp>
        <p:nvSpPr>
          <p:cNvPr id="5" name="Text 2"/>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8</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2761650902"/>
              </p:ext>
            </p:extLst>
          </p:nvPr>
        </p:nvGraphicFramePr>
        <p:xfrm>
          <a:off x="274320" y="1234440"/>
          <a:ext cx="11643055" cy="4757972"/>
        </p:xfrm>
        <a:graphic>
          <a:graphicData uri="http://schemas.openxmlformats.org/drawingml/2006/table">
            <a:tbl>
              <a:tblPr/>
              <a:tblGrid>
                <a:gridCol w="27432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1858975">
                  <a:extLst>
                    <a:ext uri="{9D8B030D-6E8A-4147-A177-3AD203B41FA5}">
                      <a16:colId xmlns:a16="http://schemas.microsoft.com/office/drawing/2014/main" val="20004"/>
                    </a:ext>
                  </a:extLst>
                </a:gridCol>
              </a:tblGrid>
              <a:tr h="588308">
                <a:tc>
                  <a:txBody>
                    <a:bodyPr/>
                    <a:lstStyle/>
                    <a:p>
                      <a:pPr marL="0" indent="0" algn="l">
                        <a:buNone/>
                      </a:pPr>
                      <a:r>
                        <a:rPr lang="en-US" sz="1400" b="1" dirty="0">
                          <a:solidFill>
                            <a:srgbClr val="000000"/>
                          </a:solidFill>
                          <a:latin typeface="Times New Roman"/>
                          <a:ea typeface="Calibri"/>
                          <a:cs typeface="Times New Roman"/>
                        </a:rPr>
                        <a:t>Title &amp; Year</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solidFill>
                      <a:srgbClr val="F2E9DE"/>
                    </a:solidFill>
                  </a:tcPr>
                </a:tc>
                <a:tc>
                  <a:txBody>
                    <a:bodyPr/>
                    <a:lstStyle/>
                    <a:p>
                      <a:pPr marL="0" indent="0" algn="l">
                        <a:buNone/>
                      </a:pPr>
                      <a:r>
                        <a:rPr lang="en-US" sz="1400" b="1" dirty="0">
                          <a:solidFill>
                            <a:srgbClr val="000000"/>
                          </a:solidFill>
                          <a:latin typeface="Times New Roman"/>
                          <a:ea typeface="Calibri"/>
                          <a:cs typeface="Times New Roman"/>
                        </a:rPr>
                        <a:t>Dataset</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solidFill>
                      <a:srgbClr val="F2E9DE"/>
                    </a:solidFill>
                  </a:tcPr>
                </a:tc>
                <a:tc>
                  <a:txBody>
                    <a:bodyPr/>
                    <a:lstStyle/>
                    <a:p>
                      <a:pPr marL="0" indent="0" algn="l">
                        <a:buNone/>
                      </a:pPr>
                      <a:r>
                        <a:rPr lang="en-US" sz="1400" b="1" dirty="0">
                          <a:solidFill>
                            <a:srgbClr val="000000"/>
                          </a:solidFill>
                          <a:latin typeface="Times New Roman"/>
                          <a:ea typeface="Calibri"/>
                          <a:cs typeface="Times New Roman"/>
                        </a:rPr>
                        <a:t>Proposed Work</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solidFill>
                      <a:srgbClr val="F2E9DE"/>
                    </a:solidFill>
                  </a:tcPr>
                </a:tc>
                <a:tc>
                  <a:txBody>
                    <a:bodyPr/>
                    <a:lstStyle/>
                    <a:p>
                      <a:pPr marL="0" indent="0" algn="l">
                        <a:buNone/>
                      </a:pPr>
                      <a:r>
                        <a:rPr lang="en-US" sz="1400" b="1" dirty="0">
                          <a:solidFill>
                            <a:srgbClr val="000000"/>
                          </a:solidFill>
                          <a:latin typeface="Times New Roman"/>
                          <a:ea typeface="Calibri"/>
                          <a:cs typeface="Times New Roman"/>
                        </a:rPr>
                        <a:t>Results</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solidFill>
                      <a:srgbClr val="F2E9DE"/>
                    </a:solidFill>
                  </a:tcPr>
                </a:tc>
                <a:tc>
                  <a:txBody>
                    <a:bodyPr/>
                    <a:lstStyle/>
                    <a:p>
                      <a:pPr marL="0" indent="0" algn="l">
                        <a:buNone/>
                      </a:pPr>
                      <a:r>
                        <a:rPr lang="en-US" sz="1400" b="1" dirty="0">
                          <a:solidFill>
                            <a:srgbClr val="000000"/>
                          </a:solidFill>
                          <a:latin typeface="Times New Roman"/>
                          <a:ea typeface="Calibri"/>
                          <a:cs typeface="Times New Roman"/>
                        </a:rPr>
                        <a:t>Limitations</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solidFill>
                      <a:srgbClr val="F2E9DE"/>
                    </a:solidFill>
                  </a:tcPr>
                </a:tc>
                <a:extLst>
                  <a:ext uri="{0D108BD9-81ED-4DB2-BD59-A6C34878D82A}">
                    <a16:rowId xmlns:a16="http://schemas.microsoft.com/office/drawing/2014/main" val="10000"/>
                  </a:ext>
                </a:extLst>
              </a:tr>
              <a:tr h="1042416">
                <a:tc>
                  <a:txBody>
                    <a:bodyPr/>
                    <a:lstStyle/>
                    <a:p>
                      <a:pPr marL="0" indent="0" algn="l">
                        <a:buNone/>
                      </a:pPr>
                      <a:r>
                        <a:rPr lang="en-US" sz="1400" dirty="0">
                          <a:solidFill>
                            <a:srgbClr val="000000"/>
                          </a:solidFill>
                          <a:latin typeface="Times New Roman"/>
                          <a:ea typeface="Calibri"/>
                          <a:cs typeface="Times New Roman"/>
                        </a:rPr>
                        <a:t>Dropout as a Bayesian Approximation (2016)</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MNIST</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MC Dropout: apply dropout at inference across multiple forward passes.</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RMSE vs. prior uncertainty baselines.</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Needs multiple forward passes per input.</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extLst>
                  <a:ext uri="{0D108BD9-81ED-4DB2-BD59-A6C34878D82A}">
                    <a16:rowId xmlns:a16="http://schemas.microsoft.com/office/drawing/2014/main" val="10001"/>
                  </a:ext>
                </a:extLst>
              </a:tr>
              <a:tr h="1042416">
                <a:tc>
                  <a:txBody>
                    <a:bodyPr/>
                    <a:lstStyle/>
                    <a:p>
                      <a:pPr marL="0" indent="0" algn="l">
                        <a:buNone/>
                      </a:pPr>
                      <a:r>
                        <a:rPr lang="en-US" sz="1400" dirty="0">
                          <a:solidFill>
                            <a:srgbClr val="000000"/>
                          </a:solidFill>
                          <a:latin typeface="Times New Roman"/>
                          <a:ea typeface="Calibri"/>
                          <a:cs typeface="Times New Roman"/>
                        </a:rPr>
                        <a:t>A Unified Framework for Detecting OOD Samples and Adversarial Attacks (2018)</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CIFAR-10/100, SVHN</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Fits class-conditional Gaussians over hidden-layer features.</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SOTA for both OOD and adversarial-sample detection with one unified score.</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Assumes a single Gaussian per class.</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extLst>
                  <a:ext uri="{0D108BD9-81ED-4DB2-BD59-A6C34878D82A}">
                    <a16:rowId xmlns:a16="http://schemas.microsoft.com/office/drawing/2014/main" val="10002"/>
                  </a:ext>
                </a:extLst>
              </a:tr>
              <a:tr h="1042416">
                <a:tc>
                  <a:txBody>
                    <a:bodyPr/>
                    <a:lstStyle/>
                    <a:p>
                      <a:pPr marL="0" indent="0" algn="l">
                        <a:buNone/>
                      </a:pPr>
                      <a:r>
                        <a:rPr lang="en-US" sz="1400" dirty="0">
                          <a:solidFill>
                            <a:srgbClr val="000000"/>
                          </a:solidFill>
                          <a:latin typeface="Times New Roman"/>
                          <a:ea typeface="Calibri"/>
                          <a:cs typeface="Times New Roman"/>
                        </a:rPr>
                        <a:t>Benchmarking Neural Network Robustness to Common Corruptions (2019)</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ImageNet and corrupted variants</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15–19 corruption types at 5 severities.</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Accuracy improved from AlexNet to ResNet baselines.</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Corruptions are synthetic approximations of real degradation.</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extLst>
                  <a:ext uri="{0D108BD9-81ED-4DB2-BD59-A6C34878D82A}">
                    <a16:rowId xmlns:a16="http://schemas.microsoft.com/office/drawing/2014/main" val="10003"/>
                  </a:ext>
                </a:extLst>
              </a:tr>
              <a:tr h="1042416">
                <a:tc>
                  <a:txBody>
                    <a:bodyPr/>
                    <a:lstStyle/>
                    <a:p>
                      <a:pPr marL="0" indent="0" algn="l">
                        <a:buNone/>
                      </a:pPr>
                      <a:r>
                        <a:rPr lang="en-US" sz="1400" dirty="0">
                          <a:solidFill>
                            <a:srgbClr val="000000"/>
                          </a:solidFill>
                          <a:latin typeface="Times New Roman"/>
                          <a:ea typeface="Calibri"/>
                          <a:cs typeface="Times New Roman"/>
                        </a:rPr>
                        <a:t>Energy-Aware NECO for Single-Pass Pixel-wise OOD Detection (2026)</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Mini MUAD</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Combines centered NECO geometric projection ratio with logit-based Energy score.</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Hybrid AUROC 0.8539.</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a:ea typeface="Calibri"/>
                          <a:cs typeface="Times New Roman"/>
                        </a:rPr>
                        <a:t>Single domain (driving scenes).</a:t>
                      </a:r>
                      <a:endParaRPr lang="en-US" sz="1400">
                        <a:latin typeface="Times New Roman"/>
                        <a:ea typeface="Calibri"/>
                        <a:cs typeface="Times New Roman"/>
                      </a:endParaRPr>
                    </a:p>
                  </a:txBody>
                  <a:tcP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sp>
      <p:sp>
        <p:nvSpPr>
          <p:cNvPr id="4" name="Text 1"/>
          <p:cNvSpPr txBox="1"/>
          <p:nvPr/>
        </p:nvSpPr>
        <p:spPr>
          <a:xfrm>
            <a:off x="274320" y="292608"/>
            <a:ext cx="9601200" cy="640080"/>
          </a:xfrm>
          <a:prstGeom prst="rect">
            <a:avLst/>
          </a:prstGeom>
          <a:noFill/>
          <a:ln/>
        </p:spPr>
        <p:txBody>
          <a:bodyPr wrap="square" lIns="0" tIns="0" rIns="0" bIns="0" rtlCol="0" anchor="ctr"/>
          <a:lstStyle/>
          <a:p>
            <a:pPr marL="0" indent="0" algn="l">
              <a:buNone/>
            </a:pPr>
            <a:r>
              <a:rPr lang="en-US" sz="2400" b="1" dirty="0">
                <a:solidFill>
                  <a:srgbClr val="000000"/>
                </a:solidFill>
                <a:latin typeface="Times New Roman"/>
                <a:ea typeface="Calibri" pitchFamily="34" charset="-122"/>
                <a:cs typeface="Times New Roman"/>
              </a:rPr>
              <a:t>Problem Analysis :</a:t>
            </a:r>
            <a:endParaRPr lang="en-US" sz="2400">
              <a:latin typeface="Times New Roman"/>
              <a:cs typeface="Times New Roman"/>
            </a:endParaRPr>
          </a:p>
        </p:txBody>
      </p:sp>
      <p:sp>
        <p:nvSpPr>
          <p:cNvPr id="5" name="Text 2"/>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10</a:t>
            </a:r>
            <a:endParaRPr lang="en-US" sz="1000" dirty="0"/>
          </a:p>
        </p:txBody>
      </p:sp>
      <p:sp>
        <p:nvSpPr>
          <p:cNvPr id="7" name="Text 4"/>
          <p:cNvSpPr txBox="1"/>
          <p:nvPr/>
        </p:nvSpPr>
        <p:spPr>
          <a:xfrm>
            <a:off x="275781" y="1150933"/>
            <a:ext cx="11379173" cy="5183270"/>
          </a:xfrm>
          <a:prstGeom prst="rect">
            <a:avLst/>
          </a:prstGeom>
          <a:noFill/>
          <a:ln/>
        </p:spPr>
        <p:txBody>
          <a:bodyPr wrap="square" lIns="0" tIns="0" rIns="0" bIns="0" rtlCol="0" anchor="t"/>
          <a:lstStyle/>
          <a:p>
            <a:pPr marL="342900" indent="-342900" algn="just">
              <a:spcAft>
                <a:spcPts val="1000"/>
              </a:spcAft>
              <a:buSzPct val="100000"/>
              <a:buChar char="•"/>
            </a:pPr>
            <a:r>
              <a:rPr lang="en-US" sz="2000" dirty="0">
                <a:solidFill>
                  <a:srgbClr val="000000"/>
                </a:solidFill>
                <a:latin typeface="Times New Roman"/>
                <a:ea typeface="Calibri"/>
                <a:cs typeface="Times New Roman"/>
              </a:rPr>
              <a:t>Standard AI models produce overconfident predictions on unfamiliar or degraded inputs, since raw softmax outputs are not a reliable measure of true confidence.</a:t>
            </a:r>
            <a:endParaRPr lang="en-US" sz="2000">
              <a:latin typeface="Times New Roman"/>
              <a:ea typeface="Calibri"/>
              <a:cs typeface="Times New Roman"/>
            </a:endParaRPr>
          </a:p>
          <a:p>
            <a:pPr marL="342900" indent="-342900" algn="just">
              <a:spcAft>
                <a:spcPts val="1000"/>
              </a:spcAft>
              <a:buSzPct val="100000"/>
              <a:buChar char="•"/>
            </a:pPr>
            <a:r>
              <a:rPr lang="en-US" sz="2000" dirty="0">
                <a:solidFill>
                  <a:srgbClr val="000000"/>
                </a:solidFill>
                <a:latin typeface="Times New Roman"/>
                <a:ea typeface="Calibri"/>
                <a:cs typeface="Times New Roman"/>
              </a:rPr>
              <a:t>Existing uncertainty estimation methods (MC-Dropout, Deep Ensembles, TULiP) require multiple forward passes, causing 1.7–3.4× higher latency  impractical for real-time edge deployment.</a:t>
            </a:r>
            <a:endParaRPr lang="en-US" sz="2000" dirty="0">
              <a:latin typeface="Times New Roman"/>
              <a:ea typeface="Calibri"/>
              <a:cs typeface="Times New Roman"/>
            </a:endParaRPr>
          </a:p>
          <a:p>
            <a:pPr marL="342900" indent="-342900" algn="just">
              <a:spcAft>
                <a:spcPts val="1000"/>
              </a:spcAft>
              <a:buSzPct val="100000"/>
              <a:buChar char="•"/>
            </a:pPr>
            <a:r>
              <a:rPr lang="en-US" sz="2000" dirty="0">
                <a:solidFill>
                  <a:srgbClr val="000000"/>
                </a:solidFill>
                <a:latin typeface="Times New Roman"/>
                <a:ea typeface="Calibri"/>
                <a:cs typeface="Times New Roman"/>
              </a:rPr>
              <a:t>On-device adaptation methods (SHOT, BoTTA) improve accuracy under distribution shift but at up to 3× latency/energy cost, showing accuracy and efficiency haven't been jointly optimized.</a:t>
            </a:r>
            <a:endParaRPr lang="en-US" sz="2000">
              <a:latin typeface="Times New Roman"/>
              <a:ea typeface="Calibri"/>
              <a:cs typeface="Times New Roman"/>
            </a:endParaRPr>
          </a:p>
          <a:p>
            <a:pPr marL="342900" indent="-342900" algn="just">
              <a:spcAft>
                <a:spcPts val="1000"/>
              </a:spcAft>
              <a:buSzPct val="100000"/>
              <a:buChar char="•"/>
            </a:pPr>
            <a:r>
              <a:rPr lang="en-US" sz="2000" dirty="0">
                <a:solidFill>
                  <a:srgbClr val="000000"/>
                </a:solidFill>
                <a:latin typeface="Times New Roman"/>
                <a:ea typeface="Calibri"/>
                <a:cs typeface="Times New Roman"/>
              </a:rPr>
              <a:t>Reliability is typically validated only during development; once deployed, there is no mechanism to continuously flag unreliable predictions in real time.</a:t>
            </a:r>
            <a:endParaRPr lang="en-US" sz="2000">
              <a:latin typeface="Times New Roman"/>
              <a:ea typeface="Calibri"/>
              <a:cs typeface="Times New Roman"/>
            </a:endParaRPr>
          </a:p>
          <a:p>
            <a:pPr marL="342900" indent="-342900" algn="just">
              <a:spcAft>
                <a:spcPts val="1000"/>
              </a:spcAft>
              <a:buSzPct val="100000"/>
              <a:buChar char="•"/>
            </a:pPr>
            <a:r>
              <a:rPr lang="en-US" sz="2000" dirty="0">
                <a:solidFill>
                  <a:srgbClr val="000000"/>
                </a:solidFill>
                <a:latin typeface="Times New Roman"/>
                <a:ea typeface="Calibri"/>
                <a:cs typeface="Times New Roman"/>
              </a:rPr>
              <a:t>Model uncertainty and input degradation (blur, noise, poor lighting) are usually treated as one score, and prior evaluations are often narrow or domain-specific  limiting interpretability and generalizability of failure detection.</a:t>
            </a:r>
            <a:endParaRPr lang="en-US" sz="2000">
              <a:latin typeface="Times New Roman"/>
              <a:ea typeface="Calibri"/>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sp>
      <p:sp>
        <p:nvSpPr>
          <p:cNvPr id="4" name="Text 1"/>
          <p:cNvSpPr txBox="1"/>
          <p:nvPr/>
        </p:nvSpPr>
        <p:spPr>
          <a:xfrm>
            <a:off x="274320" y="292608"/>
            <a:ext cx="9601200" cy="640080"/>
          </a:xfrm>
          <a:prstGeom prst="rect">
            <a:avLst/>
          </a:prstGeom>
          <a:noFill/>
          <a:ln/>
        </p:spPr>
        <p:txBody>
          <a:bodyPr wrap="square" lIns="0" tIns="0" rIns="0" bIns="0" rtlCol="0" anchor="ctr"/>
          <a:lstStyle/>
          <a:p>
            <a:pPr marL="0" indent="0" algn="l">
              <a:buNone/>
            </a:pPr>
            <a:r>
              <a:rPr lang="en-US" sz="2400" b="1" dirty="0">
                <a:solidFill>
                  <a:srgbClr val="000000"/>
                </a:solidFill>
                <a:latin typeface="Times New Roman"/>
                <a:ea typeface="Calibri" pitchFamily="34" charset="-122"/>
                <a:cs typeface="Times New Roman"/>
              </a:rPr>
              <a:t>Problem Analysis: Assumptions &amp; Constraints :</a:t>
            </a:r>
            <a:endParaRPr lang="en-US" sz="2400">
              <a:latin typeface="Times New Roman"/>
              <a:cs typeface="Times New Roman"/>
            </a:endParaRPr>
          </a:p>
        </p:txBody>
      </p:sp>
      <p:sp>
        <p:nvSpPr>
          <p:cNvPr id="5" name="Text 2"/>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11</a:t>
            </a:r>
            <a:endParaRPr lang="en-US" sz="1000" dirty="0"/>
          </a:p>
        </p:txBody>
      </p:sp>
      <p:sp>
        <p:nvSpPr>
          <p:cNvPr id="7" name="Text 4"/>
          <p:cNvSpPr txBox="1"/>
          <p:nvPr/>
        </p:nvSpPr>
        <p:spPr>
          <a:xfrm>
            <a:off x="365760" y="1234440"/>
            <a:ext cx="5638648" cy="365760"/>
          </a:xfrm>
          <a:prstGeom prst="rect">
            <a:avLst/>
          </a:prstGeom>
          <a:noFill/>
          <a:ln/>
        </p:spPr>
        <p:txBody>
          <a:bodyPr wrap="square" lIns="0" tIns="0" rIns="0" bIns="0" rtlCol="0" anchor="ctr"/>
          <a:lstStyle/>
          <a:p>
            <a:pPr marL="0" indent="0">
              <a:buNone/>
            </a:pPr>
            <a:r>
              <a:rPr lang="en-US" b="1" dirty="0">
                <a:solidFill>
                  <a:srgbClr val="000000"/>
                </a:solidFill>
                <a:latin typeface="Times New Roman"/>
                <a:ea typeface="Calibri"/>
                <a:cs typeface="Times New Roman"/>
              </a:rPr>
              <a:t>Assumptions</a:t>
            </a:r>
            <a:endParaRPr lang="en-US">
              <a:latin typeface="Times New Roman"/>
              <a:ea typeface="Calibri"/>
              <a:cs typeface="Times New Roman"/>
            </a:endParaRPr>
          </a:p>
        </p:txBody>
      </p:sp>
      <p:sp>
        <p:nvSpPr>
          <p:cNvPr id="8" name="Text 5"/>
          <p:cNvSpPr txBox="1"/>
          <p:nvPr/>
        </p:nvSpPr>
        <p:spPr>
          <a:xfrm>
            <a:off x="365760" y="1645920"/>
            <a:ext cx="5638648" cy="4663440"/>
          </a:xfrm>
          <a:prstGeom prst="rect">
            <a:avLst/>
          </a:prstGeom>
          <a:noFill/>
          <a:ln/>
        </p:spPr>
        <p:txBody>
          <a:bodyPr wrap="square" lIns="0" tIns="0" rIns="0" bIns="0" rtlCol="0" anchor="t"/>
          <a:lstStyle/>
          <a:p>
            <a:pPr marL="342900" indent="-342900">
              <a:spcAft>
                <a:spcPts val="800"/>
              </a:spcAft>
              <a:buSzPct val="100000"/>
              <a:buChar char="•"/>
            </a:pPr>
            <a:r>
              <a:rPr lang="en-US" dirty="0">
                <a:solidFill>
                  <a:srgbClr val="000000"/>
                </a:solidFill>
                <a:latin typeface="Times New Roman"/>
                <a:ea typeface="Calibri"/>
                <a:cs typeface="Times New Roman"/>
              </a:rPr>
              <a:t>Base perception model (classifier/detector) is fixed at deployment no retraining or fine-tuning is performed online.</a:t>
            </a:r>
            <a:endParaRPr lang="en-US">
              <a:latin typeface="Times New Roman"/>
              <a:ea typeface="Calibri"/>
              <a:cs typeface="Times New Roman"/>
            </a:endParaRPr>
          </a:p>
          <a:p>
            <a:pPr marL="342900" indent="-342900">
              <a:spcAft>
                <a:spcPts val="800"/>
              </a:spcAft>
              <a:buSzPct val="100000"/>
              <a:buChar char="•"/>
            </a:pPr>
            <a:r>
              <a:rPr lang="en-US" dirty="0">
                <a:solidFill>
                  <a:srgbClr val="000000"/>
                </a:solidFill>
                <a:latin typeface="Times New Roman"/>
                <a:ea typeface="Calibri"/>
                <a:cs typeface="Times New Roman"/>
              </a:rPr>
              <a:t>Uncertainty must be computed from information available in a single forward pass (feature-space distances, logits, sensor-quality signals) no repeated sampling.</a:t>
            </a:r>
            <a:endParaRPr lang="en-US">
              <a:latin typeface="Times New Roman"/>
              <a:ea typeface="Calibri"/>
              <a:cs typeface="Times New Roman"/>
            </a:endParaRPr>
          </a:p>
          <a:p>
            <a:pPr marL="342900" indent="-342900">
              <a:spcAft>
                <a:spcPts val="800"/>
              </a:spcAft>
              <a:buSzPct val="100000"/>
              <a:buChar char="•"/>
            </a:pPr>
            <a:r>
              <a:rPr lang="en-US" dirty="0">
                <a:solidFill>
                  <a:srgbClr val="000000"/>
                </a:solidFill>
                <a:latin typeface="Times New Roman"/>
                <a:ea typeface="Calibri"/>
                <a:cs typeface="Times New Roman"/>
              </a:rPr>
              <a:t>Ground-truth labels are unavailable at inference time; calibration and thresholds are learned only from a held-out validation set collected offline.</a:t>
            </a:r>
            <a:endParaRPr lang="en-US">
              <a:latin typeface="Times New Roman"/>
              <a:ea typeface="Calibri"/>
              <a:cs typeface="Times New Roman"/>
            </a:endParaRPr>
          </a:p>
          <a:p>
            <a:pPr marL="342900" indent="-342900">
              <a:buSzPct val="100000"/>
              <a:buChar char="•"/>
            </a:pPr>
            <a:r>
              <a:rPr lang="en-US" dirty="0">
                <a:solidFill>
                  <a:srgbClr val="000000"/>
                </a:solidFill>
                <a:latin typeface="Times New Roman"/>
                <a:ea typeface="Calibri"/>
                <a:cs typeface="Times New Roman"/>
              </a:rPr>
              <a:t>Target hardware is a resource-constrained edge device (embedded GPU/NPU or SBC-class) with limited memory, compute, power, and inconsistent cloud connectivity.</a:t>
            </a:r>
            <a:endParaRPr lang="en-US">
              <a:latin typeface="Times New Roman"/>
              <a:ea typeface="Calibri"/>
              <a:cs typeface="Times New Roman"/>
            </a:endParaRPr>
          </a:p>
        </p:txBody>
      </p:sp>
      <p:sp>
        <p:nvSpPr>
          <p:cNvPr id="9" name="Text 6"/>
          <p:cNvSpPr txBox="1"/>
          <p:nvPr/>
        </p:nvSpPr>
        <p:spPr>
          <a:xfrm>
            <a:off x="6370168" y="1234440"/>
            <a:ext cx="5638648" cy="365760"/>
          </a:xfrm>
          <a:prstGeom prst="rect">
            <a:avLst/>
          </a:prstGeom>
          <a:noFill/>
          <a:ln/>
        </p:spPr>
        <p:txBody>
          <a:bodyPr wrap="square" lIns="0" tIns="0" rIns="0" bIns="0" rtlCol="0" anchor="ctr"/>
          <a:lstStyle/>
          <a:p>
            <a:pPr marL="0" indent="0">
              <a:buNone/>
            </a:pPr>
            <a:r>
              <a:rPr lang="en-US" b="1" dirty="0">
                <a:solidFill>
                  <a:srgbClr val="000000"/>
                </a:solidFill>
                <a:latin typeface="Times New Roman"/>
                <a:ea typeface="Calibri"/>
                <a:cs typeface="Times New Roman"/>
              </a:rPr>
              <a:t>Constraints</a:t>
            </a:r>
            <a:endParaRPr lang="en-US">
              <a:latin typeface="Times New Roman"/>
              <a:ea typeface="Calibri"/>
              <a:cs typeface="Times New Roman"/>
            </a:endParaRPr>
          </a:p>
        </p:txBody>
      </p:sp>
      <p:sp>
        <p:nvSpPr>
          <p:cNvPr id="10" name="Text 7"/>
          <p:cNvSpPr txBox="1"/>
          <p:nvPr/>
        </p:nvSpPr>
        <p:spPr>
          <a:xfrm>
            <a:off x="6370168" y="1645920"/>
            <a:ext cx="5638648" cy="4663440"/>
          </a:xfrm>
          <a:prstGeom prst="rect">
            <a:avLst/>
          </a:prstGeom>
          <a:noFill/>
          <a:ln/>
        </p:spPr>
        <p:txBody>
          <a:bodyPr wrap="square" lIns="0" tIns="0" rIns="0" bIns="0" rtlCol="0" anchor="t"/>
          <a:lstStyle/>
          <a:p>
            <a:pPr marL="342900" indent="-342900">
              <a:spcAft>
                <a:spcPts val="800"/>
              </a:spcAft>
              <a:buSzPct val="100000"/>
              <a:buChar char="•"/>
            </a:pPr>
            <a:r>
              <a:rPr lang="en-US" dirty="0">
                <a:solidFill>
                  <a:srgbClr val="000000"/>
                </a:solidFill>
                <a:latin typeface="Times New Roman"/>
                <a:ea typeface="Calibri"/>
                <a:cs typeface="Times New Roman"/>
              </a:rPr>
              <a:t>Latency: uncertainty estimation must add no more than a small, fixed overhead (target &lt;10–15% of base inference time) to remain viable for real-time use.</a:t>
            </a:r>
            <a:endParaRPr lang="en-US">
              <a:latin typeface="Times New Roman"/>
              <a:ea typeface="Calibri"/>
              <a:cs typeface="Times New Roman"/>
            </a:endParaRPr>
          </a:p>
          <a:p>
            <a:pPr marL="342900" indent="-342900">
              <a:spcAft>
                <a:spcPts val="800"/>
              </a:spcAft>
              <a:buSzPct val="100000"/>
              <a:buChar char="•"/>
            </a:pPr>
            <a:r>
              <a:rPr lang="en-US" dirty="0">
                <a:solidFill>
                  <a:srgbClr val="000000"/>
                </a:solidFill>
                <a:latin typeface="Times New Roman"/>
                <a:ea typeface="Calibri"/>
                <a:cs typeface="Times New Roman"/>
              </a:rPr>
              <a:t>Memory/compute: the model plus uncertainty module must fit the target device's memory footprint without requiring ensembles or multiple network copies.</a:t>
            </a:r>
            <a:endParaRPr lang="en-US">
              <a:latin typeface="Times New Roman"/>
              <a:ea typeface="Calibri"/>
              <a:cs typeface="Times New Roman"/>
            </a:endParaRPr>
          </a:p>
          <a:p>
            <a:pPr marL="342900" indent="-342900">
              <a:spcAft>
                <a:spcPts val="800"/>
              </a:spcAft>
              <a:buSzPct val="100000"/>
              <a:buChar char="•"/>
            </a:pPr>
            <a:r>
              <a:rPr lang="en-US" dirty="0">
                <a:solidFill>
                  <a:srgbClr val="000000"/>
                </a:solidFill>
                <a:latin typeface="Times New Roman"/>
                <a:ea typeface="Calibri"/>
                <a:cs typeface="Times New Roman"/>
              </a:rPr>
              <a:t>Accuracy trade-off: the reliability mechanism must not degrade base-model accuracy on clean, in-distribution inputs.</a:t>
            </a:r>
            <a:endParaRPr lang="en-US">
              <a:latin typeface="Times New Roman"/>
              <a:ea typeface="Calibri"/>
              <a:cs typeface="Times New Roman"/>
            </a:endParaRPr>
          </a:p>
          <a:p>
            <a:pPr marL="342900" indent="-342900">
              <a:buSzPct val="100000"/>
              <a:buChar char="•"/>
            </a:pPr>
            <a:r>
              <a:rPr lang="en-US" dirty="0">
                <a:solidFill>
                  <a:srgbClr val="000000"/>
                </a:solidFill>
                <a:latin typeface="Times New Roman"/>
                <a:ea typeface="Calibri"/>
                <a:cs typeface="Times New Roman"/>
              </a:rPr>
              <a:t>Scope: limited to visual perception tasks (classification/detection) under common corruptions and OOD/unseen-object conditions; extreme sensor failure (e.g., full camera blackout) is out of scope.</a:t>
            </a:r>
            <a:endParaRPr lang="en-US">
              <a:latin typeface="Times New Roman"/>
              <a:ea typeface="Calibri"/>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sp>
      <p:sp>
        <p:nvSpPr>
          <p:cNvPr id="4" name="Text 1"/>
          <p:cNvSpPr txBox="1"/>
          <p:nvPr/>
        </p:nvSpPr>
        <p:spPr>
          <a:xfrm>
            <a:off x="274320" y="292608"/>
            <a:ext cx="9601200" cy="640080"/>
          </a:xfrm>
          <a:prstGeom prst="rect">
            <a:avLst/>
          </a:prstGeom>
          <a:noFill/>
          <a:ln/>
        </p:spPr>
        <p:txBody>
          <a:bodyPr wrap="square" lIns="0" tIns="0" rIns="0" bIns="0" rtlCol="0" anchor="ctr"/>
          <a:lstStyle/>
          <a:p>
            <a:pPr marL="0" indent="0" algn="l">
              <a:buNone/>
            </a:pPr>
            <a:r>
              <a:rPr lang="en-US" sz="2400" b="1" dirty="0">
                <a:solidFill>
                  <a:srgbClr val="000000"/>
                </a:solidFill>
                <a:latin typeface="Times New Roman"/>
                <a:ea typeface="Calibri" pitchFamily="34" charset="-122"/>
                <a:cs typeface="Times New Roman"/>
              </a:rPr>
              <a:t>Problem Statement :</a:t>
            </a:r>
            <a:endParaRPr lang="en-US" sz="2400">
              <a:latin typeface="Times New Roman"/>
              <a:cs typeface="Times New Roman"/>
            </a:endParaRPr>
          </a:p>
        </p:txBody>
      </p:sp>
      <p:sp>
        <p:nvSpPr>
          <p:cNvPr id="5" name="Text 2"/>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12</a:t>
            </a:r>
            <a:endParaRPr lang="en-US" sz="1000" dirty="0"/>
          </a:p>
        </p:txBody>
      </p:sp>
      <p:sp>
        <p:nvSpPr>
          <p:cNvPr id="7" name="Text 4"/>
          <p:cNvSpPr txBox="1"/>
          <p:nvPr/>
        </p:nvSpPr>
        <p:spPr>
          <a:xfrm>
            <a:off x="275781" y="1247801"/>
            <a:ext cx="11368735" cy="3200400"/>
          </a:xfrm>
          <a:prstGeom prst="rect">
            <a:avLst/>
          </a:prstGeom>
          <a:noFill/>
          <a:ln/>
        </p:spPr>
        <p:txBody>
          <a:bodyPr wrap="square" lIns="0" tIns="0" rIns="0" bIns="0" rtlCol="0" anchor="t"/>
          <a:lstStyle/>
          <a:p>
            <a:pPr algn="just"/>
            <a:r>
              <a:rPr lang="en-US" sz="2000" dirty="0">
                <a:solidFill>
                  <a:srgbClr val="000000"/>
                </a:solidFill>
                <a:latin typeface="Times New Roman"/>
                <a:ea typeface="Calibri"/>
                <a:cs typeface="Times New Roman"/>
              </a:rPr>
              <a:t>AI models deployed on edge devices such as cameras, robots, and industrial sensors often perform well during testing but fail silently in real-world conditions  poor lighting, unseen objects, sensor degradation  producing incorrect predictions with high confidence and no indication of unreliability. Existing systems monitor accuracy only during development, not after deployment, so such failures go undetected until they cause real consequences. This project develops an Edge AI system that continuously monitors the reliability of its own predictions in real time, flagging likely failures before an incorrect decision is acted upon.</a:t>
            </a:r>
            <a:endParaRPr lang="en-US" sz="2000">
              <a:latin typeface="Times New Roman"/>
              <a:ea typeface="Calibri"/>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sp>
      <p:sp>
        <p:nvSpPr>
          <p:cNvPr id="4" name="Text 1"/>
          <p:cNvSpPr txBox="1"/>
          <p:nvPr/>
        </p:nvSpPr>
        <p:spPr>
          <a:xfrm>
            <a:off x="274320" y="292608"/>
            <a:ext cx="9601200" cy="640080"/>
          </a:xfrm>
          <a:prstGeom prst="rect">
            <a:avLst/>
          </a:prstGeom>
          <a:noFill/>
          <a:ln/>
        </p:spPr>
        <p:txBody>
          <a:bodyPr wrap="square" lIns="0" tIns="0" rIns="0" bIns="0" rtlCol="0" anchor="ctr"/>
          <a:lstStyle/>
          <a:p>
            <a:pPr marL="0" indent="0" algn="l">
              <a:buNone/>
            </a:pPr>
            <a:r>
              <a:rPr lang="en-US" sz="2400" b="1" dirty="0">
                <a:solidFill>
                  <a:srgbClr val="000000"/>
                </a:solidFill>
                <a:latin typeface="Times New Roman"/>
                <a:ea typeface="Calibri" pitchFamily="34" charset="-122"/>
                <a:cs typeface="Times New Roman"/>
              </a:rPr>
              <a:t>Objectives :</a:t>
            </a:r>
            <a:endParaRPr lang="en-US" sz="2400">
              <a:latin typeface="Times New Roman"/>
              <a:cs typeface="Times New Roman"/>
            </a:endParaRPr>
          </a:p>
        </p:txBody>
      </p:sp>
      <p:sp>
        <p:nvSpPr>
          <p:cNvPr id="5" name="Text 2"/>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13</a:t>
            </a:r>
            <a:endParaRPr lang="en-US" sz="1000" dirty="0"/>
          </a:p>
        </p:txBody>
      </p:sp>
      <p:sp>
        <p:nvSpPr>
          <p:cNvPr id="7" name="Text 4"/>
          <p:cNvSpPr txBox="1"/>
          <p:nvPr/>
        </p:nvSpPr>
        <p:spPr>
          <a:xfrm>
            <a:off x="411480" y="1234440"/>
            <a:ext cx="11368735" cy="5120640"/>
          </a:xfrm>
          <a:prstGeom prst="rect">
            <a:avLst/>
          </a:prstGeom>
          <a:noFill/>
          <a:ln/>
        </p:spPr>
        <p:txBody>
          <a:bodyPr wrap="square" lIns="0" tIns="0" rIns="0" bIns="0" rtlCol="0" anchor="t"/>
          <a:lstStyle/>
          <a:p>
            <a:pPr marL="342900" indent="-342900" algn="just">
              <a:spcAft>
                <a:spcPts val="1200"/>
              </a:spcAft>
              <a:buSzPct val="100000"/>
              <a:buFont typeface="+mj-lt"/>
              <a:buAutoNum type="arabicPeriod"/>
            </a:pPr>
            <a:r>
              <a:rPr lang="en-US" sz="2000" dirty="0">
                <a:solidFill>
                  <a:srgbClr val="000000"/>
                </a:solidFill>
                <a:latin typeface="Times New Roman"/>
                <a:ea typeface="Calibri"/>
                <a:cs typeface="Times New Roman"/>
              </a:rPr>
              <a:t>Design an AI perception model capable of making predictions while simultaneously estimating the reliability/confidence of each prediction.</a:t>
            </a:r>
            <a:endParaRPr lang="en-US" sz="2000">
              <a:latin typeface="Times New Roman"/>
              <a:ea typeface="Calibri"/>
              <a:cs typeface="Times New Roman"/>
            </a:endParaRPr>
          </a:p>
          <a:p>
            <a:pPr marL="342900" indent="-342900" algn="just">
              <a:spcAft>
                <a:spcPts val="1200"/>
              </a:spcAft>
              <a:buSzPct val="100000"/>
              <a:buFont typeface="+mj-lt"/>
              <a:buAutoNum type="arabicPeriod"/>
            </a:pPr>
            <a:r>
              <a:rPr lang="en-US" sz="2000" dirty="0">
                <a:solidFill>
                  <a:srgbClr val="000000"/>
                </a:solidFill>
                <a:latin typeface="Times New Roman"/>
                <a:ea typeface="Calibri"/>
                <a:cs typeface="Times New Roman"/>
              </a:rPr>
              <a:t>Develop a lightweight uncertainty-estimation module that works in a single forward pass, suitable for edge-device deployment.</a:t>
            </a:r>
            <a:endParaRPr lang="en-US" sz="2000">
              <a:latin typeface="Times New Roman"/>
              <a:ea typeface="Calibri"/>
              <a:cs typeface="Times New Roman"/>
            </a:endParaRPr>
          </a:p>
          <a:p>
            <a:pPr marL="342900" indent="-342900" algn="just">
              <a:spcAft>
                <a:spcPts val="1200"/>
              </a:spcAft>
              <a:buSzPct val="100000"/>
              <a:buFont typeface="+mj-lt"/>
              <a:buAutoNum type="arabicPeriod"/>
            </a:pPr>
            <a:r>
              <a:rPr lang="en-US" sz="2000" dirty="0">
                <a:solidFill>
                  <a:srgbClr val="000000"/>
                </a:solidFill>
                <a:latin typeface="Times New Roman"/>
                <a:ea typeface="Calibri"/>
                <a:cs typeface="Times New Roman"/>
              </a:rPr>
              <a:t>Build an evaluation framework using clean, degraded (corrupted), and out-of-distribution (OOD) test images to validate the system's reliability detection.</a:t>
            </a:r>
            <a:endParaRPr lang="en-US" sz="2000">
              <a:latin typeface="Times New Roman"/>
              <a:ea typeface="Calibri"/>
              <a:cs typeface="Times New Roman"/>
            </a:endParaRPr>
          </a:p>
          <a:p>
            <a:pPr marL="342900" indent="-342900" algn="just">
              <a:spcAft>
                <a:spcPts val="1200"/>
              </a:spcAft>
              <a:buSzPct val="100000"/>
              <a:buFont typeface="+mj-lt"/>
              <a:buAutoNum type="arabicPeriod"/>
            </a:pPr>
            <a:r>
              <a:rPr lang="en-US" sz="2000" dirty="0">
                <a:solidFill>
                  <a:srgbClr val="000000"/>
                </a:solidFill>
                <a:latin typeface="Times New Roman"/>
                <a:ea typeface="Calibri"/>
                <a:cs typeface="Times New Roman"/>
              </a:rPr>
              <a:t>Optimize the combined model (base + uncertainty module) for low latency and low resource usage on edge hardware.</a:t>
            </a:r>
            <a:endParaRPr lang="en-US" sz="2000">
              <a:latin typeface="Times New Roman"/>
              <a:ea typeface="Calibri"/>
              <a:cs typeface="Times New Roman"/>
            </a:endParaRPr>
          </a:p>
          <a:p>
            <a:pPr marL="342900" indent="-342900" algn="just">
              <a:spcAft>
                <a:spcPts val="1200"/>
              </a:spcAft>
              <a:buSzPct val="100000"/>
              <a:buFont typeface="+mj-lt"/>
              <a:buAutoNum type="arabicPeriod"/>
            </a:pPr>
            <a:r>
              <a:rPr lang="en-US" sz="2000" dirty="0">
                <a:solidFill>
                  <a:srgbClr val="000000"/>
                </a:solidFill>
                <a:latin typeface="Times New Roman"/>
                <a:ea typeface="Calibri"/>
                <a:cs typeface="Times New Roman"/>
              </a:rPr>
              <a:t>Benchmark the system's accuracy vs. reliability trade-off, ensuring it correctly flags unreliable predictions without hurting normal-case performance.</a:t>
            </a:r>
            <a:endParaRPr lang="en-US" sz="2000">
              <a:latin typeface="Times New Roman"/>
              <a:ea typeface="Calibri"/>
              <a:cs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98F95-1CA8-08E9-8E35-C22C33DBAF8A}"/>
            </a:ext>
          </a:extLst>
        </p:cNvPr>
        <p:cNvGrpSpPr/>
        <p:nvPr/>
      </p:nvGrpSpPr>
      <p:grpSpPr>
        <a:xfrm>
          <a:off x="0" y="0"/>
          <a:ext cx="0" cy="0"/>
          <a:chOff x="0" y="0"/>
          <a:chExt cx="0" cy="0"/>
        </a:xfrm>
      </p:grpSpPr>
      <p:pic>
        <p:nvPicPr>
          <p:cNvPr id="2" name="Image 0" descr="/home/claude/work/unpacked/ppt/media/image1.png">
            <a:extLst>
              <a:ext uri="{FF2B5EF4-FFF2-40B4-BE49-F238E27FC236}">
                <a16:creationId xmlns:a16="http://schemas.microsoft.com/office/drawing/2014/main" id="{43B0FDED-9140-FC7B-6C70-2DA31339C319}"/>
              </a:ext>
            </a:extLst>
          </p:cNvPr>
          <p:cNvPicPr>
            <a:picLocks noChangeAspect="1"/>
          </p:cNvPicPr>
          <p:nvPr/>
        </p:nvPicPr>
        <p:blipFill>
          <a:blip r:embed="rId3"/>
          <a:stretch>
            <a:fillRect/>
          </a:stretch>
        </p:blipFill>
        <p:spPr>
          <a:xfrm>
            <a:off x="10931652" y="186538"/>
            <a:ext cx="1048817" cy="676656"/>
          </a:xfrm>
          <a:prstGeom prst="rect">
            <a:avLst/>
          </a:prstGeom>
        </p:spPr>
      </p:pic>
      <p:sp>
        <p:nvSpPr>
          <p:cNvPr id="3" name="Shape 0">
            <a:extLst>
              <a:ext uri="{FF2B5EF4-FFF2-40B4-BE49-F238E27FC236}">
                <a16:creationId xmlns:a16="http://schemas.microsoft.com/office/drawing/2014/main" id="{AC230D77-A8FD-C355-06E7-9BAFF11F7F8F}"/>
              </a:ext>
            </a:extLst>
          </p:cNvPr>
          <p:cNvSpPr/>
          <p:nvPr/>
        </p:nvSpPr>
        <p:spPr>
          <a:xfrm>
            <a:off x="27432" y="1095451"/>
            <a:ext cx="12070080" cy="0"/>
          </a:xfrm>
          <a:prstGeom prst="line">
            <a:avLst/>
          </a:prstGeom>
          <a:noFill/>
          <a:ln w="19050">
            <a:solidFill>
              <a:srgbClr val="AEABAB"/>
            </a:solidFill>
            <a:prstDash val="solid"/>
          </a:ln>
        </p:spPr>
      </p:sp>
      <p:sp>
        <p:nvSpPr>
          <p:cNvPr id="4" name="Text 1">
            <a:extLst>
              <a:ext uri="{FF2B5EF4-FFF2-40B4-BE49-F238E27FC236}">
                <a16:creationId xmlns:a16="http://schemas.microsoft.com/office/drawing/2014/main" id="{6BD2F6AE-E9CF-B9E7-EA7C-6877F4B9276B}"/>
              </a:ext>
            </a:extLst>
          </p:cNvPr>
          <p:cNvSpPr txBox="1"/>
          <p:nvPr/>
        </p:nvSpPr>
        <p:spPr>
          <a:xfrm>
            <a:off x="274320" y="292608"/>
            <a:ext cx="9601200" cy="640080"/>
          </a:xfrm>
          <a:prstGeom prst="rect">
            <a:avLst/>
          </a:prstGeom>
          <a:noFill/>
          <a:ln/>
        </p:spPr>
        <p:txBody>
          <a:bodyPr wrap="square" lIns="0" tIns="0" rIns="0" bIns="0" rtlCol="0" anchor="ctr"/>
          <a:lstStyle/>
          <a:p>
            <a:pPr marL="0" indent="0" algn="l">
              <a:buNone/>
            </a:pPr>
            <a:r>
              <a:rPr lang="en-US" sz="2400" b="1" dirty="0">
                <a:solidFill>
                  <a:srgbClr val="000000"/>
                </a:solidFill>
                <a:latin typeface="Times New Roman"/>
                <a:ea typeface="Calibri" pitchFamily="34" charset="-122"/>
                <a:cs typeface="Times New Roman"/>
              </a:rPr>
              <a:t>Design Principles :</a:t>
            </a:r>
            <a:endParaRPr lang="en-US" sz="2400">
              <a:latin typeface="Times New Roman"/>
              <a:cs typeface="Times New Roman"/>
            </a:endParaRPr>
          </a:p>
        </p:txBody>
      </p:sp>
      <p:sp>
        <p:nvSpPr>
          <p:cNvPr id="5" name="Text 2">
            <a:extLst>
              <a:ext uri="{FF2B5EF4-FFF2-40B4-BE49-F238E27FC236}">
                <a16:creationId xmlns:a16="http://schemas.microsoft.com/office/drawing/2014/main" id="{F27FEE75-3003-7850-7042-0586CA303B62}"/>
              </a:ext>
            </a:extLst>
          </p:cNvPr>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a:extLst>
              <a:ext uri="{FF2B5EF4-FFF2-40B4-BE49-F238E27FC236}">
                <a16:creationId xmlns:a16="http://schemas.microsoft.com/office/drawing/2014/main" id="{3B0BFAB0-A61D-19EF-6227-8C2FA1556A78}"/>
              </a:ext>
            </a:extLst>
          </p:cNvPr>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14</a:t>
            </a:r>
            <a:endParaRPr lang="en-US" sz="1000" dirty="0"/>
          </a:p>
        </p:txBody>
      </p:sp>
      <p:sp>
        <p:nvSpPr>
          <p:cNvPr id="7" name="Text 4">
            <a:extLst>
              <a:ext uri="{FF2B5EF4-FFF2-40B4-BE49-F238E27FC236}">
                <a16:creationId xmlns:a16="http://schemas.microsoft.com/office/drawing/2014/main" id="{FE57C1BB-4789-616E-CD01-D4B04646BFE0}"/>
              </a:ext>
            </a:extLst>
          </p:cNvPr>
          <p:cNvSpPr txBox="1"/>
          <p:nvPr/>
        </p:nvSpPr>
        <p:spPr>
          <a:xfrm>
            <a:off x="411480" y="1234440"/>
            <a:ext cx="11368735" cy="5212080"/>
          </a:xfrm>
          <a:prstGeom prst="rect">
            <a:avLst/>
          </a:prstGeom>
          <a:noFill/>
          <a:ln/>
        </p:spPr>
        <p:txBody>
          <a:bodyPr wrap="square" lIns="0" tIns="0" rIns="0" bIns="0" rtlCol="0" anchor="t"/>
          <a:lstStyle/>
          <a:p>
            <a:pPr marL="342900" indent="-342900" algn="just">
              <a:buFont typeface="Wingdings"/>
              <a:buChar char="Ø"/>
            </a:pPr>
            <a:r>
              <a:rPr lang="en-US" sz="2000" dirty="0">
                <a:latin typeface="Times New Roman"/>
                <a:ea typeface="+mn-lt"/>
                <a:cs typeface="Times New Roman"/>
              </a:rPr>
              <a:t>Reliability over Accuracy Alone</a:t>
            </a:r>
            <a:endParaRPr lang="en-US"/>
          </a:p>
          <a:p>
            <a:pPr algn="just"/>
            <a:r>
              <a:rPr lang="en-US" sz="2000" dirty="0">
                <a:latin typeface="Times New Roman"/>
                <a:ea typeface="+mn-lt"/>
                <a:cs typeface="Times New Roman"/>
              </a:rPr>
              <a:t> Evaluate not only whether the prediction is correct, but also how trustworthy the prediction is.</a:t>
            </a:r>
          </a:p>
          <a:p>
            <a:pPr marL="342900" indent="-342900" algn="just">
              <a:buFont typeface="Wingdings"/>
              <a:buChar char="Ø"/>
            </a:pPr>
            <a:r>
              <a:rPr lang="en-US" sz="2000" dirty="0">
                <a:latin typeface="Times New Roman"/>
                <a:ea typeface="+mn-lt"/>
                <a:cs typeface="Times New Roman"/>
              </a:rPr>
              <a:t>Uncertainty Awareness</a:t>
            </a:r>
          </a:p>
          <a:p>
            <a:pPr algn="just"/>
            <a:r>
              <a:rPr lang="en-US" sz="2000" dirty="0">
                <a:latin typeface="Times New Roman"/>
                <a:ea typeface="+mn-lt"/>
                <a:cs typeface="Times New Roman"/>
              </a:rPr>
              <a:t> Estimate model uncertainty instead of blindly accepting high-confidence predictions.</a:t>
            </a:r>
          </a:p>
          <a:p>
            <a:pPr marL="342900" indent="-342900" algn="just">
              <a:buFont typeface="Wingdings"/>
              <a:buChar char="Ø"/>
            </a:pPr>
            <a:r>
              <a:rPr lang="en-US" sz="2000" dirty="0">
                <a:latin typeface="Times New Roman"/>
                <a:ea typeface="+mn-lt"/>
                <a:cs typeface="Times New Roman"/>
              </a:rPr>
              <a:t>OOD Awareness</a:t>
            </a:r>
          </a:p>
          <a:p>
            <a:pPr algn="just"/>
            <a:r>
              <a:rPr lang="en-US" sz="2000" dirty="0">
                <a:latin typeface="Times New Roman"/>
                <a:ea typeface="+mn-lt"/>
                <a:cs typeface="Times New Roman"/>
              </a:rPr>
              <a:t>Detect inputs that are significantly different from the training data, such as unseen objects or unusual situations.</a:t>
            </a:r>
          </a:p>
          <a:p>
            <a:pPr marL="342900" indent="-342900" algn="just">
              <a:buFont typeface="Wingdings"/>
              <a:buChar char="Ø"/>
            </a:pPr>
            <a:r>
              <a:rPr lang="en-US" sz="2000" dirty="0">
                <a:latin typeface="Times New Roman"/>
                <a:ea typeface="+mn-lt"/>
                <a:cs typeface="Times New Roman"/>
              </a:rPr>
              <a:t>Real-World Robustness</a:t>
            </a:r>
          </a:p>
          <a:p>
            <a:pPr algn="just"/>
            <a:r>
              <a:rPr lang="en-US" sz="2000" dirty="0">
                <a:latin typeface="Times New Roman"/>
                <a:ea typeface="+mn-lt"/>
                <a:cs typeface="Times New Roman"/>
              </a:rPr>
              <a:t>Evaluate performance under practical conditions such as blur, noise, poor illumination, fog, and sensor degradation.</a:t>
            </a:r>
          </a:p>
          <a:p>
            <a:pPr marL="342900" indent="-342900" algn="just">
              <a:buFont typeface="Wingdings"/>
              <a:buChar char="Ø"/>
            </a:pPr>
            <a:r>
              <a:rPr lang="en-US" sz="2000" dirty="0">
                <a:latin typeface="Times New Roman"/>
                <a:ea typeface="+mn-lt"/>
                <a:cs typeface="Times New Roman"/>
              </a:rPr>
              <a:t>Lightweight Edge Deployment</a:t>
            </a:r>
          </a:p>
          <a:p>
            <a:pPr algn="just"/>
            <a:r>
              <a:rPr lang="en-US" sz="2000" dirty="0">
                <a:latin typeface="Times New Roman"/>
                <a:ea typeface="+mn-lt"/>
                <a:cs typeface="Times New Roman"/>
              </a:rPr>
              <a:t>Keep the reliability mechanism low-latency and resource-efficient in terms of memory and computation.</a:t>
            </a:r>
            <a:endParaRPr lang="en-US" dirty="0"/>
          </a:p>
          <a:p>
            <a:pPr marL="342900" indent="-342900" algn="just">
              <a:buFont typeface="Wingdings"/>
              <a:buChar char="Ø"/>
            </a:pPr>
            <a:r>
              <a:rPr lang="en-US" sz="2000" dirty="0">
                <a:latin typeface="Times New Roman"/>
                <a:ea typeface="+mn-lt"/>
                <a:cs typeface="Times New Roman"/>
              </a:rPr>
              <a:t>Fail-Safe Decision Making</a:t>
            </a:r>
          </a:p>
          <a:p>
            <a:pPr algn="just"/>
            <a:r>
              <a:rPr lang="en-US" sz="2000" dirty="0">
                <a:latin typeface="Times New Roman"/>
                <a:ea typeface="+mn-lt"/>
                <a:cs typeface="Times New Roman"/>
              </a:rPr>
              <a:t>When reliability is low, the system should avoid making an unsafe decision and instead trigger a warning, request additional sensing, or use a fallback model.</a:t>
            </a:r>
          </a:p>
          <a:p>
            <a:pPr marL="342900" indent="-342900" algn="just">
              <a:buFont typeface="Wingdings"/>
              <a:buChar char="Ø"/>
            </a:pPr>
            <a:r>
              <a:rPr lang="en-US" sz="2000" dirty="0">
                <a:latin typeface="Times New Roman"/>
                <a:ea typeface="+mn-lt"/>
                <a:cs typeface="Times New Roman"/>
              </a:rPr>
              <a:t>Explainable Risk Assessment</a:t>
            </a:r>
          </a:p>
          <a:p>
            <a:pPr algn="just"/>
            <a:r>
              <a:rPr lang="en-US" sz="2000" dirty="0">
                <a:latin typeface="Times New Roman"/>
                <a:ea typeface="+mn-lt"/>
                <a:cs typeface="Times New Roman"/>
              </a:rPr>
              <a:t>Clearly indicate why a prediction is considered unreliable, such as high uncertainty, OOD input, or poor image quality.</a:t>
            </a:r>
          </a:p>
          <a:p>
            <a:pPr marL="342900" indent="-342900" algn="just">
              <a:buFont typeface="Wingdings"/>
              <a:buChar char="Ø"/>
            </a:pPr>
            <a:endParaRPr lang="en-US" sz="2000" dirty="0">
              <a:latin typeface="Times New Roman"/>
              <a:ea typeface="Calibri"/>
              <a:cs typeface="Times New Roman"/>
            </a:endParaRPr>
          </a:p>
        </p:txBody>
      </p:sp>
    </p:spTree>
    <p:extLst>
      <p:ext uri="{BB962C8B-B14F-4D97-AF65-F5344CB8AC3E}">
        <p14:creationId xmlns:p14="http://schemas.microsoft.com/office/powerpoint/2010/main" val="4090815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flipV="1">
            <a:off x="6556" y="980630"/>
            <a:ext cx="12153585" cy="20876"/>
          </a:xfrm>
          <a:prstGeom prst="line">
            <a:avLst/>
          </a:prstGeom>
          <a:noFill/>
          <a:ln w="19050">
            <a:solidFill>
              <a:srgbClr val="AEABAB"/>
            </a:solidFill>
            <a:prstDash val="solid"/>
          </a:ln>
        </p:spPr>
      </p:sp>
      <p:sp>
        <p:nvSpPr>
          <p:cNvPr id="4" name="Text 1"/>
          <p:cNvSpPr txBox="1"/>
          <p:nvPr/>
        </p:nvSpPr>
        <p:spPr>
          <a:xfrm>
            <a:off x="274320" y="292608"/>
            <a:ext cx="9601200" cy="640080"/>
          </a:xfrm>
          <a:prstGeom prst="rect">
            <a:avLst/>
          </a:prstGeom>
          <a:noFill/>
          <a:ln/>
        </p:spPr>
        <p:txBody>
          <a:bodyPr wrap="square" lIns="0" tIns="0" rIns="0" bIns="0" rtlCol="0" anchor="ctr"/>
          <a:lstStyle/>
          <a:p>
            <a:r>
              <a:rPr lang="en-US" sz="2400" b="1" dirty="0">
                <a:solidFill>
                  <a:srgbClr val="000000"/>
                </a:solidFill>
                <a:latin typeface="Times New Roman"/>
                <a:ea typeface="Calibri"/>
                <a:cs typeface="Times New Roman"/>
              </a:rPr>
              <a:t>Design Principle:  </a:t>
            </a:r>
            <a:endParaRPr lang="en-US" sz="2400" dirty="0">
              <a:latin typeface="Times New Roman"/>
              <a:ea typeface="Calibri"/>
              <a:cs typeface="Times New Roman"/>
            </a:endParaRPr>
          </a:p>
        </p:txBody>
      </p:sp>
      <p:sp>
        <p:nvSpPr>
          <p:cNvPr id="5" name="Text 2"/>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15</a:t>
            </a:r>
            <a:endParaRPr lang="en-US" sz="1000" dirty="0"/>
          </a:p>
        </p:txBody>
      </p:sp>
      <p:sp>
        <p:nvSpPr>
          <p:cNvPr id="7" name="Shape 4"/>
          <p:cNvSpPr/>
          <p:nvPr/>
        </p:nvSpPr>
        <p:spPr>
          <a:xfrm>
            <a:off x="365760" y="1623060"/>
            <a:ext cx="1554480" cy="777240"/>
          </a:xfrm>
          <a:prstGeom prst="roundRect">
            <a:avLst>
              <a:gd name="adj" fmla="val 9412"/>
            </a:avLst>
          </a:prstGeom>
          <a:solidFill>
            <a:srgbClr val="F2F2F2"/>
          </a:solidFill>
          <a:ln w="12700">
            <a:solidFill>
              <a:srgbClr val="8C8C8C"/>
            </a:solidFill>
            <a:prstDash val="solid"/>
          </a:ln>
        </p:spPr>
      </p:sp>
      <p:sp>
        <p:nvSpPr>
          <p:cNvPr id="8" name="Text 5"/>
          <p:cNvSpPr txBox="1"/>
          <p:nvPr/>
        </p:nvSpPr>
        <p:spPr>
          <a:xfrm>
            <a:off x="365760" y="1623060"/>
            <a:ext cx="1554480" cy="777240"/>
          </a:xfrm>
          <a:prstGeom prst="rect">
            <a:avLst/>
          </a:prstGeom>
          <a:noFill/>
          <a:ln/>
        </p:spPr>
        <p:txBody>
          <a:bodyPr wrap="square" lIns="50800" tIns="50800" rIns="50800" bIns="50800" rtlCol="0" anchor="ctr"/>
          <a:lstStyle/>
          <a:p>
            <a:pPr marL="0" indent="0" algn="ctr">
              <a:buNone/>
            </a:pPr>
            <a:r>
              <a:rPr lang="en-US" sz="1150" dirty="0">
                <a:solidFill>
                  <a:srgbClr val="000000"/>
                </a:solidFill>
                <a:latin typeface="Calibri" pitchFamily="34" charset="0"/>
                <a:ea typeface="Calibri" pitchFamily="34" charset="-122"/>
                <a:cs typeface="Calibri" pitchFamily="34" charset="-120"/>
              </a:rPr>
              <a:t>Input Image</a:t>
            </a:r>
            <a:endParaRPr lang="en-US" sz="1150" dirty="0"/>
          </a:p>
          <a:p>
            <a:pPr marL="0" indent="0" algn="ctr">
              <a:buNone/>
            </a:pPr>
            <a:r>
              <a:rPr lang="en-US" sz="1150" dirty="0">
                <a:solidFill>
                  <a:srgbClr val="000000"/>
                </a:solidFill>
                <a:latin typeface="Calibri" pitchFamily="34" charset="0"/>
                <a:ea typeface="Calibri" pitchFamily="34" charset="-122"/>
                <a:cs typeface="Calibri" pitchFamily="34" charset="-120"/>
              </a:rPr>
              <a:t>(edge camera)</a:t>
            </a:r>
            <a:endParaRPr lang="en-US" sz="1150" dirty="0"/>
          </a:p>
        </p:txBody>
      </p:sp>
      <p:sp>
        <p:nvSpPr>
          <p:cNvPr id="9" name="Shape 6"/>
          <p:cNvSpPr/>
          <p:nvPr/>
        </p:nvSpPr>
        <p:spPr>
          <a:xfrm>
            <a:off x="1965960" y="1938528"/>
            <a:ext cx="320040" cy="146304"/>
          </a:xfrm>
          <a:prstGeom prst="rightArrow">
            <a:avLst/>
          </a:prstGeom>
          <a:solidFill>
            <a:srgbClr val="9C9C9C"/>
          </a:solidFill>
          <a:ln w="12700">
            <a:solidFill>
              <a:srgbClr val="9C9C9C"/>
            </a:solidFill>
            <a:prstDash val="solid"/>
          </a:ln>
        </p:spPr>
      </p:sp>
      <p:sp>
        <p:nvSpPr>
          <p:cNvPr id="10" name="Shape 7"/>
          <p:cNvSpPr/>
          <p:nvPr/>
        </p:nvSpPr>
        <p:spPr>
          <a:xfrm>
            <a:off x="2331720" y="1623060"/>
            <a:ext cx="1874520" cy="777240"/>
          </a:xfrm>
          <a:prstGeom prst="roundRect">
            <a:avLst>
              <a:gd name="adj" fmla="val 9412"/>
            </a:avLst>
          </a:prstGeom>
          <a:solidFill>
            <a:srgbClr val="DCE6F1"/>
          </a:solidFill>
          <a:ln w="12700">
            <a:solidFill>
              <a:srgbClr val="8C8C8C"/>
            </a:solidFill>
            <a:prstDash val="solid"/>
          </a:ln>
        </p:spPr>
      </p:sp>
      <p:sp>
        <p:nvSpPr>
          <p:cNvPr id="11" name="Text 8"/>
          <p:cNvSpPr txBox="1"/>
          <p:nvPr/>
        </p:nvSpPr>
        <p:spPr>
          <a:xfrm>
            <a:off x="2331720" y="1623060"/>
            <a:ext cx="1874520" cy="777240"/>
          </a:xfrm>
          <a:prstGeom prst="rect">
            <a:avLst/>
          </a:prstGeom>
          <a:noFill/>
          <a:ln/>
        </p:spPr>
        <p:txBody>
          <a:bodyPr wrap="square" lIns="50800" tIns="50800" rIns="50800" bIns="50800" rtlCol="0" anchor="ctr"/>
          <a:lstStyle/>
          <a:p>
            <a:pPr marL="0" indent="0" algn="ctr">
              <a:buNone/>
            </a:pPr>
            <a:r>
              <a:rPr lang="en-US" sz="1150" dirty="0">
                <a:solidFill>
                  <a:srgbClr val="000000"/>
                </a:solidFill>
                <a:latin typeface="Calibri" pitchFamily="34" charset="0"/>
                <a:ea typeface="Calibri" pitchFamily="34" charset="-122"/>
                <a:cs typeface="Calibri" pitchFamily="34" charset="-120"/>
              </a:rPr>
              <a:t>Base Perception</a:t>
            </a:r>
            <a:endParaRPr lang="en-US" sz="1150" dirty="0"/>
          </a:p>
          <a:p>
            <a:pPr marL="0" indent="0" algn="ctr">
              <a:buNone/>
            </a:pPr>
            <a:r>
              <a:rPr lang="en-US" sz="1150" dirty="0">
                <a:solidFill>
                  <a:srgbClr val="000000"/>
                </a:solidFill>
                <a:latin typeface="Calibri" pitchFamily="34" charset="0"/>
                <a:ea typeface="Calibri" pitchFamily="34" charset="-122"/>
                <a:cs typeface="Calibri" pitchFamily="34" charset="-120"/>
              </a:rPr>
              <a:t>Model</a:t>
            </a:r>
            <a:endParaRPr lang="en-US" sz="1150" dirty="0"/>
          </a:p>
        </p:txBody>
      </p:sp>
      <p:sp>
        <p:nvSpPr>
          <p:cNvPr id="12" name="Shape 9"/>
          <p:cNvSpPr/>
          <p:nvPr/>
        </p:nvSpPr>
        <p:spPr>
          <a:xfrm>
            <a:off x="4206240" y="2011680"/>
            <a:ext cx="320040" cy="0"/>
          </a:xfrm>
          <a:prstGeom prst="line">
            <a:avLst/>
          </a:prstGeom>
          <a:noFill/>
          <a:ln w="15875">
            <a:solidFill>
              <a:srgbClr val="9C9C9C"/>
            </a:solidFill>
            <a:prstDash val="solid"/>
          </a:ln>
        </p:spPr>
      </p:sp>
      <p:sp>
        <p:nvSpPr>
          <p:cNvPr id="13" name="Shape 10"/>
          <p:cNvSpPr/>
          <p:nvPr/>
        </p:nvSpPr>
        <p:spPr>
          <a:xfrm>
            <a:off x="4526280" y="1417320"/>
            <a:ext cx="0" cy="1645920"/>
          </a:xfrm>
          <a:prstGeom prst="line">
            <a:avLst/>
          </a:prstGeom>
          <a:noFill/>
          <a:ln w="15875">
            <a:solidFill>
              <a:srgbClr val="9C9C9C"/>
            </a:solidFill>
            <a:prstDash val="solid"/>
          </a:ln>
        </p:spPr>
      </p:sp>
      <p:sp>
        <p:nvSpPr>
          <p:cNvPr id="14" name="Shape 11"/>
          <p:cNvSpPr/>
          <p:nvPr/>
        </p:nvSpPr>
        <p:spPr>
          <a:xfrm>
            <a:off x="4526280" y="1417320"/>
            <a:ext cx="365760" cy="0"/>
          </a:xfrm>
          <a:prstGeom prst="line">
            <a:avLst/>
          </a:prstGeom>
          <a:noFill/>
          <a:ln w="15875">
            <a:solidFill>
              <a:srgbClr val="9C9C9C"/>
            </a:solidFill>
            <a:prstDash val="solid"/>
          </a:ln>
        </p:spPr>
      </p:sp>
      <p:sp>
        <p:nvSpPr>
          <p:cNvPr id="15" name="Shape 12"/>
          <p:cNvSpPr/>
          <p:nvPr/>
        </p:nvSpPr>
        <p:spPr>
          <a:xfrm>
            <a:off x="4526280" y="3063240"/>
            <a:ext cx="365760" cy="0"/>
          </a:xfrm>
          <a:prstGeom prst="line">
            <a:avLst/>
          </a:prstGeom>
          <a:noFill/>
          <a:ln w="15875">
            <a:solidFill>
              <a:srgbClr val="9C9C9C"/>
            </a:solidFill>
            <a:prstDash val="solid"/>
          </a:ln>
        </p:spPr>
      </p:sp>
      <p:sp>
        <p:nvSpPr>
          <p:cNvPr id="16" name="Shape 13"/>
          <p:cNvSpPr/>
          <p:nvPr/>
        </p:nvSpPr>
        <p:spPr>
          <a:xfrm>
            <a:off x="4892040" y="1051560"/>
            <a:ext cx="2148840" cy="731520"/>
          </a:xfrm>
          <a:prstGeom prst="roundRect">
            <a:avLst>
              <a:gd name="adj" fmla="val 10000"/>
            </a:avLst>
          </a:prstGeom>
          <a:solidFill>
            <a:srgbClr val="FDEBD3"/>
          </a:solidFill>
          <a:ln w="12700">
            <a:solidFill>
              <a:srgbClr val="8C8C8C"/>
            </a:solidFill>
            <a:prstDash val="solid"/>
          </a:ln>
        </p:spPr>
      </p:sp>
      <p:sp>
        <p:nvSpPr>
          <p:cNvPr id="17" name="Text 14"/>
          <p:cNvSpPr txBox="1"/>
          <p:nvPr/>
        </p:nvSpPr>
        <p:spPr>
          <a:xfrm>
            <a:off x="4892040" y="1051560"/>
            <a:ext cx="2148840" cy="731520"/>
          </a:xfrm>
          <a:prstGeom prst="rect">
            <a:avLst/>
          </a:prstGeom>
          <a:noFill/>
          <a:ln/>
        </p:spPr>
        <p:txBody>
          <a:bodyPr wrap="square" lIns="50800" tIns="50800" rIns="50800" bIns="50800" rtlCol="0" anchor="ctr"/>
          <a:lstStyle/>
          <a:p>
            <a:pPr marL="0" indent="0" algn="ctr">
              <a:buNone/>
            </a:pPr>
            <a:r>
              <a:rPr lang="en-US" sz="1150" dirty="0">
                <a:solidFill>
                  <a:srgbClr val="000000"/>
                </a:solidFill>
                <a:latin typeface="Calibri" pitchFamily="34" charset="0"/>
                <a:ea typeface="Calibri" pitchFamily="34" charset="-122"/>
                <a:cs typeface="Calibri" pitchFamily="34" charset="-120"/>
              </a:rPr>
              <a:t>Model Uncertainty</a:t>
            </a:r>
            <a:endParaRPr lang="en-US" sz="1150" dirty="0"/>
          </a:p>
          <a:p>
            <a:pPr marL="0" indent="0" algn="ctr">
              <a:buNone/>
            </a:pPr>
            <a:r>
              <a:rPr lang="en-US" sz="1150" dirty="0">
                <a:solidFill>
                  <a:srgbClr val="000000"/>
                </a:solidFill>
                <a:latin typeface="Calibri" pitchFamily="34" charset="0"/>
                <a:ea typeface="Calibri" pitchFamily="34" charset="-122"/>
                <a:cs typeface="Calibri" pitchFamily="34" charset="-120"/>
              </a:rPr>
              <a:t>(feature-space distance)</a:t>
            </a:r>
            <a:endParaRPr lang="en-US" sz="1150" dirty="0"/>
          </a:p>
        </p:txBody>
      </p:sp>
      <p:sp>
        <p:nvSpPr>
          <p:cNvPr id="18" name="Shape 15"/>
          <p:cNvSpPr/>
          <p:nvPr/>
        </p:nvSpPr>
        <p:spPr>
          <a:xfrm>
            <a:off x="4892040" y="2697480"/>
            <a:ext cx="2148840" cy="731520"/>
          </a:xfrm>
          <a:prstGeom prst="roundRect">
            <a:avLst>
              <a:gd name="adj" fmla="val 10000"/>
            </a:avLst>
          </a:prstGeom>
          <a:solidFill>
            <a:srgbClr val="FDEBD3"/>
          </a:solidFill>
          <a:ln w="12700">
            <a:solidFill>
              <a:srgbClr val="8C8C8C"/>
            </a:solidFill>
            <a:prstDash val="solid"/>
          </a:ln>
        </p:spPr>
      </p:sp>
      <p:sp>
        <p:nvSpPr>
          <p:cNvPr id="19" name="Text 16"/>
          <p:cNvSpPr txBox="1"/>
          <p:nvPr/>
        </p:nvSpPr>
        <p:spPr>
          <a:xfrm>
            <a:off x="4892040" y="2697480"/>
            <a:ext cx="2148840" cy="731520"/>
          </a:xfrm>
          <a:prstGeom prst="rect">
            <a:avLst/>
          </a:prstGeom>
          <a:noFill/>
          <a:ln/>
        </p:spPr>
        <p:txBody>
          <a:bodyPr wrap="square" lIns="50800" tIns="50800" rIns="50800" bIns="50800" rtlCol="0" anchor="ctr"/>
          <a:lstStyle/>
          <a:p>
            <a:pPr marL="0" indent="0" algn="ctr">
              <a:buNone/>
            </a:pPr>
            <a:r>
              <a:rPr lang="en-US" sz="1150" dirty="0">
                <a:solidFill>
                  <a:srgbClr val="000000"/>
                </a:solidFill>
                <a:latin typeface="Calibri" pitchFamily="34" charset="0"/>
                <a:ea typeface="Calibri" pitchFamily="34" charset="-122"/>
                <a:cs typeface="Calibri" pitchFamily="34" charset="-120"/>
              </a:rPr>
              <a:t>Sensor-Quality Signals</a:t>
            </a:r>
            <a:endParaRPr lang="en-US" sz="1150" dirty="0"/>
          </a:p>
          <a:p>
            <a:pPr marL="0" indent="0" algn="ctr">
              <a:buNone/>
            </a:pPr>
            <a:r>
              <a:rPr lang="en-US" sz="1150" dirty="0">
                <a:solidFill>
                  <a:srgbClr val="000000"/>
                </a:solidFill>
                <a:latin typeface="Calibri" pitchFamily="34" charset="0"/>
                <a:ea typeface="Calibri" pitchFamily="34" charset="-122"/>
                <a:cs typeface="Calibri" pitchFamily="34" charset="-120"/>
              </a:rPr>
              <a:t>(blur / noise / exposure)</a:t>
            </a:r>
            <a:endParaRPr lang="en-US" sz="1150" dirty="0"/>
          </a:p>
        </p:txBody>
      </p:sp>
      <p:sp>
        <p:nvSpPr>
          <p:cNvPr id="20" name="Shape 17"/>
          <p:cNvSpPr/>
          <p:nvPr/>
        </p:nvSpPr>
        <p:spPr>
          <a:xfrm>
            <a:off x="7040880" y="1417320"/>
            <a:ext cx="274320" cy="0"/>
          </a:xfrm>
          <a:prstGeom prst="line">
            <a:avLst/>
          </a:prstGeom>
          <a:noFill/>
          <a:ln w="15875">
            <a:solidFill>
              <a:srgbClr val="9C9C9C"/>
            </a:solidFill>
            <a:prstDash val="solid"/>
          </a:ln>
        </p:spPr>
      </p:sp>
      <p:sp>
        <p:nvSpPr>
          <p:cNvPr id="21" name="Shape 18"/>
          <p:cNvSpPr/>
          <p:nvPr/>
        </p:nvSpPr>
        <p:spPr>
          <a:xfrm>
            <a:off x="7040880" y="3063240"/>
            <a:ext cx="274320" cy="0"/>
          </a:xfrm>
          <a:prstGeom prst="line">
            <a:avLst/>
          </a:prstGeom>
          <a:noFill/>
          <a:ln w="15875">
            <a:solidFill>
              <a:srgbClr val="9C9C9C"/>
            </a:solidFill>
            <a:prstDash val="solid"/>
          </a:ln>
        </p:spPr>
      </p:sp>
      <p:sp>
        <p:nvSpPr>
          <p:cNvPr id="22" name="Shape 19"/>
          <p:cNvSpPr/>
          <p:nvPr/>
        </p:nvSpPr>
        <p:spPr>
          <a:xfrm>
            <a:off x="7315200" y="1417320"/>
            <a:ext cx="0" cy="1645920"/>
          </a:xfrm>
          <a:prstGeom prst="line">
            <a:avLst/>
          </a:prstGeom>
          <a:noFill/>
          <a:ln w="15875">
            <a:solidFill>
              <a:srgbClr val="9C9C9C"/>
            </a:solidFill>
            <a:prstDash val="solid"/>
          </a:ln>
        </p:spPr>
      </p:sp>
      <p:sp>
        <p:nvSpPr>
          <p:cNvPr id="23" name="Shape 20"/>
          <p:cNvSpPr/>
          <p:nvPr/>
        </p:nvSpPr>
        <p:spPr>
          <a:xfrm>
            <a:off x="7315200" y="2240280"/>
            <a:ext cx="320040" cy="0"/>
          </a:xfrm>
          <a:prstGeom prst="line">
            <a:avLst/>
          </a:prstGeom>
          <a:noFill/>
          <a:ln w="15875">
            <a:solidFill>
              <a:srgbClr val="9C9C9C"/>
            </a:solidFill>
            <a:prstDash val="solid"/>
          </a:ln>
        </p:spPr>
      </p:sp>
      <p:sp>
        <p:nvSpPr>
          <p:cNvPr id="24" name="Shape 21"/>
          <p:cNvSpPr/>
          <p:nvPr/>
        </p:nvSpPr>
        <p:spPr>
          <a:xfrm>
            <a:off x="7635240" y="1783080"/>
            <a:ext cx="1874520" cy="914400"/>
          </a:xfrm>
          <a:prstGeom prst="roundRect">
            <a:avLst>
              <a:gd name="adj" fmla="val 8000"/>
            </a:avLst>
          </a:prstGeom>
          <a:solidFill>
            <a:srgbClr val="D9D9D9"/>
          </a:solidFill>
          <a:ln w="12700">
            <a:solidFill>
              <a:srgbClr val="8C8C8C"/>
            </a:solidFill>
            <a:prstDash val="solid"/>
          </a:ln>
        </p:spPr>
      </p:sp>
      <p:sp>
        <p:nvSpPr>
          <p:cNvPr id="25" name="Text 22"/>
          <p:cNvSpPr txBox="1"/>
          <p:nvPr/>
        </p:nvSpPr>
        <p:spPr>
          <a:xfrm>
            <a:off x="7635240" y="1783080"/>
            <a:ext cx="1874520" cy="914400"/>
          </a:xfrm>
          <a:prstGeom prst="rect">
            <a:avLst/>
          </a:prstGeom>
          <a:noFill/>
          <a:ln/>
        </p:spPr>
        <p:txBody>
          <a:bodyPr wrap="square" lIns="50800" tIns="50800" rIns="50800" bIns="50800" rtlCol="0" anchor="ctr"/>
          <a:lstStyle/>
          <a:p>
            <a:pPr marL="0" indent="0" algn="ctr">
              <a:buNone/>
            </a:pPr>
            <a:r>
              <a:rPr lang="en-US" sz="1150" dirty="0">
                <a:solidFill>
                  <a:srgbClr val="000000"/>
                </a:solidFill>
                <a:latin typeface="Calibri" pitchFamily="34" charset="0"/>
                <a:ea typeface="Calibri" pitchFamily="34" charset="-122"/>
                <a:cs typeface="Calibri" pitchFamily="34" charset="-120"/>
              </a:rPr>
              <a:t>Fusion &amp; Risk</a:t>
            </a:r>
            <a:endParaRPr lang="en-US" sz="1150" dirty="0"/>
          </a:p>
          <a:p>
            <a:pPr marL="0" indent="0" algn="ctr">
              <a:buNone/>
            </a:pPr>
            <a:r>
              <a:rPr lang="en-US" sz="1150" dirty="0">
                <a:solidFill>
                  <a:srgbClr val="000000"/>
                </a:solidFill>
                <a:latin typeface="Calibri" pitchFamily="34" charset="0"/>
                <a:ea typeface="Calibri" pitchFamily="34" charset="-122"/>
                <a:cs typeface="Calibri" pitchFamily="34" charset="-120"/>
              </a:rPr>
              <a:t>Scoring</a:t>
            </a:r>
            <a:endParaRPr lang="en-US" sz="1150" dirty="0"/>
          </a:p>
          <a:p>
            <a:pPr marL="0" indent="0" algn="ctr">
              <a:buNone/>
            </a:pPr>
            <a:r>
              <a:rPr lang="en-US" sz="1150" dirty="0">
                <a:solidFill>
                  <a:srgbClr val="000000"/>
                </a:solidFill>
                <a:latin typeface="Calibri" pitchFamily="34" charset="0"/>
                <a:ea typeface="Calibri" pitchFamily="34" charset="-122"/>
                <a:cs typeface="Calibri" pitchFamily="34" charset="-120"/>
              </a:rPr>
              <a:t>(learned weights)</a:t>
            </a:r>
            <a:endParaRPr lang="en-US" sz="1150" dirty="0"/>
          </a:p>
        </p:txBody>
      </p:sp>
      <p:sp>
        <p:nvSpPr>
          <p:cNvPr id="26" name="Shape 23"/>
          <p:cNvSpPr/>
          <p:nvPr/>
        </p:nvSpPr>
        <p:spPr>
          <a:xfrm>
            <a:off x="9555480" y="2167128"/>
            <a:ext cx="320040" cy="146304"/>
          </a:xfrm>
          <a:prstGeom prst="rightArrow">
            <a:avLst/>
          </a:prstGeom>
          <a:solidFill>
            <a:srgbClr val="9C9C9C"/>
          </a:solidFill>
          <a:ln w="12700">
            <a:solidFill>
              <a:srgbClr val="9C9C9C"/>
            </a:solidFill>
            <a:prstDash val="solid"/>
          </a:ln>
        </p:spPr>
      </p:sp>
      <p:sp>
        <p:nvSpPr>
          <p:cNvPr id="27" name="Shape 24"/>
          <p:cNvSpPr/>
          <p:nvPr/>
        </p:nvSpPr>
        <p:spPr>
          <a:xfrm>
            <a:off x="9921240" y="1783080"/>
            <a:ext cx="1371600" cy="914400"/>
          </a:xfrm>
          <a:prstGeom prst="roundRect">
            <a:avLst>
              <a:gd name="adj" fmla="val 8000"/>
            </a:avLst>
          </a:prstGeom>
          <a:solidFill>
            <a:srgbClr val="BFBFBF"/>
          </a:solidFill>
          <a:ln w="12700">
            <a:solidFill>
              <a:srgbClr val="8C8C8C"/>
            </a:solidFill>
            <a:prstDash val="solid"/>
          </a:ln>
        </p:spPr>
      </p:sp>
      <p:sp>
        <p:nvSpPr>
          <p:cNvPr id="28" name="Text 25"/>
          <p:cNvSpPr txBox="1"/>
          <p:nvPr/>
        </p:nvSpPr>
        <p:spPr>
          <a:xfrm>
            <a:off x="9921240" y="1783080"/>
            <a:ext cx="1371600" cy="914400"/>
          </a:xfrm>
          <a:prstGeom prst="rect">
            <a:avLst/>
          </a:prstGeom>
          <a:noFill/>
          <a:ln/>
        </p:spPr>
        <p:txBody>
          <a:bodyPr wrap="square" lIns="50800" tIns="50800" rIns="50800" bIns="50800" rtlCol="0" anchor="ctr"/>
          <a:lstStyle/>
          <a:p>
            <a:pPr marL="0" indent="0" algn="ctr">
              <a:buNone/>
            </a:pPr>
            <a:r>
              <a:rPr lang="en-US" sz="1150" dirty="0">
                <a:solidFill>
                  <a:srgbClr val="000000"/>
                </a:solidFill>
                <a:latin typeface="Calibri" pitchFamily="34" charset="0"/>
                <a:ea typeface="Calibri" pitchFamily="34" charset="-122"/>
                <a:cs typeface="Calibri" pitchFamily="34" charset="-120"/>
              </a:rPr>
              <a:t>Decision</a:t>
            </a:r>
            <a:endParaRPr lang="en-US" sz="1150" dirty="0"/>
          </a:p>
          <a:p>
            <a:pPr marL="0" indent="0" algn="ctr">
              <a:buNone/>
            </a:pPr>
            <a:r>
              <a:rPr lang="en-US" sz="1150" dirty="0">
                <a:solidFill>
                  <a:srgbClr val="000000"/>
                </a:solidFill>
                <a:latin typeface="Calibri" pitchFamily="34" charset="0"/>
                <a:ea typeface="Calibri" pitchFamily="34" charset="-122"/>
                <a:cs typeface="Calibri" pitchFamily="34" charset="-120"/>
              </a:rPr>
              <a:t>Policy</a:t>
            </a:r>
            <a:endParaRPr lang="en-US" sz="1150" dirty="0"/>
          </a:p>
        </p:txBody>
      </p:sp>
      <p:sp>
        <p:nvSpPr>
          <p:cNvPr id="29" name="Shape 26"/>
          <p:cNvSpPr/>
          <p:nvPr/>
        </p:nvSpPr>
        <p:spPr>
          <a:xfrm>
            <a:off x="10607040" y="2697480"/>
            <a:ext cx="0" cy="960120"/>
          </a:xfrm>
          <a:prstGeom prst="line">
            <a:avLst/>
          </a:prstGeom>
          <a:noFill/>
          <a:ln w="15875">
            <a:solidFill>
              <a:srgbClr val="9C9C9C"/>
            </a:solidFill>
            <a:prstDash val="solid"/>
          </a:ln>
        </p:spPr>
      </p:sp>
      <p:sp>
        <p:nvSpPr>
          <p:cNvPr id="30" name="Shape 27"/>
          <p:cNvSpPr/>
          <p:nvPr/>
        </p:nvSpPr>
        <p:spPr>
          <a:xfrm>
            <a:off x="5852160" y="3657600"/>
            <a:ext cx="4754880" cy="0"/>
          </a:xfrm>
          <a:prstGeom prst="line">
            <a:avLst/>
          </a:prstGeom>
          <a:noFill/>
          <a:ln w="15875">
            <a:solidFill>
              <a:srgbClr val="9C9C9C"/>
            </a:solidFill>
            <a:prstDash val="solid"/>
          </a:ln>
        </p:spPr>
      </p:sp>
      <p:sp>
        <p:nvSpPr>
          <p:cNvPr id="31" name="Shape 28"/>
          <p:cNvSpPr/>
          <p:nvPr/>
        </p:nvSpPr>
        <p:spPr>
          <a:xfrm>
            <a:off x="5852160" y="3657600"/>
            <a:ext cx="0" cy="502920"/>
          </a:xfrm>
          <a:prstGeom prst="line">
            <a:avLst/>
          </a:prstGeom>
          <a:noFill/>
          <a:ln w="15875">
            <a:solidFill>
              <a:srgbClr val="9C9C9C"/>
            </a:solidFill>
            <a:prstDash val="solid"/>
          </a:ln>
        </p:spPr>
      </p:sp>
      <p:sp>
        <p:nvSpPr>
          <p:cNvPr id="32" name="Shape 29"/>
          <p:cNvSpPr/>
          <p:nvPr/>
        </p:nvSpPr>
        <p:spPr>
          <a:xfrm>
            <a:off x="2148840" y="4160520"/>
            <a:ext cx="7406640" cy="0"/>
          </a:xfrm>
          <a:prstGeom prst="line">
            <a:avLst/>
          </a:prstGeom>
          <a:noFill/>
          <a:ln w="15875">
            <a:solidFill>
              <a:srgbClr val="9C9C9C"/>
            </a:solidFill>
            <a:prstDash val="solid"/>
          </a:ln>
        </p:spPr>
      </p:sp>
      <p:sp>
        <p:nvSpPr>
          <p:cNvPr id="33" name="Shape 30"/>
          <p:cNvSpPr/>
          <p:nvPr/>
        </p:nvSpPr>
        <p:spPr>
          <a:xfrm>
            <a:off x="2148840" y="4160520"/>
            <a:ext cx="0" cy="411480"/>
          </a:xfrm>
          <a:prstGeom prst="line">
            <a:avLst/>
          </a:prstGeom>
          <a:noFill/>
          <a:ln w="15875">
            <a:solidFill>
              <a:srgbClr val="9C9C9C"/>
            </a:solidFill>
            <a:prstDash val="solid"/>
          </a:ln>
        </p:spPr>
      </p:sp>
      <p:sp>
        <p:nvSpPr>
          <p:cNvPr id="34" name="Shape 31"/>
          <p:cNvSpPr/>
          <p:nvPr/>
        </p:nvSpPr>
        <p:spPr>
          <a:xfrm>
            <a:off x="4617720" y="4160520"/>
            <a:ext cx="0" cy="411480"/>
          </a:xfrm>
          <a:prstGeom prst="line">
            <a:avLst/>
          </a:prstGeom>
          <a:noFill/>
          <a:ln w="15875">
            <a:solidFill>
              <a:srgbClr val="9C9C9C"/>
            </a:solidFill>
            <a:prstDash val="solid"/>
          </a:ln>
        </p:spPr>
      </p:sp>
      <p:sp>
        <p:nvSpPr>
          <p:cNvPr id="35" name="Shape 32"/>
          <p:cNvSpPr/>
          <p:nvPr/>
        </p:nvSpPr>
        <p:spPr>
          <a:xfrm>
            <a:off x="7086600" y="4160520"/>
            <a:ext cx="0" cy="411480"/>
          </a:xfrm>
          <a:prstGeom prst="line">
            <a:avLst/>
          </a:prstGeom>
          <a:noFill/>
          <a:ln w="15875">
            <a:solidFill>
              <a:srgbClr val="9C9C9C"/>
            </a:solidFill>
            <a:prstDash val="solid"/>
          </a:ln>
        </p:spPr>
      </p:sp>
      <p:sp>
        <p:nvSpPr>
          <p:cNvPr id="36" name="Shape 33"/>
          <p:cNvSpPr/>
          <p:nvPr/>
        </p:nvSpPr>
        <p:spPr>
          <a:xfrm>
            <a:off x="9555480" y="4160520"/>
            <a:ext cx="0" cy="411480"/>
          </a:xfrm>
          <a:prstGeom prst="line">
            <a:avLst/>
          </a:prstGeom>
          <a:noFill/>
          <a:ln w="15875">
            <a:solidFill>
              <a:srgbClr val="9C9C9C"/>
            </a:solidFill>
            <a:prstDash val="solid"/>
          </a:ln>
        </p:spPr>
      </p:sp>
      <p:sp>
        <p:nvSpPr>
          <p:cNvPr id="37" name="Shape 34"/>
          <p:cNvSpPr/>
          <p:nvPr/>
        </p:nvSpPr>
        <p:spPr>
          <a:xfrm>
            <a:off x="1051560" y="4572000"/>
            <a:ext cx="2194560" cy="777240"/>
          </a:xfrm>
          <a:prstGeom prst="roundRect">
            <a:avLst>
              <a:gd name="adj" fmla="val 9412"/>
            </a:avLst>
          </a:prstGeom>
          <a:solidFill>
            <a:srgbClr val="FFFFFF"/>
          </a:solidFill>
          <a:ln w="12700">
            <a:solidFill>
              <a:srgbClr val="8C8C8C"/>
            </a:solidFill>
            <a:prstDash val="solid"/>
          </a:ln>
        </p:spPr>
      </p:sp>
      <p:sp>
        <p:nvSpPr>
          <p:cNvPr id="38" name="Text 35"/>
          <p:cNvSpPr txBox="1"/>
          <p:nvPr/>
        </p:nvSpPr>
        <p:spPr>
          <a:xfrm>
            <a:off x="1051560" y="4572000"/>
            <a:ext cx="2194560" cy="777240"/>
          </a:xfrm>
          <a:prstGeom prst="rect">
            <a:avLst/>
          </a:prstGeom>
          <a:noFill/>
          <a:ln/>
        </p:spPr>
        <p:txBody>
          <a:bodyPr wrap="square" lIns="50800" tIns="50800" rIns="50800" bIns="50800" rtlCol="0" anchor="ctr"/>
          <a:lstStyle/>
          <a:p>
            <a:pPr marL="0" indent="0" algn="ctr">
              <a:buNone/>
            </a:pPr>
            <a:r>
              <a:rPr lang="en-US" sz="1150" dirty="0">
                <a:solidFill>
                  <a:srgbClr val="000000"/>
                </a:solidFill>
                <a:latin typeface="Calibri" pitchFamily="34" charset="0"/>
                <a:ea typeface="Calibri" pitchFamily="34" charset="-122"/>
                <a:cs typeface="Calibri" pitchFamily="34" charset="-120"/>
              </a:rPr>
              <a:t>Accept</a:t>
            </a:r>
            <a:endParaRPr lang="en-US" sz="1150" dirty="0"/>
          </a:p>
        </p:txBody>
      </p:sp>
      <p:sp>
        <p:nvSpPr>
          <p:cNvPr id="39" name="Shape 36"/>
          <p:cNvSpPr/>
          <p:nvPr/>
        </p:nvSpPr>
        <p:spPr>
          <a:xfrm>
            <a:off x="3520440" y="4572000"/>
            <a:ext cx="2194560" cy="777240"/>
          </a:xfrm>
          <a:prstGeom prst="roundRect">
            <a:avLst>
              <a:gd name="adj" fmla="val 9412"/>
            </a:avLst>
          </a:prstGeom>
          <a:solidFill>
            <a:srgbClr val="FFFFFF"/>
          </a:solidFill>
          <a:ln w="12700">
            <a:solidFill>
              <a:srgbClr val="8C8C8C"/>
            </a:solidFill>
            <a:prstDash val="solid"/>
          </a:ln>
        </p:spPr>
      </p:sp>
      <p:sp>
        <p:nvSpPr>
          <p:cNvPr id="40" name="Text 37"/>
          <p:cNvSpPr txBox="1"/>
          <p:nvPr/>
        </p:nvSpPr>
        <p:spPr>
          <a:xfrm>
            <a:off x="3520440" y="4572000"/>
            <a:ext cx="2194560" cy="777240"/>
          </a:xfrm>
          <a:prstGeom prst="rect">
            <a:avLst/>
          </a:prstGeom>
          <a:noFill/>
          <a:ln/>
        </p:spPr>
        <p:txBody>
          <a:bodyPr wrap="square" lIns="50800" tIns="50800" rIns="50800" bIns="50800" rtlCol="0" anchor="ctr"/>
          <a:lstStyle/>
          <a:p>
            <a:pPr marL="0" indent="0" algn="ctr">
              <a:buNone/>
            </a:pPr>
            <a:r>
              <a:rPr lang="en-US" sz="1150" dirty="0">
                <a:solidFill>
                  <a:srgbClr val="000000"/>
                </a:solidFill>
                <a:latin typeface="Calibri" pitchFamily="34" charset="0"/>
                <a:ea typeface="Calibri" pitchFamily="34" charset="-122"/>
                <a:cs typeface="Calibri" pitchFamily="34" charset="-120"/>
              </a:rPr>
              <a:t>Request more</a:t>
            </a:r>
            <a:endParaRPr lang="en-US" sz="1150" dirty="0"/>
          </a:p>
          <a:p>
            <a:pPr marL="0" indent="0" algn="ctr">
              <a:buNone/>
            </a:pPr>
            <a:r>
              <a:rPr lang="en-US" sz="1150" dirty="0">
                <a:solidFill>
                  <a:srgbClr val="000000"/>
                </a:solidFill>
                <a:latin typeface="Calibri" pitchFamily="34" charset="0"/>
                <a:ea typeface="Calibri" pitchFamily="34" charset="-122"/>
                <a:cs typeface="Calibri" pitchFamily="34" charset="-120"/>
              </a:rPr>
              <a:t>sensing</a:t>
            </a:r>
            <a:endParaRPr lang="en-US" sz="1150" dirty="0"/>
          </a:p>
        </p:txBody>
      </p:sp>
      <p:sp>
        <p:nvSpPr>
          <p:cNvPr id="41" name="Shape 38"/>
          <p:cNvSpPr/>
          <p:nvPr/>
        </p:nvSpPr>
        <p:spPr>
          <a:xfrm>
            <a:off x="5989320" y="4572000"/>
            <a:ext cx="2194560" cy="777240"/>
          </a:xfrm>
          <a:prstGeom prst="roundRect">
            <a:avLst>
              <a:gd name="adj" fmla="val 9412"/>
            </a:avLst>
          </a:prstGeom>
          <a:solidFill>
            <a:srgbClr val="FFFFFF"/>
          </a:solidFill>
          <a:ln w="12700">
            <a:solidFill>
              <a:srgbClr val="8C8C8C"/>
            </a:solidFill>
            <a:prstDash val="solid"/>
          </a:ln>
        </p:spPr>
      </p:sp>
      <p:sp>
        <p:nvSpPr>
          <p:cNvPr id="42" name="Text 39"/>
          <p:cNvSpPr txBox="1"/>
          <p:nvPr/>
        </p:nvSpPr>
        <p:spPr>
          <a:xfrm>
            <a:off x="5989320" y="4572000"/>
            <a:ext cx="2194560" cy="777240"/>
          </a:xfrm>
          <a:prstGeom prst="rect">
            <a:avLst/>
          </a:prstGeom>
          <a:noFill/>
          <a:ln/>
        </p:spPr>
        <p:txBody>
          <a:bodyPr wrap="square" lIns="50800" tIns="50800" rIns="50800" bIns="50800" rtlCol="0" anchor="ctr"/>
          <a:lstStyle/>
          <a:p>
            <a:pPr marL="0" indent="0" algn="ctr">
              <a:buNone/>
            </a:pPr>
            <a:r>
              <a:rPr lang="en-US" sz="1150" dirty="0">
                <a:solidFill>
                  <a:srgbClr val="000000"/>
                </a:solidFill>
                <a:latin typeface="Calibri" pitchFamily="34" charset="0"/>
                <a:ea typeface="Calibri" pitchFamily="34" charset="-122"/>
                <a:cs typeface="Calibri" pitchFamily="34" charset="-120"/>
              </a:rPr>
              <a:t>Switch to</a:t>
            </a:r>
            <a:endParaRPr lang="en-US" sz="1150" dirty="0"/>
          </a:p>
          <a:p>
            <a:pPr marL="0" indent="0" algn="ctr">
              <a:buNone/>
            </a:pPr>
            <a:r>
              <a:rPr lang="en-US" sz="1150" dirty="0">
                <a:solidFill>
                  <a:srgbClr val="000000"/>
                </a:solidFill>
                <a:latin typeface="Calibri" pitchFamily="34" charset="0"/>
                <a:ea typeface="Calibri" pitchFamily="34" charset="-122"/>
                <a:cs typeface="Calibri" pitchFamily="34" charset="-120"/>
              </a:rPr>
              <a:t>backup model</a:t>
            </a:r>
            <a:endParaRPr lang="en-US" sz="1150" dirty="0"/>
          </a:p>
        </p:txBody>
      </p:sp>
      <p:sp>
        <p:nvSpPr>
          <p:cNvPr id="43" name="Shape 40"/>
          <p:cNvSpPr/>
          <p:nvPr/>
        </p:nvSpPr>
        <p:spPr>
          <a:xfrm>
            <a:off x="8458200" y="4572000"/>
            <a:ext cx="2194560" cy="777240"/>
          </a:xfrm>
          <a:prstGeom prst="roundRect">
            <a:avLst>
              <a:gd name="adj" fmla="val 9412"/>
            </a:avLst>
          </a:prstGeom>
          <a:solidFill>
            <a:srgbClr val="FFFFFF"/>
          </a:solidFill>
          <a:ln w="12700">
            <a:solidFill>
              <a:srgbClr val="8C8C8C"/>
            </a:solidFill>
            <a:prstDash val="solid"/>
          </a:ln>
        </p:spPr>
      </p:sp>
      <p:sp>
        <p:nvSpPr>
          <p:cNvPr id="44" name="Text 41"/>
          <p:cNvSpPr txBox="1"/>
          <p:nvPr/>
        </p:nvSpPr>
        <p:spPr>
          <a:xfrm>
            <a:off x="8458200" y="4572000"/>
            <a:ext cx="2194560" cy="777240"/>
          </a:xfrm>
          <a:prstGeom prst="rect">
            <a:avLst/>
          </a:prstGeom>
          <a:noFill/>
          <a:ln/>
        </p:spPr>
        <p:txBody>
          <a:bodyPr wrap="square" lIns="50800" tIns="50800" rIns="50800" bIns="50800" rtlCol="0" anchor="ctr"/>
          <a:lstStyle/>
          <a:p>
            <a:pPr marL="0" indent="0" algn="ctr">
              <a:buNone/>
            </a:pPr>
            <a:r>
              <a:rPr lang="en-US" sz="1150" dirty="0">
                <a:solidFill>
                  <a:srgbClr val="000000"/>
                </a:solidFill>
                <a:latin typeface="Calibri" pitchFamily="34" charset="0"/>
                <a:ea typeface="Calibri" pitchFamily="34" charset="-122"/>
                <a:cs typeface="Calibri" pitchFamily="34" charset="-120"/>
              </a:rPr>
              <a:t>Defer</a:t>
            </a:r>
            <a:endParaRPr lang="en-US" sz="1150" dirty="0"/>
          </a:p>
          <a:p>
            <a:pPr marL="0" indent="0" algn="ctr">
              <a:buNone/>
            </a:pPr>
            <a:r>
              <a:rPr lang="en-US" sz="1150" dirty="0">
                <a:solidFill>
                  <a:srgbClr val="000000"/>
                </a:solidFill>
                <a:latin typeface="Calibri" pitchFamily="34" charset="0"/>
                <a:ea typeface="Calibri" pitchFamily="34" charset="-122"/>
                <a:cs typeface="Calibri" pitchFamily="34" charset="-120"/>
              </a:rPr>
              <a:t>prediction</a:t>
            </a:r>
            <a:endParaRPr lang="en-US" sz="1150" dirty="0"/>
          </a:p>
        </p:txBody>
      </p:sp>
      <p:sp>
        <p:nvSpPr>
          <p:cNvPr id="45" name="Text 42"/>
          <p:cNvSpPr txBox="1"/>
          <p:nvPr/>
        </p:nvSpPr>
        <p:spPr>
          <a:xfrm>
            <a:off x="411480" y="5513832"/>
            <a:ext cx="11368735" cy="411480"/>
          </a:xfrm>
          <a:prstGeom prst="rect">
            <a:avLst/>
          </a:prstGeom>
          <a:noFill/>
          <a:ln/>
        </p:spPr>
        <p:txBody>
          <a:bodyPr wrap="square" lIns="0" tIns="0" rIns="0" bIns="0" rtlCol="0" anchor="ctr"/>
          <a:lstStyle/>
          <a:p>
            <a:pPr marL="0" indent="0">
              <a:buNone/>
            </a:pPr>
            <a:r>
              <a:rPr lang="en-US" sz="1200" i="1" dirty="0">
                <a:solidFill>
                  <a:srgbClr val="404040"/>
                </a:solidFill>
                <a:latin typeface="Calibri" pitchFamily="34" charset="0"/>
                <a:ea typeface="Calibri" pitchFamily="34" charset="-122"/>
                <a:cs typeface="Calibri" pitchFamily="34" charset="-120"/>
              </a:rPr>
              <a:t>Single forward pass through the base model produces both the prediction and two decoupled uncertainty signals, which are fused into one risk score that drives a graded decision policy.</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EBA87-DB44-9E84-67F7-4759C1FA657F}"/>
            </a:ext>
          </a:extLst>
        </p:cNvPr>
        <p:cNvGrpSpPr/>
        <p:nvPr/>
      </p:nvGrpSpPr>
      <p:grpSpPr>
        <a:xfrm>
          <a:off x="0" y="0"/>
          <a:ext cx="0" cy="0"/>
          <a:chOff x="0" y="0"/>
          <a:chExt cx="0" cy="0"/>
        </a:xfrm>
      </p:grpSpPr>
      <p:pic>
        <p:nvPicPr>
          <p:cNvPr id="2" name="Image 0" descr="/home/claude/work/unpacked/ppt/media/image1.png">
            <a:extLst>
              <a:ext uri="{FF2B5EF4-FFF2-40B4-BE49-F238E27FC236}">
                <a16:creationId xmlns:a16="http://schemas.microsoft.com/office/drawing/2014/main" id="{09F9693D-CFB6-0AA8-F52C-7C852B0B86A9}"/>
              </a:ext>
            </a:extLst>
          </p:cNvPr>
          <p:cNvPicPr>
            <a:picLocks noChangeAspect="1"/>
          </p:cNvPicPr>
          <p:nvPr/>
        </p:nvPicPr>
        <p:blipFill>
          <a:blip r:embed="rId3"/>
          <a:stretch>
            <a:fillRect/>
          </a:stretch>
        </p:blipFill>
        <p:spPr>
          <a:xfrm>
            <a:off x="10931652" y="186538"/>
            <a:ext cx="1048817" cy="676656"/>
          </a:xfrm>
          <a:prstGeom prst="rect">
            <a:avLst/>
          </a:prstGeom>
        </p:spPr>
      </p:pic>
      <p:sp>
        <p:nvSpPr>
          <p:cNvPr id="3" name="Shape 0">
            <a:extLst>
              <a:ext uri="{FF2B5EF4-FFF2-40B4-BE49-F238E27FC236}">
                <a16:creationId xmlns:a16="http://schemas.microsoft.com/office/drawing/2014/main" id="{9E3F2D88-6ECD-5168-C6F9-57BA2000A5F2}"/>
              </a:ext>
            </a:extLst>
          </p:cNvPr>
          <p:cNvSpPr/>
          <p:nvPr/>
        </p:nvSpPr>
        <p:spPr>
          <a:xfrm flipV="1">
            <a:off x="6556" y="980630"/>
            <a:ext cx="12153585" cy="20876"/>
          </a:xfrm>
          <a:prstGeom prst="line">
            <a:avLst/>
          </a:prstGeom>
          <a:noFill/>
          <a:ln w="19050">
            <a:solidFill>
              <a:srgbClr val="AEABAB"/>
            </a:solidFill>
            <a:prstDash val="solid"/>
          </a:ln>
        </p:spPr>
      </p:sp>
      <p:sp>
        <p:nvSpPr>
          <p:cNvPr id="4" name="Text 1">
            <a:extLst>
              <a:ext uri="{FF2B5EF4-FFF2-40B4-BE49-F238E27FC236}">
                <a16:creationId xmlns:a16="http://schemas.microsoft.com/office/drawing/2014/main" id="{28DC5E94-6F2E-1465-8766-C3A89185F9C6}"/>
              </a:ext>
            </a:extLst>
          </p:cNvPr>
          <p:cNvSpPr txBox="1"/>
          <p:nvPr/>
        </p:nvSpPr>
        <p:spPr>
          <a:xfrm>
            <a:off x="274320" y="292608"/>
            <a:ext cx="9601200" cy="640080"/>
          </a:xfrm>
          <a:prstGeom prst="rect">
            <a:avLst/>
          </a:prstGeom>
          <a:noFill/>
          <a:ln/>
        </p:spPr>
        <p:txBody>
          <a:bodyPr wrap="square" lIns="0" tIns="0" rIns="0" bIns="0" rtlCol="0" anchor="ctr"/>
          <a:lstStyle/>
          <a:p>
            <a:r>
              <a:rPr lang="en-US" sz="2400" b="1" dirty="0">
                <a:solidFill>
                  <a:srgbClr val="000000"/>
                </a:solidFill>
                <a:latin typeface="Times New Roman"/>
                <a:ea typeface="Calibri"/>
                <a:cs typeface="Times New Roman"/>
              </a:rPr>
              <a:t>Functional Requirements :</a:t>
            </a:r>
            <a:endParaRPr lang="en-US" dirty="0"/>
          </a:p>
        </p:txBody>
      </p:sp>
      <p:sp>
        <p:nvSpPr>
          <p:cNvPr id="6" name="Text 3">
            <a:extLst>
              <a:ext uri="{FF2B5EF4-FFF2-40B4-BE49-F238E27FC236}">
                <a16:creationId xmlns:a16="http://schemas.microsoft.com/office/drawing/2014/main" id="{45D8E137-8759-D1E4-179F-540EA4C907C8}"/>
              </a:ext>
            </a:extLst>
          </p:cNvPr>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15</a:t>
            </a:r>
            <a:endParaRPr lang="en-US" sz="1000" dirty="0"/>
          </a:p>
        </p:txBody>
      </p:sp>
      <p:graphicFrame>
        <p:nvGraphicFramePr>
          <p:cNvPr id="50" name="Table 49">
            <a:extLst>
              <a:ext uri="{FF2B5EF4-FFF2-40B4-BE49-F238E27FC236}">
                <a16:creationId xmlns:a16="http://schemas.microsoft.com/office/drawing/2014/main" id="{891F09E6-70D8-7745-6D91-A3980F034C5B}"/>
              </a:ext>
            </a:extLst>
          </p:cNvPr>
          <p:cNvGraphicFramePr>
            <a:graphicFrameLocks noGrp="1"/>
          </p:cNvGraphicFramePr>
          <p:nvPr>
            <p:extLst>
              <p:ext uri="{D42A27DB-BD31-4B8C-83A1-F6EECF244321}">
                <p14:modId xmlns:p14="http://schemas.microsoft.com/office/powerpoint/2010/main" val="1685567255"/>
              </p:ext>
            </p:extLst>
          </p:nvPr>
        </p:nvGraphicFramePr>
        <p:xfrm>
          <a:off x="316302" y="1379939"/>
          <a:ext cx="11549527" cy="4480560"/>
        </p:xfrm>
        <a:graphic>
          <a:graphicData uri="http://schemas.openxmlformats.org/drawingml/2006/table">
            <a:tbl>
              <a:tblPr bandRow="1">
                <a:tableStyleId>{073A0DAA-6AF3-43AB-8588-CEC1D06C72B9}</a:tableStyleId>
              </a:tblPr>
              <a:tblGrid>
                <a:gridCol w="1389529">
                  <a:extLst>
                    <a:ext uri="{9D8B030D-6E8A-4147-A177-3AD203B41FA5}">
                      <a16:colId xmlns:a16="http://schemas.microsoft.com/office/drawing/2014/main" val="3737985048"/>
                    </a:ext>
                  </a:extLst>
                </a:gridCol>
                <a:gridCol w="4049057">
                  <a:extLst>
                    <a:ext uri="{9D8B030D-6E8A-4147-A177-3AD203B41FA5}">
                      <a16:colId xmlns:a16="http://schemas.microsoft.com/office/drawing/2014/main" val="1585142341"/>
                    </a:ext>
                  </a:extLst>
                </a:gridCol>
                <a:gridCol w="6110941">
                  <a:extLst>
                    <a:ext uri="{9D8B030D-6E8A-4147-A177-3AD203B41FA5}">
                      <a16:colId xmlns:a16="http://schemas.microsoft.com/office/drawing/2014/main" val="40462526"/>
                    </a:ext>
                  </a:extLst>
                </a:gridCol>
              </a:tblGrid>
              <a:tr h="0">
                <a:tc>
                  <a:txBody>
                    <a:bodyPr/>
                    <a:lstStyle/>
                    <a:p>
                      <a:pPr>
                        <a:buNone/>
                      </a:pPr>
                      <a:r>
                        <a:rPr lang="en-US" dirty="0">
                          <a:latin typeface="Times New Roman"/>
                          <a:cs typeface="Times New Roman"/>
                        </a:rPr>
                        <a:t>No.</a:t>
                      </a:r>
                    </a:p>
                  </a:txBody>
                  <a:tcPr anchor="ctr"/>
                </a:tc>
                <a:tc>
                  <a:txBody>
                    <a:bodyPr/>
                    <a:lstStyle/>
                    <a:p>
                      <a:pPr>
                        <a:buNone/>
                      </a:pPr>
                      <a:r>
                        <a:rPr lang="en-US" dirty="0">
                          <a:latin typeface="Times New Roman"/>
                          <a:cs typeface="Times New Roman"/>
                        </a:rPr>
                        <a:t>Requirement</a:t>
                      </a:r>
                    </a:p>
                  </a:txBody>
                  <a:tcPr anchor="ctr"/>
                </a:tc>
                <a:tc>
                  <a:txBody>
                    <a:bodyPr/>
                    <a:lstStyle/>
                    <a:p>
                      <a:pPr>
                        <a:buNone/>
                      </a:pPr>
                      <a:r>
                        <a:rPr lang="en-US" dirty="0">
                          <a:latin typeface="Times New Roman"/>
                          <a:cs typeface="Times New Roman"/>
                        </a:rPr>
                        <a:t>Description</a:t>
                      </a:r>
                    </a:p>
                  </a:txBody>
                  <a:tcPr anchor="ctr"/>
                </a:tc>
                <a:extLst>
                  <a:ext uri="{0D108BD9-81ED-4DB2-BD59-A6C34878D82A}">
                    <a16:rowId xmlns:a16="http://schemas.microsoft.com/office/drawing/2014/main" val="3241828943"/>
                  </a:ext>
                </a:extLst>
              </a:tr>
              <a:tr h="0">
                <a:tc>
                  <a:txBody>
                    <a:bodyPr/>
                    <a:lstStyle/>
                    <a:p>
                      <a:pPr>
                        <a:buNone/>
                      </a:pPr>
                      <a:r>
                        <a:rPr lang="en-US" dirty="0">
                          <a:latin typeface="Times New Roman"/>
                          <a:cs typeface="Times New Roman"/>
                        </a:rPr>
                        <a:t>FR1</a:t>
                      </a:r>
                    </a:p>
                  </a:txBody>
                  <a:tcPr anchor="ctr"/>
                </a:tc>
                <a:tc>
                  <a:txBody>
                    <a:bodyPr/>
                    <a:lstStyle/>
                    <a:p>
                      <a:pPr>
                        <a:buNone/>
                      </a:pPr>
                      <a:r>
                        <a:rPr lang="en-US" dirty="0">
                          <a:latin typeface="Times New Roman"/>
                          <a:cs typeface="Times New Roman"/>
                        </a:rPr>
                        <a:t>Image Input &amp; AI Prediction</a:t>
                      </a:r>
                    </a:p>
                  </a:txBody>
                  <a:tcPr anchor="ctr"/>
                </a:tc>
                <a:tc>
                  <a:txBody>
                    <a:bodyPr/>
                    <a:lstStyle/>
                    <a:p>
                      <a:pPr>
                        <a:buNone/>
                      </a:pPr>
                      <a:r>
                        <a:rPr lang="en-US" dirty="0">
                          <a:latin typeface="Times New Roman"/>
                          <a:cs typeface="Times New Roman"/>
                        </a:rPr>
                        <a:t>The system shall accept an image and generate a prediction using the base AI model.</a:t>
                      </a:r>
                    </a:p>
                  </a:txBody>
                  <a:tcPr anchor="ctr"/>
                </a:tc>
                <a:extLst>
                  <a:ext uri="{0D108BD9-81ED-4DB2-BD59-A6C34878D82A}">
                    <a16:rowId xmlns:a16="http://schemas.microsoft.com/office/drawing/2014/main" val="1725768606"/>
                  </a:ext>
                </a:extLst>
              </a:tr>
              <a:tr h="0">
                <a:tc>
                  <a:txBody>
                    <a:bodyPr/>
                    <a:lstStyle/>
                    <a:p>
                      <a:pPr>
                        <a:buNone/>
                      </a:pPr>
                      <a:r>
                        <a:rPr lang="en-US" dirty="0">
                          <a:latin typeface="Times New Roman"/>
                          <a:cs typeface="Times New Roman"/>
                        </a:rPr>
                        <a:t>FR2</a:t>
                      </a:r>
                    </a:p>
                  </a:txBody>
                  <a:tcPr anchor="ctr"/>
                </a:tc>
                <a:tc>
                  <a:txBody>
                    <a:bodyPr/>
                    <a:lstStyle/>
                    <a:p>
                      <a:pPr>
                        <a:buNone/>
                      </a:pPr>
                      <a:r>
                        <a:rPr lang="en-US" dirty="0">
                          <a:latin typeface="Times New Roman"/>
                          <a:cs typeface="Times New Roman"/>
                        </a:rPr>
                        <a:t>Uncertainty Estimation</a:t>
                      </a:r>
                    </a:p>
                  </a:txBody>
                  <a:tcPr anchor="ctr"/>
                </a:tc>
                <a:tc>
                  <a:txBody>
                    <a:bodyPr/>
                    <a:lstStyle/>
                    <a:p>
                      <a:pPr>
                        <a:buNone/>
                      </a:pPr>
                      <a:r>
                        <a:rPr lang="en-US" dirty="0">
                          <a:latin typeface="Times New Roman"/>
                          <a:cs typeface="Times New Roman"/>
                        </a:rPr>
                        <a:t>The system shall estimate the uncertainty associated with the model's prediction.</a:t>
                      </a:r>
                    </a:p>
                  </a:txBody>
                  <a:tcPr anchor="ctr"/>
                </a:tc>
                <a:extLst>
                  <a:ext uri="{0D108BD9-81ED-4DB2-BD59-A6C34878D82A}">
                    <a16:rowId xmlns:a16="http://schemas.microsoft.com/office/drawing/2014/main" val="804022268"/>
                  </a:ext>
                </a:extLst>
              </a:tr>
              <a:tr h="0">
                <a:tc>
                  <a:txBody>
                    <a:bodyPr/>
                    <a:lstStyle/>
                    <a:p>
                      <a:pPr>
                        <a:buNone/>
                      </a:pPr>
                      <a:r>
                        <a:rPr lang="en-US" dirty="0">
                          <a:latin typeface="Times New Roman"/>
                          <a:cs typeface="Times New Roman"/>
                        </a:rPr>
                        <a:t>FR3</a:t>
                      </a:r>
                    </a:p>
                  </a:txBody>
                  <a:tcPr anchor="ctr"/>
                </a:tc>
                <a:tc>
                  <a:txBody>
                    <a:bodyPr/>
                    <a:lstStyle/>
                    <a:p>
                      <a:pPr>
                        <a:buNone/>
                      </a:pPr>
                      <a:r>
                        <a:rPr lang="en-US" dirty="0">
                          <a:latin typeface="Times New Roman"/>
                          <a:cs typeface="Times New Roman"/>
                        </a:rPr>
                        <a:t>Input Quality Assessment</a:t>
                      </a:r>
                    </a:p>
                  </a:txBody>
                  <a:tcPr anchor="ctr"/>
                </a:tc>
                <a:tc>
                  <a:txBody>
                    <a:bodyPr/>
                    <a:lstStyle/>
                    <a:p>
                      <a:pPr>
                        <a:buNone/>
                      </a:pPr>
                      <a:r>
                        <a:rPr lang="en-US" dirty="0">
                          <a:latin typeface="Times New Roman"/>
                          <a:cs typeface="Times New Roman"/>
                        </a:rPr>
                        <a:t>The system shall detect conditions such as blur, noise, and poor illumination that may affect prediction reliability.</a:t>
                      </a:r>
                    </a:p>
                  </a:txBody>
                  <a:tcPr anchor="ctr"/>
                </a:tc>
                <a:extLst>
                  <a:ext uri="{0D108BD9-81ED-4DB2-BD59-A6C34878D82A}">
                    <a16:rowId xmlns:a16="http://schemas.microsoft.com/office/drawing/2014/main" val="1600297986"/>
                  </a:ext>
                </a:extLst>
              </a:tr>
              <a:tr h="0">
                <a:tc>
                  <a:txBody>
                    <a:bodyPr/>
                    <a:lstStyle/>
                    <a:p>
                      <a:pPr>
                        <a:buNone/>
                      </a:pPr>
                      <a:r>
                        <a:rPr lang="en-US" dirty="0">
                          <a:latin typeface="Times New Roman"/>
                          <a:cs typeface="Times New Roman"/>
                        </a:rPr>
                        <a:t>FR4</a:t>
                      </a:r>
                    </a:p>
                  </a:txBody>
                  <a:tcPr anchor="ctr"/>
                </a:tc>
                <a:tc>
                  <a:txBody>
                    <a:bodyPr/>
                    <a:lstStyle/>
                    <a:p>
                      <a:pPr>
                        <a:buNone/>
                      </a:pPr>
                      <a:r>
                        <a:rPr lang="en-US" dirty="0">
                          <a:latin typeface="Times New Roman"/>
                          <a:cs typeface="Times New Roman"/>
                        </a:rPr>
                        <a:t>OOD / Distribution-Shift Detection</a:t>
                      </a:r>
                    </a:p>
                  </a:txBody>
                  <a:tcPr anchor="ctr"/>
                </a:tc>
                <a:tc>
                  <a:txBody>
                    <a:bodyPr/>
                    <a:lstStyle/>
                    <a:p>
                      <a:pPr>
                        <a:buNone/>
                      </a:pPr>
                      <a:r>
                        <a:rPr lang="en-US" dirty="0">
                          <a:latin typeface="Times New Roman"/>
                          <a:cs typeface="Times New Roman"/>
                        </a:rPr>
                        <a:t>The system shall identify inputs that significantly differ from the training data.</a:t>
                      </a:r>
                    </a:p>
                  </a:txBody>
                  <a:tcPr anchor="ctr"/>
                </a:tc>
                <a:extLst>
                  <a:ext uri="{0D108BD9-81ED-4DB2-BD59-A6C34878D82A}">
                    <a16:rowId xmlns:a16="http://schemas.microsoft.com/office/drawing/2014/main" val="2190652546"/>
                  </a:ext>
                </a:extLst>
              </a:tr>
              <a:tr h="0">
                <a:tc>
                  <a:txBody>
                    <a:bodyPr/>
                    <a:lstStyle/>
                    <a:p>
                      <a:pPr>
                        <a:buNone/>
                      </a:pPr>
                      <a:r>
                        <a:rPr lang="en-US" dirty="0">
                          <a:latin typeface="Times New Roman"/>
                          <a:cs typeface="Times New Roman"/>
                        </a:rPr>
                        <a:t>FR5</a:t>
                      </a:r>
                    </a:p>
                  </a:txBody>
                  <a:tcPr anchor="ctr"/>
                </a:tc>
                <a:tc>
                  <a:txBody>
                    <a:bodyPr/>
                    <a:lstStyle/>
                    <a:p>
                      <a:pPr>
                        <a:buNone/>
                      </a:pPr>
                      <a:r>
                        <a:rPr lang="en-US" dirty="0">
                          <a:latin typeface="Times New Roman"/>
                          <a:cs typeface="Times New Roman"/>
                        </a:rPr>
                        <a:t>Reliability &amp; Risk Assessment</a:t>
                      </a:r>
                    </a:p>
                  </a:txBody>
                  <a:tcPr anchor="ctr"/>
                </a:tc>
                <a:tc>
                  <a:txBody>
                    <a:bodyPr/>
                    <a:lstStyle/>
                    <a:p>
                      <a:pPr>
                        <a:buNone/>
                      </a:pPr>
                      <a:r>
                        <a:rPr lang="en-US" dirty="0">
                          <a:latin typeface="Times New Roman"/>
                          <a:cs typeface="Times New Roman"/>
                        </a:rPr>
                        <a:t>The system shall combine reliability indicators to generate a reliability/risk score and assess prediction trustworthiness.</a:t>
                      </a:r>
                    </a:p>
                  </a:txBody>
                  <a:tcPr anchor="ctr"/>
                </a:tc>
                <a:extLst>
                  <a:ext uri="{0D108BD9-81ED-4DB2-BD59-A6C34878D82A}">
                    <a16:rowId xmlns:a16="http://schemas.microsoft.com/office/drawing/2014/main" val="64904084"/>
                  </a:ext>
                </a:extLst>
              </a:tr>
              <a:tr h="0">
                <a:tc>
                  <a:txBody>
                    <a:bodyPr/>
                    <a:lstStyle/>
                    <a:p>
                      <a:pPr>
                        <a:buNone/>
                      </a:pPr>
                      <a:r>
                        <a:rPr lang="en-US" dirty="0">
                          <a:latin typeface="Times New Roman"/>
                          <a:cs typeface="Times New Roman"/>
                        </a:rPr>
                        <a:t>FR6</a:t>
                      </a:r>
                    </a:p>
                  </a:txBody>
                  <a:tcPr anchor="ctr"/>
                </a:tc>
                <a:tc>
                  <a:txBody>
                    <a:bodyPr/>
                    <a:lstStyle/>
                    <a:p>
                      <a:pPr>
                        <a:buNone/>
                      </a:pPr>
                      <a:r>
                        <a:rPr lang="en-US" dirty="0">
                          <a:latin typeface="Times New Roman"/>
                          <a:cs typeface="Times New Roman"/>
                        </a:rPr>
                        <a:t>Risk-Aware Decision &amp; Explanation</a:t>
                      </a:r>
                    </a:p>
                  </a:txBody>
                  <a:tcPr anchor="ctr"/>
                </a:tc>
                <a:tc>
                  <a:txBody>
                    <a:bodyPr/>
                    <a:lstStyle/>
                    <a:p>
                      <a:pPr>
                        <a:buNone/>
                      </a:pPr>
                      <a:r>
                        <a:rPr lang="en-US" dirty="0">
                          <a:latin typeface="Times New Roman"/>
                          <a:cs typeface="Times New Roman"/>
                        </a:rPr>
                        <a:t>The system shall provide an appropriate response such as Accept, Warn, or Defer, along with the likely reason for low reliability.</a:t>
                      </a:r>
                    </a:p>
                  </a:txBody>
                  <a:tcPr anchor="ctr"/>
                </a:tc>
                <a:extLst>
                  <a:ext uri="{0D108BD9-81ED-4DB2-BD59-A6C34878D82A}">
                    <a16:rowId xmlns:a16="http://schemas.microsoft.com/office/drawing/2014/main" val="1042188901"/>
                  </a:ext>
                </a:extLst>
              </a:tr>
            </a:tbl>
          </a:graphicData>
        </a:graphic>
      </p:graphicFrame>
    </p:spTree>
    <p:extLst>
      <p:ext uri="{BB962C8B-B14F-4D97-AF65-F5344CB8AC3E}">
        <p14:creationId xmlns:p14="http://schemas.microsoft.com/office/powerpoint/2010/main" val="26260799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26DBB-250E-A10D-ACEB-7F667308E8C1}"/>
            </a:ext>
          </a:extLst>
        </p:cNvPr>
        <p:cNvGrpSpPr/>
        <p:nvPr/>
      </p:nvGrpSpPr>
      <p:grpSpPr>
        <a:xfrm>
          <a:off x="0" y="0"/>
          <a:ext cx="0" cy="0"/>
          <a:chOff x="0" y="0"/>
          <a:chExt cx="0" cy="0"/>
        </a:xfrm>
      </p:grpSpPr>
      <p:pic>
        <p:nvPicPr>
          <p:cNvPr id="2" name="Image 0" descr="/home/claude/work/unpacked/ppt/media/image1.png">
            <a:extLst>
              <a:ext uri="{FF2B5EF4-FFF2-40B4-BE49-F238E27FC236}">
                <a16:creationId xmlns:a16="http://schemas.microsoft.com/office/drawing/2014/main" id="{FFE742B8-1383-16E9-67A1-E013FFFDDB5E}"/>
              </a:ext>
            </a:extLst>
          </p:cNvPr>
          <p:cNvPicPr>
            <a:picLocks noChangeAspect="1"/>
          </p:cNvPicPr>
          <p:nvPr/>
        </p:nvPicPr>
        <p:blipFill>
          <a:blip r:embed="rId3"/>
          <a:stretch>
            <a:fillRect/>
          </a:stretch>
        </p:blipFill>
        <p:spPr>
          <a:xfrm>
            <a:off x="10931652" y="186538"/>
            <a:ext cx="1048817" cy="676656"/>
          </a:xfrm>
          <a:prstGeom prst="rect">
            <a:avLst/>
          </a:prstGeom>
        </p:spPr>
      </p:pic>
      <p:sp>
        <p:nvSpPr>
          <p:cNvPr id="3" name="Shape 0">
            <a:extLst>
              <a:ext uri="{FF2B5EF4-FFF2-40B4-BE49-F238E27FC236}">
                <a16:creationId xmlns:a16="http://schemas.microsoft.com/office/drawing/2014/main" id="{1681A0DC-CD02-500E-59AD-EF62E1AC1DEC}"/>
              </a:ext>
            </a:extLst>
          </p:cNvPr>
          <p:cNvSpPr/>
          <p:nvPr/>
        </p:nvSpPr>
        <p:spPr>
          <a:xfrm flipV="1">
            <a:off x="6556" y="980630"/>
            <a:ext cx="12153585" cy="20876"/>
          </a:xfrm>
          <a:prstGeom prst="line">
            <a:avLst/>
          </a:prstGeom>
          <a:noFill/>
          <a:ln w="19050">
            <a:solidFill>
              <a:srgbClr val="AEABAB"/>
            </a:solidFill>
            <a:prstDash val="solid"/>
          </a:ln>
        </p:spPr>
      </p:sp>
      <p:sp>
        <p:nvSpPr>
          <p:cNvPr id="4" name="Text 1">
            <a:extLst>
              <a:ext uri="{FF2B5EF4-FFF2-40B4-BE49-F238E27FC236}">
                <a16:creationId xmlns:a16="http://schemas.microsoft.com/office/drawing/2014/main" id="{D292FF80-AC2C-43B5-00F9-BDEE69F29374}"/>
              </a:ext>
            </a:extLst>
          </p:cNvPr>
          <p:cNvSpPr txBox="1"/>
          <p:nvPr/>
        </p:nvSpPr>
        <p:spPr>
          <a:xfrm>
            <a:off x="274320" y="292608"/>
            <a:ext cx="9601200" cy="640080"/>
          </a:xfrm>
          <a:prstGeom prst="rect">
            <a:avLst/>
          </a:prstGeom>
          <a:noFill/>
          <a:ln/>
        </p:spPr>
        <p:txBody>
          <a:bodyPr wrap="square" lIns="0" tIns="0" rIns="0" bIns="0" rtlCol="0" anchor="ctr"/>
          <a:lstStyle/>
          <a:p>
            <a:r>
              <a:rPr lang="en-US" sz="2400" b="1" dirty="0">
                <a:solidFill>
                  <a:srgbClr val="000000"/>
                </a:solidFill>
                <a:latin typeface="Times New Roman"/>
                <a:ea typeface="Calibri"/>
                <a:cs typeface="Times New Roman"/>
              </a:rPr>
              <a:t>Non-Functional Requirements:</a:t>
            </a:r>
            <a:endParaRPr lang="en-US" sz="2400" b="1" dirty="0">
              <a:latin typeface="Times New Roman"/>
              <a:ea typeface="Calibri"/>
              <a:cs typeface="Times New Roman"/>
            </a:endParaRPr>
          </a:p>
        </p:txBody>
      </p:sp>
      <p:sp>
        <p:nvSpPr>
          <p:cNvPr id="5" name="Text 2">
            <a:extLst>
              <a:ext uri="{FF2B5EF4-FFF2-40B4-BE49-F238E27FC236}">
                <a16:creationId xmlns:a16="http://schemas.microsoft.com/office/drawing/2014/main" id="{19B3493B-2267-A3CD-6623-1E944E3F48B1}"/>
              </a:ext>
            </a:extLst>
          </p:cNvPr>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a:extLst>
              <a:ext uri="{FF2B5EF4-FFF2-40B4-BE49-F238E27FC236}">
                <a16:creationId xmlns:a16="http://schemas.microsoft.com/office/drawing/2014/main" id="{8DAB5D75-0C40-3872-7300-10393EDA9020}"/>
              </a:ext>
            </a:extLst>
          </p:cNvPr>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15</a:t>
            </a:r>
            <a:endParaRPr lang="en-US" sz="1000" dirty="0"/>
          </a:p>
        </p:txBody>
      </p:sp>
      <p:graphicFrame>
        <p:nvGraphicFramePr>
          <p:cNvPr id="47" name="Table 46">
            <a:extLst>
              <a:ext uri="{FF2B5EF4-FFF2-40B4-BE49-F238E27FC236}">
                <a16:creationId xmlns:a16="http://schemas.microsoft.com/office/drawing/2014/main" id="{AA432EA0-2A3B-B40B-ACB2-54377D990EA9}"/>
              </a:ext>
            </a:extLst>
          </p:cNvPr>
          <p:cNvGraphicFramePr>
            <a:graphicFrameLocks noGrp="1"/>
          </p:cNvGraphicFramePr>
          <p:nvPr>
            <p:extLst>
              <p:ext uri="{D42A27DB-BD31-4B8C-83A1-F6EECF244321}">
                <p14:modId xmlns:p14="http://schemas.microsoft.com/office/powerpoint/2010/main" val="2391814732"/>
              </p:ext>
            </p:extLst>
          </p:nvPr>
        </p:nvGraphicFramePr>
        <p:xfrm>
          <a:off x="273170" y="1278147"/>
          <a:ext cx="12191998" cy="5115036"/>
        </p:xfrm>
        <a:graphic>
          <a:graphicData uri="http://schemas.openxmlformats.org/drawingml/2006/table">
            <a:tbl>
              <a:tblPr bandRow="1">
                <a:tableStyleId>{073A0DAA-6AF3-43AB-8588-CEC1D06C72B9}</a:tableStyleId>
              </a:tblPr>
              <a:tblGrid>
                <a:gridCol w="1628587">
                  <a:extLst>
                    <a:ext uri="{9D8B030D-6E8A-4147-A177-3AD203B41FA5}">
                      <a16:colId xmlns:a16="http://schemas.microsoft.com/office/drawing/2014/main" val="2090903848"/>
                    </a:ext>
                  </a:extLst>
                </a:gridCol>
                <a:gridCol w="3062941">
                  <a:extLst>
                    <a:ext uri="{9D8B030D-6E8A-4147-A177-3AD203B41FA5}">
                      <a16:colId xmlns:a16="http://schemas.microsoft.com/office/drawing/2014/main" val="113494329"/>
                    </a:ext>
                  </a:extLst>
                </a:gridCol>
                <a:gridCol w="7500470">
                  <a:extLst>
                    <a:ext uri="{9D8B030D-6E8A-4147-A177-3AD203B41FA5}">
                      <a16:colId xmlns:a16="http://schemas.microsoft.com/office/drawing/2014/main" val="828039199"/>
                    </a:ext>
                  </a:extLst>
                </a:gridCol>
              </a:tblGrid>
              <a:tr h="287834">
                <a:tc>
                  <a:txBody>
                    <a:bodyPr/>
                    <a:lstStyle/>
                    <a:p>
                      <a:pPr>
                        <a:buNone/>
                      </a:pPr>
                      <a:r>
                        <a:rPr lang="en-US" dirty="0">
                          <a:latin typeface="Times New Roman"/>
                          <a:cs typeface="Times New Roman"/>
                        </a:rPr>
                        <a:t>No.</a:t>
                      </a:r>
                    </a:p>
                  </a:txBody>
                  <a:tcPr anchor="ctr"/>
                </a:tc>
                <a:tc>
                  <a:txBody>
                    <a:bodyPr/>
                    <a:lstStyle/>
                    <a:p>
                      <a:pPr>
                        <a:buNone/>
                      </a:pPr>
                      <a:r>
                        <a:rPr lang="en-US" dirty="0">
                          <a:latin typeface="Times New Roman"/>
                          <a:cs typeface="Times New Roman"/>
                        </a:rPr>
                        <a:t>Requirement</a:t>
                      </a:r>
                    </a:p>
                  </a:txBody>
                  <a:tcPr anchor="ctr"/>
                </a:tc>
                <a:tc>
                  <a:txBody>
                    <a:bodyPr/>
                    <a:lstStyle/>
                    <a:p>
                      <a:pPr>
                        <a:buNone/>
                      </a:pPr>
                      <a:r>
                        <a:rPr lang="en-US" dirty="0">
                          <a:latin typeface="Times New Roman"/>
                          <a:cs typeface="Times New Roman"/>
                        </a:rPr>
                        <a:t>Description</a:t>
                      </a:r>
                    </a:p>
                  </a:txBody>
                  <a:tcPr anchor="ctr"/>
                </a:tc>
                <a:extLst>
                  <a:ext uri="{0D108BD9-81ED-4DB2-BD59-A6C34878D82A}">
                    <a16:rowId xmlns:a16="http://schemas.microsoft.com/office/drawing/2014/main" val="2291729223"/>
                  </a:ext>
                </a:extLst>
              </a:tr>
              <a:tr h="719587">
                <a:tc>
                  <a:txBody>
                    <a:bodyPr/>
                    <a:lstStyle/>
                    <a:p>
                      <a:pPr>
                        <a:buNone/>
                      </a:pPr>
                      <a:r>
                        <a:rPr lang="en-US" dirty="0">
                          <a:latin typeface="Times New Roman"/>
                          <a:cs typeface="Times New Roman"/>
                        </a:rPr>
                        <a:t>NFR1</a:t>
                      </a:r>
                    </a:p>
                  </a:txBody>
                  <a:tcPr anchor="ctr"/>
                </a:tc>
                <a:tc>
                  <a:txBody>
                    <a:bodyPr/>
                    <a:lstStyle/>
                    <a:p>
                      <a:pPr>
                        <a:buNone/>
                      </a:pPr>
                      <a:r>
                        <a:rPr lang="en-US" dirty="0">
                          <a:latin typeface="Times New Roman"/>
                          <a:cs typeface="Times New Roman"/>
                        </a:rPr>
                        <a:t>Low Latency</a:t>
                      </a:r>
                    </a:p>
                  </a:txBody>
                  <a:tcPr anchor="ctr"/>
                </a:tc>
                <a:tc>
                  <a:txBody>
                    <a:bodyPr/>
                    <a:lstStyle/>
                    <a:p>
                      <a:pPr>
                        <a:buNone/>
                      </a:pPr>
                      <a:r>
                        <a:rPr lang="en-US" dirty="0">
                          <a:latin typeface="Times New Roman"/>
                          <a:cs typeface="Times New Roman"/>
                        </a:rPr>
                        <a:t>The reliability assessment should introduce minimal processing delay to support real-time operation.</a:t>
                      </a:r>
                    </a:p>
                  </a:txBody>
                  <a:tcPr anchor="ctr"/>
                </a:tc>
                <a:extLst>
                  <a:ext uri="{0D108BD9-81ED-4DB2-BD59-A6C34878D82A}">
                    <a16:rowId xmlns:a16="http://schemas.microsoft.com/office/drawing/2014/main" val="3031045938"/>
                  </a:ext>
                </a:extLst>
              </a:tr>
              <a:tr h="719587">
                <a:tc>
                  <a:txBody>
                    <a:bodyPr/>
                    <a:lstStyle/>
                    <a:p>
                      <a:pPr>
                        <a:buNone/>
                      </a:pPr>
                      <a:r>
                        <a:rPr lang="en-US" dirty="0">
                          <a:latin typeface="Times New Roman"/>
                          <a:cs typeface="Times New Roman"/>
                        </a:rPr>
                        <a:t>NFR2</a:t>
                      </a:r>
                    </a:p>
                  </a:txBody>
                  <a:tcPr anchor="ctr"/>
                </a:tc>
                <a:tc>
                  <a:txBody>
                    <a:bodyPr/>
                    <a:lstStyle/>
                    <a:p>
                      <a:pPr>
                        <a:buNone/>
                      </a:pPr>
                      <a:r>
                        <a:rPr lang="en-US" dirty="0">
                          <a:latin typeface="Times New Roman"/>
                          <a:cs typeface="Times New Roman"/>
                        </a:rPr>
                        <a:t>Resource Efficiency</a:t>
                      </a:r>
                    </a:p>
                  </a:txBody>
                  <a:tcPr anchor="ctr"/>
                </a:tc>
                <a:tc>
                  <a:txBody>
                    <a:bodyPr/>
                    <a:lstStyle/>
                    <a:p>
                      <a:pPr>
                        <a:buNone/>
                      </a:pPr>
                      <a:r>
                        <a:rPr lang="en-US" dirty="0">
                          <a:latin typeface="Times New Roman"/>
                          <a:cs typeface="Times New Roman"/>
                        </a:rPr>
                        <a:t>The system should operate within the memory and computational constraints of edge devices.</a:t>
                      </a:r>
                    </a:p>
                  </a:txBody>
                  <a:tcPr anchor="ctr"/>
                </a:tc>
                <a:extLst>
                  <a:ext uri="{0D108BD9-81ED-4DB2-BD59-A6C34878D82A}">
                    <a16:rowId xmlns:a16="http://schemas.microsoft.com/office/drawing/2014/main" val="1763785351"/>
                  </a:ext>
                </a:extLst>
              </a:tr>
              <a:tr h="719587">
                <a:tc>
                  <a:txBody>
                    <a:bodyPr/>
                    <a:lstStyle/>
                    <a:p>
                      <a:pPr>
                        <a:buNone/>
                      </a:pPr>
                      <a:r>
                        <a:rPr lang="en-US" dirty="0">
                          <a:latin typeface="Times New Roman"/>
                          <a:cs typeface="Times New Roman"/>
                        </a:rPr>
                        <a:t>NFR3</a:t>
                      </a:r>
                    </a:p>
                  </a:txBody>
                  <a:tcPr anchor="ctr"/>
                </a:tc>
                <a:tc>
                  <a:txBody>
                    <a:bodyPr/>
                    <a:lstStyle/>
                    <a:p>
                      <a:pPr>
                        <a:buNone/>
                      </a:pPr>
                      <a:r>
                        <a:rPr lang="en-US" dirty="0">
                          <a:latin typeface="Times New Roman"/>
                          <a:cs typeface="Times New Roman"/>
                        </a:rPr>
                        <a:t>Accuracy Preservation</a:t>
                      </a:r>
                    </a:p>
                  </a:txBody>
                  <a:tcPr anchor="ctr"/>
                </a:tc>
                <a:tc>
                  <a:txBody>
                    <a:bodyPr/>
                    <a:lstStyle/>
                    <a:p>
                      <a:pPr>
                        <a:buNone/>
                      </a:pPr>
                      <a:r>
                        <a:rPr lang="en-US" dirty="0">
                          <a:latin typeface="Times New Roman"/>
                          <a:cs typeface="Times New Roman"/>
                        </a:rPr>
                        <a:t>The reliability mechanism should not significantly reduce the base model's accuracy on normal inputs.</a:t>
                      </a:r>
                    </a:p>
                  </a:txBody>
                  <a:tcPr anchor="ctr"/>
                </a:tc>
                <a:extLst>
                  <a:ext uri="{0D108BD9-81ED-4DB2-BD59-A6C34878D82A}">
                    <a16:rowId xmlns:a16="http://schemas.microsoft.com/office/drawing/2014/main" val="2022566176"/>
                  </a:ext>
                </a:extLst>
              </a:tr>
              <a:tr h="935464">
                <a:tc>
                  <a:txBody>
                    <a:bodyPr/>
                    <a:lstStyle/>
                    <a:p>
                      <a:pPr>
                        <a:buNone/>
                      </a:pPr>
                      <a:r>
                        <a:rPr lang="en-US" dirty="0">
                          <a:latin typeface="Times New Roman"/>
                          <a:cs typeface="Times New Roman"/>
                        </a:rPr>
                        <a:t>NFR4</a:t>
                      </a:r>
                    </a:p>
                  </a:txBody>
                  <a:tcPr anchor="ctr"/>
                </a:tc>
                <a:tc>
                  <a:txBody>
                    <a:bodyPr/>
                    <a:lstStyle/>
                    <a:p>
                      <a:pPr>
                        <a:buNone/>
                      </a:pPr>
                      <a:r>
                        <a:rPr lang="en-US" dirty="0">
                          <a:latin typeface="Times New Roman"/>
                          <a:cs typeface="Times New Roman"/>
                        </a:rPr>
                        <a:t>Robustness</a:t>
                      </a:r>
                    </a:p>
                  </a:txBody>
                  <a:tcPr anchor="ctr"/>
                </a:tc>
                <a:tc>
                  <a:txBody>
                    <a:bodyPr/>
                    <a:lstStyle/>
                    <a:p>
                      <a:pPr>
                        <a:buNone/>
                      </a:pPr>
                      <a:r>
                        <a:rPr lang="en-US" dirty="0">
                          <a:latin typeface="Times New Roman"/>
                          <a:cs typeface="Times New Roman"/>
                        </a:rPr>
                        <a:t>The system should remain effective under varying levels of blur, noise, illumination changes, and OOD conditions.</a:t>
                      </a:r>
                    </a:p>
                  </a:txBody>
                  <a:tcPr anchor="ctr"/>
                </a:tc>
                <a:extLst>
                  <a:ext uri="{0D108BD9-81ED-4DB2-BD59-A6C34878D82A}">
                    <a16:rowId xmlns:a16="http://schemas.microsoft.com/office/drawing/2014/main" val="1943757352"/>
                  </a:ext>
                </a:extLst>
              </a:tr>
              <a:tr h="719587">
                <a:tc>
                  <a:txBody>
                    <a:bodyPr/>
                    <a:lstStyle/>
                    <a:p>
                      <a:pPr>
                        <a:buNone/>
                      </a:pPr>
                      <a:r>
                        <a:rPr lang="en-US" dirty="0">
                          <a:latin typeface="Times New Roman"/>
                          <a:cs typeface="Times New Roman"/>
                        </a:rPr>
                        <a:t>NFR5</a:t>
                      </a:r>
                    </a:p>
                  </a:txBody>
                  <a:tcPr anchor="ctr"/>
                </a:tc>
                <a:tc>
                  <a:txBody>
                    <a:bodyPr/>
                    <a:lstStyle/>
                    <a:p>
                      <a:pPr>
                        <a:buNone/>
                      </a:pPr>
                      <a:r>
                        <a:rPr lang="en-US" dirty="0">
                          <a:latin typeface="Times New Roman"/>
                          <a:cs typeface="Times New Roman"/>
                        </a:rPr>
                        <a:t>Reliability</a:t>
                      </a:r>
                    </a:p>
                  </a:txBody>
                  <a:tcPr anchor="ctr"/>
                </a:tc>
                <a:tc>
                  <a:txBody>
                    <a:bodyPr/>
                    <a:lstStyle/>
                    <a:p>
                      <a:pPr>
                        <a:buNone/>
                      </a:pPr>
                      <a:r>
                        <a:rPr lang="en-US" dirty="0">
                          <a:latin typeface="Times New Roman"/>
                          <a:cs typeface="Times New Roman"/>
                        </a:rPr>
                        <a:t>The system should consistently distinguish between trustworthy and potentially unreliable predictions.</a:t>
                      </a:r>
                    </a:p>
                  </a:txBody>
                  <a:tcPr anchor="ctr"/>
                </a:tc>
                <a:extLst>
                  <a:ext uri="{0D108BD9-81ED-4DB2-BD59-A6C34878D82A}">
                    <a16:rowId xmlns:a16="http://schemas.microsoft.com/office/drawing/2014/main" val="2105692047"/>
                  </a:ext>
                </a:extLst>
              </a:tr>
              <a:tr h="935464">
                <a:tc>
                  <a:txBody>
                    <a:bodyPr/>
                    <a:lstStyle/>
                    <a:p>
                      <a:pPr>
                        <a:buNone/>
                      </a:pPr>
                      <a:r>
                        <a:rPr lang="en-US" dirty="0">
                          <a:latin typeface="Times New Roman"/>
                          <a:cs typeface="Times New Roman"/>
                        </a:rPr>
                        <a:t>NFR6</a:t>
                      </a:r>
                    </a:p>
                  </a:txBody>
                  <a:tcPr anchor="ctr"/>
                </a:tc>
                <a:tc>
                  <a:txBody>
                    <a:bodyPr/>
                    <a:lstStyle/>
                    <a:p>
                      <a:pPr>
                        <a:buNone/>
                      </a:pPr>
                      <a:r>
                        <a:rPr lang="en-US" dirty="0">
                          <a:latin typeface="Times New Roman"/>
                          <a:cs typeface="Times New Roman"/>
                        </a:rPr>
                        <a:t>Explainability</a:t>
                      </a:r>
                    </a:p>
                  </a:txBody>
                  <a:tcPr anchor="ctr"/>
                </a:tc>
                <a:tc>
                  <a:txBody>
                    <a:bodyPr/>
                    <a:lstStyle/>
                    <a:p>
                      <a:pPr>
                        <a:buNone/>
                      </a:pPr>
                      <a:r>
                        <a:rPr lang="en-US" dirty="0">
                          <a:latin typeface="Times New Roman"/>
                          <a:cs typeface="Times New Roman"/>
                        </a:rPr>
                        <a:t>The system should provide an understandable reason for flagging a prediction rather than only returning a numerical score.</a:t>
                      </a:r>
                    </a:p>
                  </a:txBody>
                  <a:tcPr anchor="ctr"/>
                </a:tc>
                <a:extLst>
                  <a:ext uri="{0D108BD9-81ED-4DB2-BD59-A6C34878D82A}">
                    <a16:rowId xmlns:a16="http://schemas.microsoft.com/office/drawing/2014/main" val="3639562563"/>
                  </a:ext>
                </a:extLst>
              </a:tr>
            </a:tbl>
          </a:graphicData>
        </a:graphic>
      </p:graphicFrame>
    </p:spTree>
    <p:extLst>
      <p:ext uri="{BB962C8B-B14F-4D97-AF65-F5344CB8AC3E}">
        <p14:creationId xmlns:p14="http://schemas.microsoft.com/office/powerpoint/2010/main" val="20840711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6A782-383B-13A3-2FDF-CBFAFB234C47}"/>
            </a:ext>
          </a:extLst>
        </p:cNvPr>
        <p:cNvGrpSpPr/>
        <p:nvPr/>
      </p:nvGrpSpPr>
      <p:grpSpPr>
        <a:xfrm>
          <a:off x="0" y="0"/>
          <a:ext cx="0" cy="0"/>
          <a:chOff x="0" y="0"/>
          <a:chExt cx="0" cy="0"/>
        </a:xfrm>
      </p:grpSpPr>
      <p:pic>
        <p:nvPicPr>
          <p:cNvPr id="2" name="Image 0" descr="/home/claude/work/unpacked/ppt/media/image1.png">
            <a:extLst>
              <a:ext uri="{FF2B5EF4-FFF2-40B4-BE49-F238E27FC236}">
                <a16:creationId xmlns:a16="http://schemas.microsoft.com/office/drawing/2014/main" id="{901CEE93-B6DA-AEF9-3E1A-8D69A0D6BE36}"/>
              </a:ext>
            </a:extLst>
          </p:cNvPr>
          <p:cNvPicPr>
            <a:picLocks noChangeAspect="1"/>
          </p:cNvPicPr>
          <p:nvPr/>
        </p:nvPicPr>
        <p:blipFill>
          <a:blip r:embed="rId3"/>
          <a:stretch>
            <a:fillRect/>
          </a:stretch>
        </p:blipFill>
        <p:spPr>
          <a:xfrm>
            <a:off x="10931652" y="186538"/>
            <a:ext cx="1048817" cy="676656"/>
          </a:xfrm>
          <a:prstGeom prst="rect">
            <a:avLst/>
          </a:prstGeom>
        </p:spPr>
      </p:pic>
      <p:sp>
        <p:nvSpPr>
          <p:cNvPr id="3" name="Shape 0">
            <a:extLst>
              <a:ext uri="{FF2B5EF4-FFF2-40B4-BE49-F238E27FC236}">
                <a16:creationId xmlns:a16="http://schemas.microsoft.com/office/drawing/2014/main" id="{7B818384-C13A-4B4E-588C-EAF522869524}"/>
              </a:ext>
            </a:extLst>
          </p:cNvPr>
          <p:cNvSpPr/>
          <p:nvPr/>
        </p:nvSpPr>
        <p:spPr>
          <a:xfrm flipV="1">
            <a:off x="6556" y="980630"/>
            <a:ext cx="12153585" cy="20876"/>
          </a:xfrm>
          <a:prstGeom prst="line">
            <a:avLst/>
          </a:prstGeom>
          <a:noFill/>
          <a:ln w="19050">
            <a:solidFill>
              <a:srgbClr val="AEABAB"/>
            </a:solidFill>
            <a:prstDash val="solid"/>
          </a:ln>
        </p:spPr>
      </p:sp>
      <p:sp>
        <p:nvSpPr>
          <p:cNvPr id="4" name="Text 1">
            <a:extLst>
              <a:ext uri="{FF2B5EF4-FFF2-40B4-BE49-F238E27FC236}">
                <a16:creationId xmlns:a16="http://schemas.microsoft.com/office/drawing/2014/main" id="{2E77D09D-80B6-C821-F91B-09D01543B99C}"/>
              </a:ext>
            </a:extLst>
          </p:cNvPr>
          <p:cNvSpPr txBox="1"/>
          <p:nvPr/>
        </p:nvSpPr>
        <p:spPr>
          <a:xfrm>
            <a:off x="274320" y="292608"/>
            <a:ext cx="9601200" cy="640080"/>
          </a:xfrm>
          <a:prstGeom prst="rect">
            <a:avLst/>
          </a:prstGeom>
          <a:noFill/>
          <a:ln/>
        </p:spPr>
        <p:txBody>
          <a:bodyPr wrap="square" lIns="0" tIns="0" rIns="0" bIns="0" rtlCol="0" anchor="ctr"/>
          <a:lstStyle/>
          <a:p>
            <a:r>
              <a:rPr lang="en-US" sz="2400" b="1" dirty="0">
                <a:solidFill>
                  <a:srgbClr val="000000"/>
                </a:solidFill>
                <a:latin typeface="Times New Roman"/>
                <a:ea typeface="Calibri"/>
                <a:cs typeface="Times New Roman"/>
              </a:rPr>
              <a:t>Proposed Solution  </a:t>
            </a:r>
            <a:endParaRPr lang="en-US" sz="2400" dirty="0">
              <a:latin typeface="Times New Roman"/>
              <a:ea typeface="Calibri"/>
              <a:cs typeface="Times New Roman"/>
            </a:endParaRPr>
          </a:p>
        </p:txBody>
      </p:sp>
      <p:sp>
        <p:nvSpPr>
          <p:cNvPr id="5" name="Text 2">
            <a:extLst>
              <a:ext uri="{FF2B5EF4-FFF2-40B4-BE49-F238E27FC236}">
                <a16:creationId xmlns:a16="http://schemas.microsoft.com/office/drawing/2014/main" id="{FE80B4D1-4329-CE6D-5352-24E7AFC45019}"/>
              </a:ext>
            </a:extLst>
          </p:cNvPr>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a:extLst>
              <a:ext uri="{FF2B5EF4-FFF2-40B4-BE49-F238E27FC236}">
                <a16:creationId xmlns:a16="http://schemas.microsoft.com/office/drawing/2014/main" id="{94A72C69-1774-95A1-9F0E-0ED574C3E2EA}"/>
              </a:ext>
            </a:extLst>
          </p:cNvPr>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15</a:t>
            </a:r>
            <a:endParaRPr lang="en-US" sz="1000" dirty="0"/>
          </a:p>
        </p:txBody>
      </p:sp>
      <p:sp>
        <p:nvSpPr>
          <p:cNvPr id="46" name="TextBox 45">
            <a:extLst>
              <a:ext uri="{FF2B5EF4-FFF2-40B4-BE49-F238E27FC236}">
                <a16:creationId xmlns:a16="http://schemas.microsoft.com/office/drawing/2014/main" id="{1DB9B93F-8CBC-A6D2-0F42-2D23EEB5D9EA}"/>
              </a:ext>
            </a:extLst>
          </p:cNvPr>
          <p:cNvSpPr txBox="1"/>
          <p:nvPr/>
        </p:nvSpPr>
        <p:spPr>
          <a:xfrm>
            <a:off x="476426" y="1360775"/>
            <a:ext cx="10981764"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New Roman"/>
                <a:cs typeface="Times New Roman"/>
              </a:rPr>
              <a:t>Proposed Novel Contributions</a:t>
            </a:r>
          </a:p>
          <a:p>
            <a:r>
              <a:rPr lang="en-US" dirty="0">
                <a:latin typeface="Times New Roman"/>
                <a:cs typeface="Times New Roman"/>
              </a:rPr>
              <a:t>1. Context-Aware Reliability Score (CARS)</a:t>
            </a:r>
            <a:endParaRPr lang="en-US" dirty="0">
              <a:latin typeface="Times New Roman"/>
              <a:ea typeface="Calibri"/>
              <a:cs typeface="Times New Roman"/>
            </a:endParaRPr>
          </a:p>
          <a:p>
            <a:pPr marL="285750" indent="-285750">
              <a:buFont typeface="Arial"/>
              <a:buChar char="•"/>
            </a:pPr>
            <a:r>
              <a:rPr lang="en-US" dirty="0">
                <a:latin typeface="Times New Roman"/>
                <a:ea typeface="+mn-lt"/>
                <a:cs typeface="Times New Roman"/>
              </a:rPr>
              <a:t>Combines </a:t>
            </a:r>
            <a:r>
              <a:rPr lang="en-US" b="1" dirty="0">
                <a:latin typeface="Times New Roman"/>
                <a:ea typeface="+mn-lt"/>
                <a:cs typeface="Times New Roman"/>
              </a:rPr>
              <a:t>three factors</a:t>
            </a:r>
            <a:r>
              <a:rPr lang="en-US" dirty="0">
                <a:latin typeface="Times New Roman"/>
                <a:ea typeface="+mn-lt"/>
                <a:cs typeface="Times New Roman"/>
              </a:rPr>
              <a:t> to generate a dynamic </a:t>
            </a:r>
            <a:r>
              <a:rPr lang="en-US" b="1" dirty="0">
                <a:latin typeface="Times New Roman"/>
                <a:ea typeface="+mn-lt"/>
                <a:cs typeface="Times New Roman"/>
              </a:rPr>
              <a:t>0–100 reliability score</a:t>
            </a:r>
            <a:r>
              <a:rPr lang="en-US" dirty="0">
                <a:latin typeface="Times New Roman"/>
                <a:ea typeface="+mn-lt"/>
                <a:cs typeface="Times New Roman"/>
              </a:rPr>
              <a:t>:</a:t>
            </a:r>
            <a:endParaRPr lang="en-US" dirty="0">
              <a:latin typeface="Times New Roman"/>
              <a:cs typeface="Times New Roman"/>
            </a:endParaRPr>
          </a:p>
          <a:p>
            <a:pPr marL="742950" lvl="1" indent="-285750">
              <a:buFont typeface="Arial"/>
              <a:buChar char="•"/>
            </a:pPr>
            <a:r>
              <a:rPr lang="en-US" b="1" dirty="0">
                <a:latin typeface="Times New Roman"/>
                <a:ea typeface="+mn-lt"/>
                <a:cs typeface="Times New Roman"/>
              </a:rPr>
              <a:t>Model Uncertainty</a:t>
            </a:r>
            <a:r>
              <a:rPr lang="en-US" dirty="0">
                <a:latin typeface="Times New Roman"/>
                <a:ea typeface="+mn-lt"/>
                <a:cs typeface="Times New Roman"/>
              </a:rPr>
              <a:t> – Is the AI unsure about its prediction?</a:t>
            </a:r>
            <a:endParaRPr lang="en-US" dirty="0">
              <a:latin typeface="Times New Roman"/>
              <a:cs typeface="Times New Roman"/>
            </a:endParaRPr>
          </a:p>
          <a:p>
            <a:pPr marL="742950" lvl="1" indent="-285750">
              <a:buFont typeface="Arial"/>
              <a:buChar char="•"/>
            </a:pPr>
            <a:r>
              <a:rPr lang="en-US" b="1" dirty="0">
                <a:latin typeface="Times New Roman"/>
                <a:ea typeface="+mn-lt"/>
                <a:cs typeface="Times New Roman"/>
              </a:rPr>
              <a:t>Input Quality</a:t>
            </a:r>
            <a:r>
              <a:rPr lang="en-US" dirty="0">
                <a:latin typeface="Times New Roman"/>
                <a:ea typeface="+mn-lt"/>
                <a:cs typeface="Times New Roman"/>
              </a:rPr>
              <a:t> – Blur, low illumination, rain, noise, etc.</a:t>
            </a:r>
            <a:endParaRPr lang="en-US" dirty="0">
              <a:latin typeface="Times New Roman"/>
              <a:cs typeface="Times New Roman"/>
            </a:endParaRPr>
          </a:p>
          <a:p>
            <a:pPr marL="742950" lvl="1" indent="-285750">
              <a:buFont typeface="Arial"/>
              <a:buChar char="•"/>
            </a:pPr>
            <a:r>
              <a:rPr lang="en-US" b="1" dirty="0">
                <a:latin typeface="Times New Roman"/>
                <a:ea typeface="+mn-lt"/>
                <a:cs typeface="Times New Roman"/>
              </a:rPr>
              <a:t>Context Shift</a:t>
            </a:r>
            <a:r>
              <a:rPr lang="en-US" dirty="0">
                <a:latin typeface="Times New Roman"/>
                <a:ea typeface="+mn-lt"/>
                <a:cs typeface="Times New Roman"/>
              </a:rPr>
              <a:t> – Is the input different from the training data?</a:t>
            </a:r>
            <a:endParaRPr lang="en-US" dirty="0">
              <a:latin typeface="Times New Roman"/>
              <a:cs typeface="Times New Roman"/>
            </a:endParaRPr>
          </a:p>
          <a:p>
            <a:pPr marL="285750" indent="-285750">
              <a:buFont typeface="Arial"/>
              <a:buChar char="•"/>
            </a:pPr>
            <a:r>
              <a:rPr lang="en-US" dirty="0">
                <a:latin typeface="Times New Roman"/>
                <a:ea typeface="+mn-lt"/>
                <a:cs typeface="Times New Roman"/>
              </a:rPr>
              <a:t>The reliability score determines whether the system should: </a:t>
            </a:r>
            <a:r>
              <a:rPr lang="en-US" b="1" dirty="0">
                <a:latin typeface="Times New Roman"/>
                <a:ea typeface="+mn-lt"/>
                <a:cs typeface="Times New Roman"/>
              </a:rPr>
              <a:t>Accept → Warn → Defer</a:t>
            </a:r>
            <a:r>
              <a:rPr lang="en-US" dirty="0">
                <a:latin typeface="Times New Roman"/>
                <a:ea typeface="+mn-lt"/>
                <a:cs typeface="Times New Roman"/>
              </a:rPr>
              <a:t> the prediction.</a:t>
            </a:r>
            <a:endParaRPr lang="en-US" dirty="0">
              <a:latin typeface="Times New Roman"/>
              <a:cs typeface="Times New Roman"/>
            </a:endParaRPr>
          </a:p>
          <a:p>
            <a:pPr marL="285750" indent="-285750">
              <a:buFont typeface="Arial"/>
              <a:buChar char="•"/>
            </a:pPr>
            <a:endParaRPr lang="en-US" dirty="0">
              <a:latin typeface="Times New Roman"/>
              <a:ea typeface="Calibri"/>
              <a:cs typeface="Times New Roman"/>
            </a:endParaRPr>
          </a:p>
          <a:p>
            <a:r>
              <a:rPr lang="en-US" dirty="0">
                <a:latin typeface="Times New Roman"/>
                <a:cs typeface="Times New Roman"/>
              </a:rPr>
              <a:t>2. Self-Learning Blind Spot Memory</a:t>
            </a:r>
            <a:endParaRPr lang="en-US" dirty="0">
              <a:latin typeface="Times New Roman"/>
              <a:ea typeface="Calibri"/>
              <a:cs typeface="Times New Roman"/>
            </a:endParaRPr>
          </a:p>
          <a:p>
            <a:pPr marL="285750" indent="-285750">
              <a:buFont typeface="Arial"/>
              <a:buChar char="•"/>
            </a:pPr>
            <a:r>
              <a:rPr lang="en-US" dirty="0">
                <a:latin typeface="Times New Roman"/>
                <a:ea typeface="+mn-lt"/>
                <a:cs typeface="Times New Roman"/>
              </a:rPr>
              <a:t>When EdgeGuard encounters a </a:t>
            </a:r>
            <a:r>
              <a:rPr lang="en-US" b="1" dirty="0">
                <a:latin typeface="Times New Roman"/>
                <a:ea typeface="+mn-lt"/>
                <a:cs typeface="Times New Roman"/>
              </a:rPr>
              <a:t>new failure case</a:t>
            </a:r>
            <a:r>
              <a:rPr lang="en-US" dirty="0">
                <a:latin typeface="Times New Roman"/>
                <a:ea typeface="+mn-lt"/>
                <a:cs typeface="Times New Roman"/>
              </a:rPr>
              <a:t>, it stores only a </a:t>
            </a:r>
            <a:r>
              <a:rPr lang="en-US" b="1" dirty="0">
                <a:latin typeface="Times New Roman"/>
                <a:ea typeface="+mn-lt"/>
                <a:cs typeface="Times New Roman"/>
              </a:rPr>
              <a:t>compact feature representation</a:t>
            </a:r>
            <a:r>
              <a:rPr lang="en-US" dirty="0">
                <a:latin typeface="Times New Roman"/>
                <a:ea typeface="+mn-lt"/>
                <a:cs typeface="Times New Roman"/>
              </a:rPr>
              <a:t>, not the original image.</a:t>
            </a:r>
            <a:endParaRPr lang="en-US" dirty="0">
              <a:latin typeface="Times New Roman"/>
              <a:cs typeface="Times New Roman"/>
            </a:endParaRPr>
          </a:p>
          <a:p>
            <a:pPr marL="285750" indent="-285750">
              <a:buFont typeface="Arial"/>
              <a:buChar char="•"/>
            </a:pPr>
            <a:r>
              <a:rPr lang="en-US" dirty="0">
                <a:latin typeface="Times New Roman"/>
                <a:ea typeface="+mn-lt"/>
                <a:cs typeface="Times New Roman"/>
              </a:rPr>
              <a:t>Future inputs are compared with these stored representations to detect </a:t>
            </a:r>
            <a:r>
              <a:rPr lang="en-US" b="1" dirty="0">
                <a:latin typeface="Times New Roman"/>
                <a:ea typeface="+mn-lt"/>
                <a:cs typeface="Times New Roman"/>
              </a:rPr>
              <a:t>similar failure cases faster</a:t>
            </a:r>
            <a:r>
              <a:rPr lang="en-US" dirty="0">
                <a:latin typeface="Times New Roman"/>
                <a:ea typeface="+mn-lt"/>
                <a:cs typeface="Times New Roman"/>
              </a:rPr>
              <a:t>.</a:t>
            </a:r>
            <a:endParaRPr lang="en-US" dirty="0">
              <a:latin typeface="Times New Roman"/>
              <a:cs typeface="Times New Roman"/>
            </a:endParaRPr>
          </a:p>
          <a:p>
            <a:pPr marL="285750" indent="-285750">
              <a:buFont typeface="Arial"/>
              <a:buChar char="•"/>
            </a:pPr>
            <a:r>
              <a:rPr lang="en-US" b="1" dirty="0">
                <a:latin typeface="Times New Roman"/>
                <a:ea typeface="+mn-lt"/>
                <a:cs typeface="Times New Roman"/>
              </a:rPr>
              <a:t>Impact:</a:t>
            </a:r>
            <a:r>
              <a:rPr lang="en-US" dirty="0">
                <a:latin typeface="Times New Roman"/>
                <a:ea typeface="+mn-lt"/>
                <a:cs typeface="Times New Roman"/>
              </a:rPr>
              <a:t> Enables continual improvement while supporting </a:t>
            </a:r>
            <a:r>
              <a:rPr lang="en-US" b="1" dirty="0">
                <a:latin typeface="Times New Roman"/>
                <a:ea typeface="+mn-lt"/>
                <a:cs typeface="Times New Roman"/>
              </a:rPr>
              <a:t>privacy-preserving operation</a:t>
            </a:r>
            <a:r>
              <a:rPr lang="en-US" dirty="0">
                <a:latin typeface="Times New Roman"/>
                <a:ea typeface="+mn-lt"/>
                <a:cs typeface="Times New Roman"/>
              </a:rPr>
              <a:t>.</a:t>
            </a:r>
            <a:endParaRPr lang="en-US" dirty="0">
              <a:latin typeface="Times New Roman"/>
              <a:cs typeface="Times New Roman"/>
            </a:endParaRPr>
          </a:p>
        </p:txBody>
      </p:sp>
    </p:spTree>
    <p:extLst>
      <p:ext uri="{BB962C8B-B14F-4D97-AF65-F5344CB8AC3E}">
        <p14:creationId xmlns:p14="http://schemas.microsoft.com/office/powerpoint/2010/main" val="22967131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F34B2-8D22-8C87-98E8-71D482582011}"/>
            </a:ext>
          </a:extLst>
        </p:cNvPr>
        <p:cNvGrpSpPr/>
        <p:nvPr/>
      </p:nvGrpSpPr>
      <p:grpSpPr>
        <a:xfrm>
          <a:off x="0" y="0"/>
          <a:ext cx="0" cy="0"/>
          <a:chOff x="0" y="0"/>
          <a:chExt cx="0" cy="0"/>
        </a:xfrm>
      </p:grpSpPr>
      <p:pic>
        <p:nvPicPr>
          <p:cNvPr id="2" name="Image 0" descr="/home/claude/work/unpacked/ppt/media/image1.png">
            <a:extLst>
              <a:ext uri="{FF2B5EF4-FFF2-40B4-BE49-F238E27FC236}">
                <a16:creationId xmlns:a16="http://schemas.microsoft.com/office/drawing/2014/main" id="{8C76ED53-76E9-453F-956D-AEAB077428FE}"/>
              </a:ext>
            </a:extLst>
          </p:cNvPr>
          <p:cNvPicPr>
            <a:picLocks noChangeAspect="1"/>
          </p:cNvPicPr>
          <p:nvPr/>
        </p:nvPicPr>
        <p:blipFill>
          <a:blip r:embed="rId3"/>
          <a:stretch>
            <a:fillRect/>
          </a:stretch>
        </p:blipFill>
        <p:spPr>
          <a:xfrm>
            <a:off x="10931652" y="186538"/>
            <a:ext cx="1048817" cy="676656"/>
          </a:xfrm>
          <a:prstGeom prst="rect">
            <a:avLst/>
          </a:prstGeom>
        </p:spPr>
      </p:pic>
      <p:sp>
        <p:nvSpPr>
          <p:cNvPr id="3" name="Shape 0">
            <a:extLst>
              <a:ext uri="{FF2B5EF4-FFF2-40B4-BE49-F238E27FC236}">
                <a16:creationId xmlns:a16="http://schemas.microsoft.com/office/drawing/2014/main" id="{856F7266-1081-467F-2AFD-D1CC553AA342}"/>
              </a:ext>
            </a:extLst>
          </p:cNvPr>
          <p:cNvSpPr/>
          <p:nvPr/>
        </p:nvSpPr>
        <p:spPr>
          <a:xfrm flipV="1">
            <a:off x="6556" y="980630"/>
            <a:ext cx="12153585" cy="20876"/>
          </a:xfrm>
          <a:prstGeom prst="line">
            <a:avLst/>
          </a:prstGeom>
          <a:noFill/>
          <a:ln w="19050">
            <a:solidFill>
              <a:srgbClr val="AEABAB"/>
            </a:solidFill>
            <a:prstDash val="solid"/>
          </a:ln>
        </p:spPr>
      </p:sp>
      <p:sp>
        <p:nvSpPr>
          <p:cNvPr id="4" name="Text 1">
            <a:extLst>
              <a:ext uri="{FF2B5EF4-FFF2-40B4-BE49-F238E27FC236}">
                <a16:creationId xmlns:a16="http://schemas.microsoft.com/office/drawing/2014/main" id="{44889D22-0028-375D-A2B6-72F92580523C}"/>
              </a:ext>
            </a:extLst>
          </p:cNvPr>
          <p:cNvSpPr txBox="1"/>
          <p:nvPr/>
        </p:nvSpPr>
        <p:spPr>
          <a:xfrm>
            <a:off x="274320" y="292608"/>
            <a:ext cx="9601200" cy="640080"/>
          </a:xfrm>
          <a:prstGeom prst="rect">
            <a:avLst/>
          </a:prstGeom>
          <a:noFill/>
          <a:ln/>
        </p:spPr>
        <p:txBody>
          <a:bodyPr wrap="square" lIns="0" tIns="0" rIns="0" bIns="0" rtlCol="0" anchor="ctr"/>
          <a:lstStyle/>
          <a:p>
            <a:r>
              <a:rPr lang="en-US" sz="2400" b="1" dirty="0">
                <a:solidFill>
                  <a:srgbClr val="000000"/>
                </a:solidFill>
                <a:latin typeface="Times New Roman"/>
                <a:ea typeface="Calibri"/>
                <a:cs typeface="Times New Roman"/>
              </a:rPr>
              <a:t>Proposed Solution  </a:t>
            </a:r>
            <a:endParaRPr lang="en-US" sz="2400" dirty="0">
              <a:latin typeface="Times New Roman"/>
              <a:ea typeface="Calibri"/>
              <a:cs typeface="Times New Roman"/>
            </a:endParaRPr>
          </a:p>
        </p:txBody>
      </p:sp>
      <p:sp>
        <p:nvSpPr>
          <p:cNvPr id="5" name="Text 2">
            <a:extLst>
              <a:ext uri="{FF2B5EF4-FFF2-40B4-BE49-F238E27FC236}">
                <a16:creationId xmlns:a16="http://schemas.microsoft.com/office/drawing/2014/main" id="{4CF04125-6B2D-34FB-92EE-8FD2569055FF}"/>
              </a:ext>
            </a:extLst>
          </p:cNvPr>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a:extLst>
              <a:ext uri="{FF2B5EF4-FFF2-40B4-BE49-F238E27FC236}">
                <a16:creationId xmlns:a16="http://schemas.microsoft.com/office/drawing/2014/main" id="{57818102-BCF2-9CA4-AC01-796F9666923E}"/>
              </a:ext>
            </a:extLst>
          </p:cNvPr>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15</a:t>
            </a:r>
            <a:endParaRPr lang="en-US" sz="1000" dirty="0"/>
          </a:p>
        </p:txBody>
      </p:sp>
      <p:sp>
        <p:nvSpPr>
          <p:cNvPr id="46" name="TextBox 45">
            <a:extLst>
              <a:ext uri="{FF2B5EF4-FFF2-40B4-BE49-F238E27FC236}">
                <a16:creationId xmlns:a16="http://schemas.microsoft.com/office/drawing/2014/main" id="{A779600B-2C19-29BB-412F-E3B8A14DBDB4}"/>
              </a:ext>
            </a:extLst>
          </p:cNvPr>
          <p:cNvSpPr txBox="1"/>
          <p:nvPr/>
        </p:nvSpPr>
        <p:spPr>
          <a:xfrm>
            <a:off x="476426" y="1317642"/>
            <a:ext cx="10981764"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New Roman"/>
                <a:ea typeface="Calibri"/>
                <a:cs typeface="Times New Roman"/>
              </a:rPr>
              <a:t>3. Adaptive Confidence Threshold</a:t>
            </a:r>
          </a:p>
          <a:p>
            <a:pPr marL="285750" indent="-285750">
              <a:buFont typeface="Arial,Sans-Serif"/>
              <a:buChar char="•"/>
            </a:pPr>
            <a:r>
              <a:rPr lang="en-US" dirty="0">
                <a:latin typeface="Times New Roman"/>
                <a:ea typeface="Calibri"/>
                <a:cs typeface="Times New Roman"/>
              </a:rPr>
              <a:t>Uses a </a:t>
            </a:r>
            <a:r>
              <a:rPr lang="en-US" b="1" dirty="0">
                <a:latin typeface="Times New Roman"/>
                <a:ea typeface="Calibri"/>
                <a:cs typeface="Times New Roman"/>
              </a:rPr>
              <a:t>dynamic confidence threshold</a:t>
            </a:r>
            <a:r>
              <a:rPr lang="en-US" dirty="0">
                <a:latin typeface="Times New Roman"/>
                <a:ea typeface="Calibri"/>
                <a:cs typeface="Times New Roman"/>
              </a:rPr>
              <a:t> instead of a fixed threshold such as 90%.</a:t>
            </a:r>
          </a:p>
          <a:p>
            <a:pPr marL="285750" indent="-285750">
              <a:buFont typeface="Arial,Sans-Serif"/>
              <a:buChar char="•"/>
            </a:pPr>
            <a:r>
              <a:rPr lang="en-US" dirty="0">
                <a:latin typeface="Times New Roman"/>
                <a:ea typeface="Calibri"/>
                <a:cs typeface="Times New Roman"/>
              </a:rPr>
              <a:t>The threshold adapts according to the </a:t>
            </a:r>
            <a:r>
              <a:rPr lang="en-US" b="1" dirty="0">
                <a:latin typeface="Times New Roman"/>
                <a:ea typeface="Calibri"/>
                <a:cs typeface="Times New Roman"/>
              </a:rPr>
              <a:t>environmental conditions</a:t>
            </a:r>
            <a:r>
              <a:rPr lang="en-US" dirty="0">
                <a:latin typeface="Times New Roman"/>
                <a:ea typeface="Calibri"/>
                <a:cs typeface="Times New Roman"/>
              </a:rPr>
              <a:t>.</a:t>
            </a:r>
          </a:p>
          <a:p>
            <a:r>
              <a:rPr lang="en-US" b="1" dirty="0">
                <a:latin typeface="Times New Roman"/>
                <a:ea typeface="Calibri"/>
                <a:cs typeface="Times New Roman"/>
              </a:rPr>
              <a:t>Example:</a:t>
            </a:r>
            <a:endParaRPr lang="en-US" dirty="0">
              <a:latin typeface="Times New Roman"/>
              <a:ea typeface="Calibri"/>
              <a:cs typeface="Times New Roman"/>
            </a:endParaRPr>
          </a:p>
          <a:p>
            <a:pPr marL="285750" indent="-285750">
              <a:buFont typeface="Arial,Sans-Serif"/>
              <a:buChar char="•"/>
            </a:pPr>
            <a:r>
              <a:rPr lang="en-US" dirty="0">
                <a:latin typeface="Times New Roman"/>
                <a:ea typeface="Calibri"/>
                <a:cs typeface="Times New Roman"/>
              </a:rPr>
              <a:t> Daylight → </a:t>
            </a:r>
            <a:r>
              <a:rPr lang="en-US" b="1" dirty="0">
                <a:latin typeface="Times New Roman"/>
                <a:ea typeface="Calibri"/>
                <a:cs typeface="Times New Roman"/>
              </a:rPr>
              <a:t>85%</a:t>
            </a:r>
            <a:endParaRPr lang="en-US" dirty="0">
              <a:latin typeface="Times New Roman"/>
              <a:ea typeface="Calibri"/>
              <a:cs typeface="Times New Roman"/>
            </a:endParaRPr>
          </a:p>
          <a:p>
            <a:pPr marL="285750" indent="-285750">
              <a:buFont typeface="Arial,Sans-Serif"/>
              <a:buChar char="•"/>
            </a:pPr>
            <a:r>
              <a:rPr lang="en-US" dirty="0">
                <a:latin typeface="Times New Roman"/>
                <a:ea typeface="Calibri"/>
                <a:cs typeface="Times New Roman"/>
              </a:rPr>
              <a:t>️ Fog → </a:t>
            </a:r>
            <a:r>
              <a:rPr lang="en-US" b="1" dirty="0">
                <a:latin typeface="Times New Roman"/>
                <a:ea typeface="Calibri"/>
                <a:cs typeface="Times New Roman"/>
              </a:rPr>
              <a:t>95%</a:t>
            </a:r>
            <a:endParaRPr lang="en-US" dirty="0">
              <a:latin typeface="Times New Roman"/>
              <a:ea typeface="Calibri"/>
              <a:cs typeface="Times New Roman"/>
            </a:endParaRPr>
          </a:p>
          <a:p>
            <a:pPr marL="285750" indent="-285750">
              <a:buFont typeface="Arial,Sans-Serif"/>
              <a:buChar char="•"/>
            </a:pPr>
            <a:r>
              <a:rPr lang="en-US" dirty="0">
                <a:latin typeface="Times New Roman"/>
                <a:ea typeface="Calibri"/>
                <a:cs typeface="Times New Roman"/>
              </a:rPr>
              <a:t> Heavy Blur → </a:t>
            </a:r>
            <a:r>
              <a:rPr lang="en-US" b="1" dirty="0">
                <a:latin typeface="Times New Roman"/>
                <a:ea typeface="Calibri"/>
                <a:cs typeface="Times New Roman"/>
              </a:rPr>
              <a:t>98%</a:t>
            </a:r>
            <a:endParaRPr lang="en-US" dirty="0">
              <a:latin typeface="Times New Roman"/>
              <a:ea typeface="Calibri"/>
              <a:cs typeface="Times New Roman"/>
            </a:endParaRPr>
          </a:p>
          <a:p>
            <a:pPr marL="285750" indent="-285750">
              <a:buFont typeface="Arial,Sans-Serif"/>
              <a:buChar char="•"/>
            </a:pPr>
            <a:r>
              <a:rPr lang="en-US" dirty="0">
                <a:latin typeface="Times New Roman"/>
                <a:ea typeface="Calibri"/>
                <a:cs typeface="Times New Roman"/>
              </a:rPr>
              <a:t>This helps reduce </a:t>
            </a:r>
            <a:r>
              <a:rPr lang="en-US" b="1" dirty="0">
                <a:latin typeface="Times New Roman"/>
                <a:ea typeface="Calibri"/>
                <a:cs typeface="Times New Roman"/>
              </a:rPr>
              <a:t>false acceptances and unreliable predictions</a:t>
            </a:r>
            <a:r>
              <a:rPr lang="en-US" dirty="0">
                <a:latin typeface="Times New Roman"/>
                <a:ea typeface="Calibri"/>
                <a:cs typeface="Times New Roman"/>
              </a:rPr>
              <a:t> under difficult conditions.</a:t>
            </a:r>
          </a:p>
          <a:p>
            <a:endParaRPr lang="en-US" dirty="0">
              <a:latin typeface="Times New Roman"/>
              <a:ea typeface="Calibri"/>
              <a:cs typeface="Times New Roman"/>
            </a:endParaRPr>
          </a:p>
          <a:p>
            <a:r>
              <a:rPr lang="en-US" dirty="0">
                <a:latin typeface="Times New Roman"/>
                <a:ea typeface="Calibri"/>
                <a:cs typeface="Times New Roman"/>
              </a:rPr>
              <a:t>4. Explainable Failure Reason</a:t>
            </a:r>
          </a:p>
          <a:p>
            <a:pPr marL="285750" indent="-285750">
              <a:buFont typeface="Arial,Sans-Serif"/>
              <a:buChar char="•"/>
            </a:pPr>
            <a:r>
              <a:rPr lang="en-US" dirty="0">
                <a:latin typeface="Times New Roman"/>
                <a:ea typeface="Calibri"/>
                <a:cs typeface="Times New Roman"/>
              </a:rPr>
              <a:t>Instead of simply reporting </a:t>
            </a:r>
            <a:r>
              <a:rPr lang="en-US" b="1" dirty="0">
                <a:latin typeface="Times New Roman"/>
                <a:ea typeface="Calibri"/>
                <a:cs typeface="Times New Roman"/>
              </a:rPr>
              <a:t>“High Risk”</a:t>
            </a:r>
            <a:r>
              <a:rPr lang="en-US" dirty="0">
                <a:latin typeface="Times New Roman"/>
                <a:ea typeface="Calibri"/>
                <a:cs typeface="Times New Roman"/>
              </a:rPr>
              <a:t>, </a:t>
            </a:r>
            <a:r>
              <a:rPr lang="en-US" dirty="0" err="1">
                <a:latin typeface="Times New Roman"/>
                <a:ea typeface="Calibri"/>
                <a:cs typeface="Times New Roman"/>
              </a:rPr>
              <a:t>EdgeGuard</a:t>
            </a:r>
            <a:r>
              <a:rPr lang="en-US" dirty="0">
                <a:latin typeface="Times New Roman"/>
                <a:ea typeface="Calibri"/>
                <a:cs typeface="Times New Roman"/>
              </a:rPr>
              <a:t> identifies the likely reason for the unreliable prediction.</a:t>
            </a:r>
          </a:p>
          <a:p>
            <a:pPr marL="285750" indent="-285750">
              <a:buFont typeface="Arial,Sans-Serif"/>
              <a:buChar char="•"/>
            </a:pPr>
            <a:r>
              <a:rPr lang="en-US" dirty="0">
                <a:latin typeface="Times New Roman"/>
                <a:ea typeface="Calibri"/>
                <a:cs typeface="Times New Roman"/>
              </a:rPr>
              <a:t>Possible reasons include:</a:t>
            </a:r>
          </a:p>
          <a:p>
            <a:pPr marL="742950" lvl="1" indent="-285750">
              <a:buFont typeface="Arial,Sans-Serif"/>
              <a:buChar char="•"/>
            </a:pPr>
            <a:r>
              <a:rPr lang="en-US" b="1" dirty="0">
                <a:latin typeface="Times New Roman"/>
                <a:ea typeface="Calibri"/>
                <a:cs typeface="Times New Roman"/>
              </a:rPr>
              <a:t>Low Illumination</a:t>
            </a:r>
            <a:endParaRPr lang="en-US" dirty="0">
              <a:latin typeface="Times New Roman"/>
              <a:ea typeface="Calibri"/>
              <a:cs typeface="Times New Roman"/>
            </a:endParaRPr>
          </a:p>
          <a:p>
            <a:pPr marL="742950" lvl="1" indent="-285750">
              <a:buFont typeface="Arial,Sans-Serif"/>
              <a:buChar char="•"/>
            </a:pPr>
            <a:r>
              <a:rPr lang="en-US" b="1" dirty="0">
                <a:latin typeface="Times New Roman"/>
                <a:ea typeface="Calibri"/>
                <a:cs typeface="Times New Roman"/>
              </a:rPr>
              <a:t>Motion Blur</a:t>
            </a:r>
            <a:endParaRPr lang="en-US" dirty="0">
              <a:latin typeface="Times New Roman"/>
              <a:ea typeface="Calibri"/>
              <a:cs typeface="Times New Roman"/>
            </a:endParaRPr>
          </a:p>
          <a:p>
            <a:pPr marL="742950" lvl="1" indent="-285750">
              <a:buFont typeface="Arial,Sans-Serif"/>
              <a:buChar char="•"/>
            </a:pPr>
            <a:r>
              <a:rPr lang="en-US" b="1" dirty="0">
                <a:latin typeface="Times New Roman"/>
                <a:ea typeface="Calibri"/>
                <a:cs typeface="Times New Roman"/>
              </a:rPr>
              <a:t>Unknown Object / Out-of-Distribution Input</a:t>
            </a:r>
            <a:endParaRPr lang="en-US" dirty="0">
              <a:latin typeface="Times New Roman"/>
              <a:ea typeface="Calibri"/>
              <a:cs typeface="Times New Roman"/>
            </a:endParaRPr>
          </a:p>
          <a:p>
            <a:pPr marL="742950" lvl="1" indent="-285750">
              <a:buFont typeface="Arial,Sans-Serif"/>
              <a:buChar char="•"/>
            </a:pPr>
            <a:r>
              <a:rPr lang="en-US" b="1" dirty="0">
                <a:latin typeface="Times New Roman"/>
                <a:ea typeface="Calibri"/>
                <a:cs typeface="Times New Roman"/>
              </a:rPr>
              <a:t>Sensor Noise</a:t>
            </a:r>
            <a:endParaRPr lang="en-US" dirty="0">
              <a:latin typeface="Times New Roman"/>
              <a:ea typeface="Calibri"/>
              <a:cs typeface="Times New Roman"/>
            </a:endParaRPr>
          </a:p>
          <a:p>
            <a:pPr marL="285750" indent="-285750">
              <a:buFont typeface="Arial,Sans-Serif"/>
              <a:buChar char="•"/>
            </a:pPr>
            <a:r>
              <a:rPr lang="en-US" dirty="0">
                <a:latin typeface="Times New Roman"/>
                <a:ea typeface="Calibri"/>
                <a:cs typeface="Times New Roman"/>
              </a:rPr>
              <a:t>This makes the system more </a:t>
            </a:r>
            <a:r>
              <a:rPr lang="en-US" b="1" dirty="0">
                <a:latin typeface="Times New Roman"/>
                <a:ea typeface="Calibri"/>
                <a:cs typeface="Times New Roman"/>
              </a:rPr>
              <a:t>interpretable and actionable for industrial operators</a:t>
            </a:r>
            <a:r>
              <a:rPr lang="en-US" dirty="0">
                <a:latin typeface="Times New Roman"/>
                <a:ea typeface="Calibri"/>
                <a:cs typeface="Times New Roman"/>
              </a:rPr>
              <a:t>.</a:t>
            </a:r>
          </a:p>
          <a:p>
            <a:endParaRPr lang="en-US" dirty="0">
              <a:latin typeface="Times New Roman"/>
              <a:ea typeface="Calibri"/>
              <a:cs typeface="Times New Roman"/>
            </a:endParaRPr>
          </a:p>
        </p:txBody>
      </p:sp>
    </p:spTree>
    <p:extLst>
      <p:ext uri="{BB962C8B-B14F-4D97-AF65-F5344CB8AC3E}">
        <p14:creationId xmlns:p14="http://schemas.microsoft.com/office/powerpoint/2010/main" val="41680940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85EFA-5E16-2C84-6D4F-7FD036A4EBD8}"/>
            </a:ext>
          </a:extLst>
        </p:cNvPr>
        <p:cNvGrpSpPr/>
        <p:nvPr/>
      </p:nvGrpSpPr>
      <p:grpSpPr>
        <a:xfrm>
          <a:off x="0" y="0"/>
          <a:ext cx="0" cy="0"/>
          <a:chOff x="0" y="0"/>
          <a:chExt cx="0" cy="0"/>
        </a:xfrm>
      </p:grpSpPr>
      <p:pic>
        <p:nvPicPr>
          <p:cNvPr id="2" name="Image 0" descr="/home/claude/work/unpacked/ppt/media/image1.png">
            <a:extLst>
              <a:ext uri="{FF2B5EF4-FFF2-40B4-BE49-F238E27FC236}">
                <a16:creationId xmlns:a16="http://schemas.microsoft.com/office/drawing/2014/main" id="{30BF43BD-1D9E-1355-E3DD-2DF052DEBB06}"/>
              </a:ext>
            </a:extLst>
          </p:cNvPr>
          <p:cNvPicPr>
            <a:picLocks noChangeAspect="1"/>
          </p:cNvPicPr>
          <p:nvPr/>
        </p:nvPicPr>
        <p:blipFill>
          <a:blip r:embed="rId3"/>
          <a:stretch>
            <a:fillRect/>
          </a:stretch>
        </p:blipFill>
        <p:spPr>
          <a:xfrm>
            <a:off x="10931652" y="186538"/>
            <a:ext cx="1048817" cy="676656"/>
          </a:xfrm>
          <a:prstGeom prst="rect">
            <a:avLst/>
          </a:prstGeom>
        </p:spPr>
      </p:pic>
      <p:sp>
        <p:nvSpPr>
          <p:cNvPr id="3" name="Shape 0">
            <a:extLst>
              <a:ext uri="{FF2B5EF4-FFF2-40B4-BE49-F238E27FC236}">
                <a16:creationId xmlns:a16="http://schemas.microsoft.com/office/drawing/2014/main" id="{6DFC6835-6D1E-ED4F-54BF-A07B60110F8D}"/>
              </a:ext>
            </a:extLst>
          </p:cNvPr>
          <p:cNvSpPr/>
          <p:nvPr/>
        </p:nvSpPr>
        <p:spPr>
          <a:xfrm flipV="1">
            <a:off x="6556" y="980630"/>
            <a:ext cx="12153585" cy="20876"/>
          </a:xfrm>
          <a:prstGeom prst="line">
            <a:avLst/>
          </a:prstGeom>
          <a:noFill/>
          <a:ln w="19050">
            <a:solidFill>
              <a:srgbClr val="AEABAB"/>
            </a:solidFill>
            <a:prstDash val="solid"/>
          </a:ln>
        </p:spPr>
      </p:sp>
      <p:sp>
        <p:nvSpPr>
          <p:cNvPr id="4" name="Text 1">
            <a:extLst>
              <a:ext uri="{FF2B5EF4-FFF2-40B4-BE49-F238E27FC236}">
                <a16:creationId xmlns:a16="http://schemas.microsoft.com/office/drawing/2014/main" id="{EAA899C9-4789-C27F-8F70-8CA1BF1DE712}"/>
              </a:ext>
            </a:extLst>
          </p:cNvPr>
          <p:cNvSpPr txBox="1"/>
          <p:nvPr/>
        </p:nvSpPr>
        <p:spPr>
          <a:xfrm>
            <a:off x="274320" y="292608"/>
            <a:ext cx="9601200" cy="640080"/>
          </a:xfrm>
          <a:prstGeom prst="rect">
            <a:avLst/>
          </a:prstGeom>
          <a:noFill/>
          <a:ln/>
        </p:spPr>
        <p:txBody>
          <a:bodyPr wrap="square" lIns="0" tIns="0" rIns="0" bIns="0" rtlCol="0" anchor="ctr"/>
          <a:lstStyle/>
          <a:p>
            <a:pPr algn="just"/>
            <a:r>
              <a:rPr lang="en-US" sz="2400" b="1" dirty="0">
                <a:solidFill>
                  <a:srgbClr val="000000"/>
                </a:solidFill>
                <a:latin typeface="Times New Roman"/>
                <a:ea typeface="Calibri"/>
                <a:cs typeface="Times New Roman"/>
              </a:rPr>
              <a:t>Dataset and Evaluation metrics</a:t>
            </a:r>
            <a:endParaRPr lang="en-US" dirty="0">
              <a:latin typeface="Times New Roman"/>
              <a:cs typeface="Times New Roman"/>
            </a:endParaRPr>
          </a:p>
        </p:txBody>
      </p:sp>
      <p:sp>
        <p:nvSpPr>
          <p:cNvPr id="5" name="Text 2">
            <a:extLst>
              <a:ext uri="{FF2B5EF4-FFF2-40B4-BE49-F238E27FC236}">
                <a16:creationId xmlns:a16="http://schemas.microsoft.com/office/drawing/2014/main" id="{CFE41794-1466-6A54-0A66-9707E278A9ED}"/>
              </a:ext>
            </a:extLst>
          </p:cNvPr>
          <p:cNvSpPr txBox="1"/>
          <p:nvPr/>
        </p:nvSpPr>
        <p:spPr>
          <a:xfrm>
            <a:off x="274320" y="6565392"/>
            <a:ext cx="1828800" cy="256032"/>
          </a:xfrm>
          <a:prstGeom prst="rect">
            <a:avLst/>
          </a:prstGeom>
          <a:noFill/>
          <a:ln/>
        </p:spPr>
        <p:txBody>
          <a:bodyPr wrap="square" lIns="0" tIns="0" rIns="0" bIns="0" rtlCol="0" anchor="ctr"/>
          <a:lstStyle/>
          <a:p>
            <a:pPr marL="0" indent="0" algn="just">
              <a:buNone/>
            </a:pPr>
            <a:r>
              <a:rPr lang="en-US" sz="1000" dirty="0">
                <a:solidFill>
                  <a:srgbClr val="595959"/>
                </a:solidFill>
                <a:latin typeface="Times New Roman"/>
                <a:ea typeface="Calibri" pitchFamily="34" charset="-122"/>
                <a:cs typeface="Times New Roman"/>
              </a:rPr>
              <a:t>06-09-2026</a:t>
            </a:r>
            <a:endParaRPr lang="en-US" sz="1000" dirty="0">
              <a:latin typeface="Times New Roman"/>
              <a:cs typeface="Times New Roman"/>
            </a:endParaRPr>
          </a:p>
        </p:txBody>
      </p:sp>
      <p:sp>
        <p:nvSpPr>
          <p:cNvPr id="6" name="Text 3">
            <a:extLst>
              <a:ext uri="{FF2B5EF4-FFF2-40B4-BE49-F238E27FC236}">
                <a16:creationId xmlns:a16="http://schemas.microsoft.com/office/drawing/2014/main" id="{45B2919C-DABA-5474-79F2-944AB9B2CBB0}"/>
              </a:ext>
            </a:extLst>
          </p:cNvPr>
          <p:cNvSpPr txBox="1"/>
          <p:nvPr/>
        </p:nvSpPr>
        <p:spPr>
          <a:xfrm>
            <a:off x="11795760" y="6565392"/>
            <a:ext cx="365760" cy="256032"/>
          </a:xfrm>
          <a:prstGeom prst="rect">
            <a:avLst/>
          </a:prstGeom>
          <a:noFill/>
          <a:ln/>
        </p:spPr>
        <p:txBody>
          <a:bodyPr wrap="square" lIns="0" tIns="0" rIns="0" bIns="0" rtlCol="0" anchor="ctr"/>
          <a:lstStyle/>
          <a:p>
            <a:pPr marL="0" indent="0" algn="just">
              <a:buNone/>
            </a:pPr>
            <a:r>
              <a:rPr lang="en-US" sz="1000" dirty="0">
                <a:solidFill>
                  <a:srgbClr val="595959"/>
                </a:solidFill>
                <a:latin typeface="Times New Roman"/>
                <a:ea typeface="Calibri" pitchFamily="34" charset="-122"/>
                <a:cs typeface="Times New Roman"/>
              </a:rPr>
              <a:t>15</a:t>
            </a:r>
            <a:endParaRPr lang="en-US" sz="1000" dirty="0">
              <a:latin typeface="Times New Roman"/>
              <a:cs typeface="Times New Roman"/>
            </a:endParaRPr>
          </a:p>
        </p:txBody>
      </p:sp>
      <p:graphicFrame>
        <p:nvGraphicFramePr>
          <p:cNvPr id="8" name="Table 7">
            <a:extLst>
              <a:ext uri="{FF2B5EF4-FFF2-40B4-BE49-F238E27FC236}">
                <a16:creationId xmlns:a16="http://schemas.microsoft.com/office/drawing/2014/main" id="{BF26E393-EE34-B977-1A2C-8CD2A030B625}"/>
              </a:ext>
            </a:extLst>
          </p:cNvPr>
          <p:cNvGraphicFramePr>
            <a:graphicFrameLocks noGrp="1"/>
          </p:cNvGraphicFramePr>
          <p:nvPr>
            <p:extLst>
              <p:ext uri="{D42A27DB-BD31-4B8C-83A1-F6EECF244321}">
                <p14:modId xmlns:p14="http://schemas.microsoft.com/office/powerpoint/2010/main" val="3937923947"/>
              </p:ext>
            </p:extLst>
          </p:nvPr>
        </p:nvGraphicFramePr>
        <p:xfrm>
          <a:off x="488830" y="1180094"/>
          <a:ext cx="12191998" cy="1463040"/>
        </p:xfrm>
        <a:graphic>
          <a:graphicData uri="http://schemas.openxmlformats.org/drawingml/2006/table">
            <a:tbl>
              <a:tblPr bandRow="1">
                <a:tableStyleId>{5C22544A-7EE6-4342-B048-85BDC9FD1C3A}</a:tableStyleId>
              </a:tblPr>
              <a:tblGrid>
                <a:gridCol w="1658470">
                  <a:extLst>
                    <a:ext uri="{9D8B030D-6E8A-4147-A177-3AD203B41FA5}">
                      <a16:colId xmlns:a16="http://schemas.microsoft.com/office/drawing/2014/main" val="4094623913"/>
                    </a:ext>
                  </a:extLst>
                </a:gridCol>
                <a:gridCol w="10533528">
                  <a:extLst>
                    <a:ext uri="{9D8B030D-6E8A-4147-A177-3AD203B41FA5}">
                      <a16:colId xmlns:a16="http://schemas.microsoft.com/office/drawing/2014/main" val="3693096351"/>
                    </a:ext>
                  </a:extLst>
                </a:gridCol>
              </a:tblGrid>
              <a:tr h="0">
                <a:tc>
                  <a:txBody>
                    <a:bodyPr/>
                    <a:lstStyle/>
                    <a:p>
                      <a:pPr algn="just">
                        <a:buNone/>
                      </a:pPr>
                      <a:r>
                        <a:rPr lang="en-US" b="1" dirty="0">
                          <a:latin typeface="Times New Roman"/>
                          <a:cs typeface="Times New Roman"/>
                        </a:rPr>
                        <a:t>Dataset</a:t>
                      </a:r>
                      <a:endParaRPr lang="en-US">
                        <a:latin typeface="Times New Roman"/>
                        <a:cs typeface="Times New Roman"/>
                      </a:endParaRPr>
                    </a:p>
                  </a:txBody>
                  <a:tcPr anchor="ctr">
                    <a:lnL>
                      <a:noFill/>
                    </a:lnL>
                    <a:lnR>
                      <a:noFill/>
                    </a:lnR>
                    <a:lnT>
                      <a:noFill/>
                    </a:lnT>
                    <a:lnB>
                      <a:noFill/>
                    </a:lnB>
                    <a:noFill/>
                  </a:tcPr>
                </a:tc>
                <a:tc>
                  <a:txBody>
                    <a:bodyPr/>
                    <a:lstStyle/>
                    <a:p>
                      <a:pPr algn="just">
                        <a:buNone/>
                      </a:pPr>
                      <a:r>
                        <a:rPr lang="en-US" b="1" dirty="0">
                          <a:latin typeface="Times New Roman"/>
                          <a:cs typeface="Times New Roman"/>
                        </a:rPr>
                        <a:t>Role in </a:t>
                      </a:r>
                      <a:r>
                        <a:rPr lang="en-US" b="1" dirty="0" err="1">
                          <a:latin typeface="Times New Roman"/>
                          <a:cs typeface="Times New Roman"/>
                        </a:rPr>
                        <a:t>EdgeGuard</a:t>
                      </a:r>
                      <a:endParaRPr lang="en-US">
                        <a:latin typeface="Times New Roman"/>
                        <a:cs typeface="Times New Roman"/>
                      </a:endParaRPr>
                    </a:p>
                  </a:txBody>
                  <a:tcPr anchor="ctr">
                    <a:lnL>
                      <a:noFill/>
                    </a:lnL>
                    <a:lnR>
                      <a:noFill/>
                    </a:lnR>
                    <a:lnT>
                      <a:noFill/>
                    </a:lnT>
                    <a:lnB>
                      <a:noFill/>
                    </a:lnB>
                    <a:noFill/>
                  </a:tcPr>
                </a:tc>
                <a:extLst>
                  <a:ext uri="{0D108BD9-81ED-4DB2-BD59-A6C34878D82A}">
                    <a16:rowId xmlns:a16="http://schemas.microsoft.com/office/drawing/2014/main" val="1812726308"/>
                  </a:ext>
                </a:extLst>
              </a:tr>
              <a:tr h="0">
                <a:tc>
                  <a:txBody>
                    <a:bodyPr/>
                    <a:lstStyle/>
                    <a:p>
                      <a:pPr algn="just">
                        <a:buNone/>
                      </a:pPr>
                      <a:r>
                        <a:rPr lang="en-US" b="1" dirty="0">
                          <a:latin typeface="Times New Roman"/>
                          <a:cs typeface="Times New Roman"/>
                        </a:rPr>
                        <a:t>CIFAR-10</a:t>
                      </a:r>
                      <a:endParaRPr lang="en-US" dirty="0">
                        <a:latin typeface="Times New Roman"/>
                        <a:cs typeface="Times New Roman"/>
                      </a:endParaRPr>
                    </a:p>
                  </a:txBody>
                  <a:tcPr anchor="ctr">
                    <a:lnL>
                      <a:noFill/>
                    </a:lnL>
                    <a:lnR>
                      <a:noFill/>
                    </a:lnR>
                    <a:lnT>
                      <a:noFill/>
                    </a:lnT>
                    <a:lnB>
                      <a:noFill/>
                    </a:lnB>
                    <a:noFill/>
                  </a:tcPr>
                </a:tc>
                <a:tc>
                  <a:txBody>
                    <a:bodyPr/>
                    <a:lstStyle/>
                    <a:p>
                      <a:pPr algn="just">
                        <a:buNone/>
                      </a:pPr>
                      <a:r>
                        <a:rPr lang="en-US" dirty="0">
                          <a:latin typeface="Times New Roman"/>
                          <a:cs typeface="Times New Roman"/>
                        </a:rPr>
                        <a:t>Normal training / in-distribution data</a:t>
                      </a:r>
                    </a:p>
                  </a:txBody>
                  <a:tcPr anchor="ctr">
                    <a:lnL>
                      <a:noFill/>
                    </a:lnL>
                    <a:lnR>
                      <a:noFill/>
                    </a:lnR>
                    <a:lnT>
                      <a:noFill/>
                    </a:lnT>
                    <a:lnB>
                      <a:noFill/>
                    </a:lnB>
                    <a:noFill/>
                  </a:tcPr>
                </a:tc>
                <a:extLst>
                  <a:ext uri="{0D108BD9-81ED-4DB2-BD59-A6C34878D82A}">
                    <a16:rowId xmlns:a16="http://schemas.microsoft.com/office/drawing/2014/main" val="3205708528"/>
                  </a:ext>
                </a:extLst>
              </a:tr>
              <a:tr h="0">
                <a:tc>
                  <a:txBody>
                    <a:bodyPr/>
                    <a:lstStyle/>
                    <a:p>
                      <a:pPr algn="just">
                        <a:buNone/>
                      </a:pPr>
                      <a:r>
                        <a:rPr lang="en-US" b="1" dirty="0">
                          <a:latin typeface="Times New Roman"/>
                          <a:cs typeface="Times New Roman"/>
                        </a:rPr>
                        <a:t>CIFAR-100</a:t>
                      </a:r>
                      <a:endParaRPr lang="en-US" dirty="0">
                        <a:latin typeface="Times New Roman"/>
                        <a:cs typeface="Times New Roman"/>
                      </a:endParaRPr>
                    </a:p>
                  </a:txBody>
                  <a:tcPr anchor="ctr">
                    <a:lnL>
                      <a:noFill/>
                    </a:lnL>
                    <a:lnR>
                      <a:noFill/>
                    </a:lnR>
                    <a:lnT>
                      <a:noFill/>
                    </a:lnT>
                    <a:lnB>
                      <a:noFill/>
                    </a:lnB>
                    <a:noFill/>
                  </a:tcPr>
                </a:tc>
                <a:tc>
                  <a:txBody>
                    <a:bodyPr/>
                    <a:lstStyle/>
                    <a:p>
                      <a:pPr algn="just">
                        <a:buNone/>
                      </a:pPr>
                      <a:r>
                        <a:rPr lang="en-US" dirty="0">
                          <a:latin typeface="Times New Roman"/>
                          <a:cs typeface="Times New Roman"/>
                        </a:rPr>
                        <a:t>Unseen objects / out-of-distribution testing</a:t>
                      </a:r>
                    </a:p>
                  </a:txBody>
                  <a:tcPr anchor="ctr">
                    <a:lnL>
                      <a:noFill/>
                    </a:lnL>
                    <a:lnR>
                      <a:noFill/>
                    </a:lnR>
                    <a:lnT>
                      <a:noFill/>
                    </a:lnT>
                    <a:lnB>
                      <a:noFill/>
                    </a:lnB>
                    <a:noFill/>
                  </a:tcPr>
                </a:tc>
                <a:extLst>
                  <a:ext uri="{0D108BD9-81ED-4DB2-BD59-A6C34878D82A}">
                    <a16:rowId xmlns:a16="http://schemas.microsoft.com/office/drawing/2014/main" val="698764946"/>
                  </a:ext>
                </a:extLst>
              </a:tr>
              <a:tr h="0">
                <a:tc>
                  <a:txBody>
                    <a:bodyPr/>
                    <a:lstStyle/>
                    <a:p>
                      <a:pPr algn="just">
                        <a:buNone/>
                      </a:pPr>
                      <a:r>
                        <a:rPr lang="en-US" b="1" dirty="0">
                          <a:latin typeface="Times New Roman"/>
                          <a:cs typeface="Times New Roman"/>
                        </a:rPr>
                        <a:t>CIFAR-10-C</a:t>
                      </a:r>
                      <a:endParaRPr lang="en-US" dirty="0">
                        <a:latin typeface="Times New Roman"/>
                        <a:cs typeface="Times New Roman"/>
                      </a:endParaRPr>
                    </a:p>
                  </a:txBody>
                  <a:tcPr anchor="ctr">
                    <a:lnL>
                      <a:noFill/>
                    </a:lnL>
                    <a:lnR>
                      <a:noFill/>
                    </a:lnR>
                    <a:lnT>
                      <a:noFill/>
                    </a:lnT>
                    <a:lnB>
                      <a:noFill/>
                    </a:lnB>
                    <a:noFill/>
                  </a:tcPr>
                </a:tc>
                <a:tc>
                  <a:txBody>
                    <a:bodyPr/>
                    <a:lstStyle/>
                    <a:p>
                      <a:pPr algn="just">
                        <a:buNone/>
                      </a:pPr>
                      <a:r>
                        <a:rPr lang="en-US" dirty="0">
                          <a:latin typeface="Times New Roman"/>
                          <a:cs typeface="Times New Roman"/>
                        </a:rPr>
                        <a:t>Real-world image corruptions such as blur, noise, fog, and brightness changes</a:t>
                      </a:r>
                    </a:p>
                  </a:txBody>
                  <a:tcPr anchor="ctr">
                    <a:lnL>
                      <a:noFill/>
                    </a:lnL>
                    <a:lnR>
                      <a:noFill/>
                    </a:lnR>
                    <a:lnT>
                      <a:noFill/>
                    </a:lnT>
                    <a:lnB>
                      <a:noFill/>
                    </a:lnB>
                    <a:noFill/>
                  </a:tcPr>
                </a:tc>
                <a:extLst>
                  <a:ext uri="{0D108BD9-81ED-4DB2-BD59-A6C34878D82A}">
                    <a16:rowId xmlns:a16="http://schemas.microsoft.com/office/drawing/2014/main" val="1444836911"/>
                  </a:ext>
                </a:extLst>
              </a:tr>
            </a:tbl>
          </a:graphicData>
        </a:graphic>
      </p:graphicFrame>
      <p:graphicFrame>
        <p:nvGraphicFramePr>
          <p:cNvPr id="11" name="Table 10">
            <a:extLst>
              <a:ext uri="{FF2B5EF4-FFF2-40B4-BE49-F238E27FC236}">
                <a16:creationId xmlns:a16="http://schemas.microsoft.com/office/drawing/2014/main" id="{7060D6A7-5BE1-B430-B2B0-55F1C77122DF}"/>
              </a:ext>
            </a:extLst>
          </p:cNvPr>
          <p:cNvGraphicFramePr>
            <a:graphicFrameLocks noGrp="1"/>
          </p:cNvGraphicFramePr>
          <p:nvPr>
            <p:extLst>
              <p:ext uri="{D42A27DB-BD31-4B8C-83A1-F6EECF244321}">
                <p14:modId xmlns:p14="http://schemas.microsoft.com/office/powerpoint/2010/main" val="1958607822"/>
              </p:ext>
            </p:extLst>
          </p:nvPr>
        </p:nvGraphicFramePr>
        <p:xfrm>
          <a:off x="488830" y="3422099"/>
          <a:ext cx="9965648" cy="3291840"/>
        </p:xfrm>
        <a:graphic>
          <a:graphicData uri="http://schemas.openxmlformats.org/drawingml/2006/table">
            <a:tbl>
              <a:tblPr bandRow="1">
                <a:tableStyleId>{5A111915-BE36-4E01-A7E5-04B1672EAD32}</a:tableStyleId>
              </a:tblPr>
              <a:tblGrid>
                <a:gridCol w="3899646">
                  <a:extLst>
                    <a:ext uri="{9D8B030D-6E8A-4147-A177-3AD203B41FA5}">
                      <a16:colId xmlns:a16="http://schemas.microsoft.com/office/drawing/2014/main" val="600477711"/>
                    </a:ext>
                  </a:extLst>
                </a:gridCol>
                <a:gridCol w="6066002">
                  <a:extLst>
                    <a:ext uri="{9D8B030D-6E8A-4147-A177-3AD203B41FA5}">
                      <a16:colId xmlns:a16="http://schemas.microsoft.com/office/drawing/2014/main" val="1094224567"/>
                    </a:ext>
                  </a:extLst>
                </a:gridCol>
              </a:tblGrid>
              <a:tr h="0">
                <a:tc>
                  <a:txBody>
                    <a:bodyPr/>
                    <a:lstStyle/>
                    <a:p>
                      <a:pPr algn="just">
                        <a:buNone/>
                      </a:pPr>
                      <a:r>
                        <a:rPr lang="en-US" dirty="0">
                          <a:latin typeface="Times New Roman"/>
                          <a:cs typeface="Times New Roman"/>
                        </a:rPr>
                        <a:t>Metric</a:t>
                      </a:r>
                    </a:p>
                  </a:txBody>
                  <a:tcPr anchor="ctr"/>
                </a:tc>
                <a:tc>
                  <a:txBody>
                    <a:bodyPr/>
                    <a:lstStyle/>
                    <a:p>
                      <a:pPr algn="just">
                        <a:buNone/>
                      </a:pPr>
                      <a:r>
                        <a:rPr lang="en-US" dirty="0">
                          <a:latin typeface="Times New Roman"/>
                          <a:cs typeface="Times New Roman"/>
                        </a:rPr>
                        <a:t>Purpose</a:t>
                      </a:r>
                    </a:p>
                  </a:txBody>
                  <a:tcPr anchor="ctr"/>
                </a:tc>
                <a:extLst>
                  <a:ext uri="{0D108BD9-81ED-4DB2-BD59-A6C34878D82A}">
                    <a16:rowId xmlns:a16="http://schemas.microsoft.com/office/drawing/2014/main" val="2701300450"/>
                  </a:ext>
                </a:extLst>
              </a:tr>
              <a:tr h="0">
                <a:tc>
                  <a:txBody>
                    <a:bodyPr/>
                    <a:lstStyle/>
                    <a:p>
                      <a:pPr algn="just">
                        <a:buNone/>
                      </a:pPr>
                      <a:r>
                        <a:rPr lang="en-US" dirty="0">
                          <a:latin typeface="Times New Roman"/>
                          <a:cs typeface="Times New Roman"/>
                        </a:rPr>
                        <a:t>Classification Accuracy</a:t>
                      </a:r>
                    </a:p>
                  </a:txBody>
                  <a:tcPr anchor="ctr"/>
                </a:tc>
                <a:tc>
                  <a:txBody>
                    <a:bodyPr/>
                    <a:lstStyle/>
                    <a:p>
                      <a:pPr algn="just">
                        <a:buNone/>
                      </a:pPr>
                      <a:r>
                        <a:rPr lang="en-US" dirty="0">
                          <a:latin typeface="Times New Roman"/>
                          <a:cs typeface="Times New Roman"/>
                        </a:rPr>
                        <a:t>Measures correct predictions</a:t>
                      </a:r>
                    </a:p>
                  </a:txBody>
                  <a:tcPr anchor="ctr"/>
                </a:tc>
                <a:extLst>
                  <a:ext uri="{0D108BD9-81ED-4DB2-BD59-A6C34878D82A}">
                    <a16:rowId xmlns:a16="http://schemas.microsoft.com/office/drawing/2014/main" val="1277374795"/>
                  </a:ext>
                </a:extLst>
              </a:tr>
              <a:tr h="0">
                <a:tc>
                  <a:txBody>
                    <a:bodyPr/>
                    <a:lstStyle/>
                    <a:p>
                      <a:pPr algn="just">
                        <a:buNone/>
                      </a:pPr>
                      <a:r>
                        <a:rPr lang="en-US" dirty="0">
                          <a:latin typeface="Times New Roman"/>
                          <a:cs typeface="Times New Roman"/>
                        </a:rPr>
                        <a:t>Precision &amp; Recall</a:t>
                      </a:r>
                    </a:p>
                  </a:txBody>
                  <a:tcPr anchor="ctr"/>
                </a:tc>
                <a:tc>
                  <a:txBody>
                    <a:bodyPr/>
                    <a:lstStyle/>
                    <a:p>
                      <a:pPr algn="just">
                        <a:buNone/>
                      </a:pPr>
                      <a:r>
                        <a:rPr lang="en-US" dirty="0">
                          <a:latin typeface="Times New Roman"/>
                          <a:cs typeface="Times New Roman"/>
                        </a:rPr>
                        <a:t>Measures failure detection quality</a:t>
                      </a:r>
                    </a:p>
                  </a:txBody>
                  <a:tcPr anchor="ctr"/>
                </a:tc>
                <a:extLst>
                  <a:ext uri="{0D108BD9-81ED-4DB2-BD59-A6C34878D82A}">
                    <a16:rowId xmlns:a16="http://schemas.microsoft.com/office/drawing/2014/main" val="2601960156"/>
                  </a:ext>
                </a:extLst>
              </a:tr>
              <a:tr h="0">
                <a:tc>
                  <a:txBody>
                    <a:bodyPr/>
                    <a:lstStyle/>
                    <a:p>
                      <a:pPr algn="just">
                        <a:buNone/>
                      </a:pPr>
                      <a:r>
                        <a:rPr lang="en-US" dirty="0">
                          <a:latin typeface="Times New Roman"/>
                          <a:cs typeface="Times New Roman"/>
                        </a:rPr>
                        <a:t>F1-Score</a:t>
                      </a:r>
                    </a:p>
                  </a:txBody>
                  <a:tcPr anchor="ctr"/>
                </a:tc>
                <a:tc>
                  <a:txBody>
                    <a:bodyPr/>
                    <a:lstStyle/>
                    <a:p>
                      <a:pPr algn="just">
                        <a:buNone/>
                      </a:pPr>
                      <a:r>
                        <a:rPr lang="en-US" dirty="0">
                          <a:latin typeface="Times New Roman"/>
                          <a:cs typeface="Times New Roman"/>
                        </a:rPr>
                        <a:t>Provides a balanced measure of precision and recall</a:t>
                      </a:r>
                    </a:p>
                  </a:txBody>
                  <a:tcPr anchor="ctr"/>
                </a:tc>
                <a:extLst>
                  <a:ext uri="{0D108BD9-81ED-4DB2-BD59-A6C34878D82A}">
                    <a16:rowId xmlns:a16="http://schemas.microsoft.com/office/drawing/2014/main" val="3246386862"/>
                  </a:ext>
                </a:extLst>
              </a:tr>
              <a:tr h="0">
                <a:tc>
                  <a:txBody>
                    <a:bodyPr/>
                    <a:lstStyle/>
                    <a:p>
                      <a:pPr algn="just">
                        <a:buNone/>
                      </a:pPr>
                      <a:r>
                        <a:rPr lang="en-US" dirty="0">
                          <a:latin typeface="Times New Roman"/>
                          <a:cs typeface="Times New Roman"/>
                        </a:rPr>
                        <a:t>AUROC</a:t>
                      </a:r>
                    </a:p>
                  </a:txBody>
                  <a:tcPr anchor="ctr"/>
                </a:tc>
                <a:tc>
                  <a:txBody>
                    <a:bodyPr/>
                    <a:lstStyle/>
                    <a:p>
                      <a:pPr algn="just">
                        <a:buNone/>
                      </a:pPr>
                      <a:r>
                        <a:rPr lang="en-US" dirty="0">
                          <a:latin typeface="Times New Roman"/>
                          <a:cs typeface="Times New Roman"/>
                        </a:rPr>
                        <a:t>Evaluates out-of-distribution (OOD) detection capability</a:t>
                      </a:r>
                    </a:p>
                  </a:txBody>
                  <a:tcPr anchor="ctr"/>
                </a:tc>
                <a:extLst>
                  <a:ext uri="{0D108BD9-81ED-4DB2-BD59-A6C34878D82A}">
                    <a16:rowId xmlns:a16="http://schemas.microsoft.com/office/drawing/2014/main" val="2515133662"/>
                  </a:ext>
                </a:extLst>
              </a:tr>
              <a:tr h="0">
                <a:tc>
                  <a:txBody>
                    <a:bodyPr/>
                    <a:lstStyle/>
                    <a:p>
                      <a:pPr algn="just">
                        <a:buNone/>
                      </a:pPr>
                      <a:r>
                        <a:rPr lang="en-US" dirty="0">
                          <a:latin typeface="Times New Roman"/>
                          <a:cs typeface="Times New Roman"/>
                        </a:rPr>
                        <a:t>False Alarm Rate</a:t>
                      </a:r>
                    </a:p>
                  </a:txBody>
                  <a:tcPr anchor="ctr"/>
                </a:tc>
                <a:tc>
                  <a:txBody>
                    <a:bodyPr/>
                    <a:lstStyle/>
                    <a:p>
                      <a:pPr algn="just">
                        <a:buNone/>
                      </a:pPr>
                      <a:r>
                        <a:rPr lang="en-US" dirty="0">
                          <a:latin typeface="Times New Roman"/>
                          <a:cs typeface="Times New Roman"/>
                        </a:rPr>
                        <a:t>Measures incorrect warnings generated by the system</a:t>
                      </a:r>
                    </a:p>
                  </a:txBody>
                  <a:tcPr anchor="ctr"/>
                </a:tc>
                <a:extLst>
                  <a:ext uri="{0D108BD9-81ED-4DB2-BD59-A6C34878D82A}">
                    <a16:rowId xmlns:a16="http://schemas.microsoft.com/office/drawing/2014/main" val="236090235"/>
                  </a:ext>
                </a:extLst>
              </a:tr>
              <a:tr h="0">
                <a:tc>
                  <a:txBody>
                    <a:bodyPr/>
                    <a:lstStyle/>
                    <a:p>
                      <a:pPr algn="just">
                        <a:buNone/>
                      </a:pPr>
                      <a:r>
                        <a:rPr lang="en-US" dirty="0">
                          <a:latin typeface="Times New Roman"/>
                          <a:cs typeface="Times New Roman"/>
                        </a:rPr>
                        <a:t>Inference Latency (</a:t>
                      </a:r>
                      <a:r>
                        <a:rPr lang="en-US" dirty="0" err="1">
                          <a:latin typeface="Times New Roman"/>
                          <a:cs typeface="Times New Roman"/>
                        </a:rPr>
                        <a:t>ms</a:t>
                      </a:r>
                      <a:r>
                        <a:rPr lang="en-US" dirty="0">
                          <a:latin typeface="Times New Roman"/>
                          <a:cs typeface="Times New Roman"/>
                        </a:rPr>
                        <a:t>)</a:t>
                      </a:r>
                    </a:p>
                  </a:txBody>
                  <a:tcPr anchor="ctr"/>
                </a:tc>
                <a:tc>
                  <a:txBody>
                    <a:bodyPr/>
                    <a:lstStyle/>
                    <a:p>
                      <a:pPr algn="just">
                        <a:buNone/>
                      </a:pPr>
                      <a:r>
                        <a:rPr lang="en-US" dirty="0">
                          <a:latin typeface="Times New Roman"/>
                          <a:cs typeface="Times New Roman"/>
                        </a:rPr>
                        <a:t>Measures real-time prediction performance</a:t>
                      </a:r>
                    </a:p>
                  </a:txBody>
                  <a:tcPr anchor="ctr"/>
                </a:tc>
                <a:extLst>
                  <a:ext uri="{0D108BD9-81ED-4DB2-BD59-A6C34878D82A}">
                    <a16:rowId xmlns:a16="http://schemas.microsoft.com/office/drawing/2014/main" val="2180930275"/>
                  </a:ext>
                </a:extLst>
              </a:tr>
              <a:tr h="0">
                <a:tc>
                  <a:txBody>
                    <a:bodyPr/>
                    <a:lstStyle/>
                    <a:p>
                      <a:pPr algn="just">
                        <a:buNone/>
                      </a:pPr>
                      <a:r>
                        <a:rPr lang="en-US" dirty="0">
                          <a:latin typeface="Times New Roman"/>
                          <a:cs typeface="Times New Roman"/>
                        </a:rPr>
                        <a:t>Memory Usage (MB)</a:t>
                      </a:r>
                    </a:p>
                  </a:txBody>
                  <a:tcPr anchor="ctr"/>
                </a:tc>
                <a:tc>
                  <a:txBody>
                    <a:bodyPr/>
                    <a:lstStyle/>
                    <a:p>
                      <a:pPr algn="just">
                        <a:buNone/>
                      </a:pPr>
                      <a:r>
                        <a:rPr lang="en-US" dirty="0">
                          <a:latin typeface="Times New Roman"/>
                          <a:cs typeface="Times New Roman"/>
                        </a:rPr>
                        <a:t>Evaluates efficiency on edge devices</a:t>
                      </a:r>
                    </a:p>
                  </a:txBody>
                  <a:tcPr anchor="ctr"/>
                </a:tc>
                <a:extLst>
                  <a:ext uri="{0D108BD9-81ED-4DB2-BD59-A6C34878D82A}">
                    <a16:rowId xmlns:a16="http://schemas.microsoft.com/office/drawing/2014/main" val="1970061603"/>
                  </a:ext>
                </a:extLst>
              </a:tr>
              <a:tr h="0">
                <a:tc>
                  <a:txBody>
                    <a:bodyPr/>
                    <a:lstStyle/>
                    <a:p>
                      <a:pPr algn="just">
                        <a:buNone/>
                      </a:pPr>
                      <a:r>
                        <a:rPr lang="en-US" dirty="0">
                          <a:latin typeface="Times New Roman"/>
                          <a:cs typeface="Times New Roman"/>
                        </a:rPr>
                        <a:t>Reliability Score</a:t>
                      </a:r>
                    </a:p>
                  </a:txBody>
                  <a:tcPr anchor="ctr"/>
                </a:tc>
                <a:tc>
                  <a:txBody>
                    <a:bodyPr/>
                    <a:lstStyle/>
                    <a:p>
                      <a:pPr algn="just">
                        <a:buNone/>
                      </a:pPr>
                      <a:r>
                        <a:rPr lang="en-US" dirty="0">
                          <a:latin typeface="Times New Roman"/>
                          <a:cs typeface="Times New Roman"/>
                        </a:rPr>
                        <a:t>Measures the trustworthiness of each prediction</a:t>
                      </a:r>
                    </a:p>
                  </a:txBody>
                  <a:tcPr anchor="ctr"/>
                </a:tc>
                <a:extLst>
                  <a:ext uri="{0D108BD9-81ED-4DB2-BD59-A6C34878D82A}">
                    <a16:rowId xmlns:a16="http://schemas.microsoft.com/office/drawing/2014/main" val="3033063071"/>
                  </a:ext>
                </a:extLst>
              </a:tr>
            </a:tbl>
          </a:graphicData>
        </a:graphic>
      </p:graphicFrame>
      <p:sp>
        <p:nvSpPr>
          <p:cNvPr id="12" name="TextBox 11">
            <a:extLst>
              <a:ext uri="{FF2B5EF4-FFF2-40B4-BE49-F238E27FC236}">
                <a16:creationId xmlns:a16="http://schemas.microsoft.com/office/drawing/2014/main" id="{A054C3D7-E8EC-1495-2F6C-BCA014BCC909}"/>
              </a:ext>
            </a:extLst>
          </p:cNvPr>
          <p:cNvSpPr txBox="1"/>
          <p:nvPr/>
        </p:nvSpPr>
        <p:spPr>
          <a:xfrm>
            <a:off x="388189" y="2738888"/>
            <a:ext cx="1081177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dirty="0">
                <a:latin typeface="Times New Roman"/>
                <a:cs typeface="Times New Roman"/>
              </a:rPr>
              <a:t>Evaluation Metrics</a:t>
            </a:r>
          </a:p>
          <a:p>
            <a:pPr algn="just"/>
            <a:r>
              <a:rPr lang="en-US" dirty="0">
                <a:latin typeface="Times New Roman"/>
                <a:cs typeface="Times New Roman"/>
              </a:rPr>
              <a:t>We evaluate both </a:t>
            </a:r>
            <a:r>
              <a:rPr lang="en-US" b="1" dirty="0">
                <a:latin typeface="Times New Roman"/>
                <a:cs typeface="Times New Roman"/>
              </a:rPr>
              <a:t>AI prediction performance</a:t>
            </a:r>
            <a:r>
              <a:rPr lang="en-US" dirty="0">
                <a:latin typeface="Times New Roman"/>
                <a:cs typeface="Times New Roman"/>
              </a:rPr>
              <a:t> and </a:t>
            </a:r>
            <a:r>
              <a:rPr lang="en-US" b="1" dirty="0">
                <a:latin typeface="Times New Roman"/>
                <a:cs typeface="Times New Roman"/>
              </a:rPr>
              <a:t>system reliability</a:t>
            </a:r>
            <a:r>
              <a:rPr lang="en-US" dirty="0">
                <a:latin typeface="Times New Roman"/>
                <a:cs typeface="Times New Roman"/>
              </a:rPr>
              <a:t>.</a:t>
            </a:r>
            <a:endParaRPr lang="en-US" dirty="0">
              <a:latin typeface="Times New Roman"/>
              <a:ea typeface="Calibri"/>
              <a:cs typeface="Times New Roman"/>
            </a:endParaRPr>
          </a:p>
          <a:p>
            <a:pPr algn="just"/>
            <a:endParaRPr lang="en-US">
              <a:latin typeface="Times New Roman"/>
              <a:cs typeface="Times New Roman"/>
            </a:endParaRPr>
          </a:p>
        </p:txBody>
      </p:sp>
    </p:spTree>
    <p:extLst>
      <p:ext uri="{BB962C8B-B14F-4D97-AF65-F5344CB8AC3E}">
        <p14:creationId xmlns:p14="http://schemas.microsoft.com/office/powerpoint/2010/main" val="15433388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sp>
      <p:sp>
        <p:nvSpPr>
          <p:cNvPr id="4" name="Text 1"/>
          <p:cNvSpPr txBox="1"/>
          <p:nvPr/>
        </p:nvSpPr>
        <p:spPr>
          <a:xfrm>
            <a:off x="274320" y="292608"/>
            <a:ext cx="9601200" cy="640080"/>
          </a:xfrm>
          <a:prstGeom prst="rect">
            <a:avLst/>
          </a:prstGeom>
          <a:noFill/>
          <a:ln/>
        </p:spPr>
        <p:txBody>
          <a:bodyPr wrap="square" lIns="0" tIns="0" rIns="0" bIns="0" rtlCol="0" anchor="ctr"/>
          <a:lstStyle/>
          <a:p>
            <a:pPr marL="0" indent="0" algn="l">
              <a:buNone/>
            </a:pPr>
            <a:r>
              <a:rPr lang="en-US" sz="2400" b="1" dirty="0">
                <a:solidFill>
                  <a:srgbClr val="000000"/>
                </a:solidFill>
                <a:latin typeface="Times New Roman"/>
                <a:ea typeface="Calibri" pitchFamily="34" charset="-122"/>
                <a:cs typeface="Times New Roman"/>
              </a:rPr>
              <a:t>Project Management :</a:t>
            </a:r>
            <a:endParaRPr lang="en-US" sz="2400">
              <a:latin typeface="Times New Roman"/>
              <a:cs typeface="Times New Roman"/>
            </a:endParaRPr>
          </a:p>
        </p:txBody>
      </p:sp>
      <p:sp>
        <p:nvSpPr>
          <p:cNvPr id="5" name="Text 2"/>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16</a:t>
            </a:r>
            <a:endParaRPr lang="en-US" sz="1000" dirty="0"/>
          </a:p>
        </p:txBody>
      </p:sp>
      <p:sp>
        <p:nvSpPr>
          <p:cNvPr id="7" name="Text 4"/>
          <p:cNvSpPr txBox="1"/>
          <p:nvPr/>
        </p:nvSpPr>
        <p:spPr>
          <a:xfrm>
            <a:off x="411480" y="1234440"/>
            <a:ext cx="11368735" cy="5120640"/>
          </a:xfrm>
          <a:prstGeom prst="rect">
            <a:avLst/>
          </a:prstGeom>
          <a:noFill/>
          <a:ln/>
        </p:spPr>
        <p:txBody>
          <a:bodyPr wrap="square" lIns="0" tIns="0" rIns="0" bIns="0" rtlCol="0" anchor="t"/>
          <a:lstStyle/>
          <a:p>
            <a:pPr marL="342900" indent="-342900" algn="just">
              <a:spcAft>
                <a:spcPts val="1000"/>
              </a:spcAft>
              <a:buSzPct val="100000"/>
              <a:buChar char="•"/>
            </a:pPr>
            <a:r>
              <a:rPr lang="en-US" sz="2000" dirty="0">
                <a:solidFill>
                  <a:srgbClr val="000000"/>
                </a:solidFill>
                <a:latin typeface="Times New Roman"/>
                <a:ea typeface="Calibri"/>
                <a:cs typeface="Times New Roman"/>
              </a:rPr>
              <a:t>The project is managed using a phase-wise, milestone-driven approach, dividing the work into six major phases from literature review to final evaluation and reporting.</a:t>
            </a:r>
            <a:endParaRPr lang="en-US" sz="2000">
              <a:latin typeface="Times New Roman"/>
              <a:ea typeface="Calibri"/>
              <a:cs typeface="Times New Roman"/>
            </a:endParaRPr>
          </a:p>
          <a:p>
            <a:pPr marL="342900" indent="-342900" algn="just">
              <a:spcAft>
                <a:spcPts val="1000"/>
              </a:spcAft>
              <a:buSzPct val="100000"/>
              <a:buChar char="•"/>
            </a:pPr>
            <a:r>
              <a:rPr lang="en-US" sz="2000" dirty="0">
                <a:solidFill>
                  <a:srgbClr val="000000"/>
                </a:solidFill>
                <a:latin typeface="Times New Roman"/>
                <a:ea typeface="Calibri"/>
                <a:cs typeface="Times New Roman"/>
              </a:rPr>
              <a:t>Task Allocation: responsibilities are distributed among team members based on individual roles and expertise.</a:t>
            </a:r>
            <a:endParaRPr lang="en-US" sz="2000">
              <a:latin typeface="Times New Roman"/>
              <a:ea typeface="Calibri"/>
              <a:cs typeface="Times New Roman"/>
            </a:endParaRPr>
          </a:p>
          <a:p>
            <a:pPr marL="342900" indent="-342900" algn="just">
              <a:spcAft>
                <a:spcPts val="1000"/>
              </a:spcAft>
              <a:buSzPct val="100000"/>
              <a:buChar char="•"/>
            </a:pPr>
            <a:r>
              <a:rPr lang="en-US" sz="2000" dirty="0">
                <a:solidFill>
                  <a:srgbClr val="000000"/>
                </a:solidFill>
                <a:latin typeface="Times New Roman"/>
                <a:ea typeface="Calibri"/>
                <a:cs typeface="Times New Roman"/>
              </a:rPr>
              <a:t>Milestone Tracking: each phase has a defined deliverable that is reviewed before proceeding to the next stage.</a:t>
            </a:r>
            <a:endParaRPr lang="en-US" sz="2000">
              <a:latin typeface="Times New Roman"/>
              <a:ea typeface="Calibri"/>
              <a:cs typeface="Times New Roman"/>
            </a:endParaRPr>
          </a:p>
          <a:p>
            <a:pPr marL="342900" indent="-342900" algn="just">
              <a:spcAft>
                <a:spcPts val="1000"/>
              </a:spcAft>
              <a:buSzPct val="100000"/>
              <a:buChar char="•"/>
            </a:pPr>
            <a:r>
              <a:rPr lang="en-US" sz="2000" dirty="0">
                <a:solidFill>
                  <a:srgbClr val="000000"/>
                </a:solidFill>
                <a:latin typeface="Times New Roman"/>
                <a:ea typeface="Calibri"/>
                <a:cs typeface="Times New Roman"/>
              </a:rPr>
              <a:t>Progress Monitoring: weekly progress is tracked to identify delays, implementation issues, and dependencies between tasks.</a:t>
            </a:r>
            <a:endParaRPr lang="en-US" sz="2000">
              <a:latin typeface="Times New Roman"/>
              <a:ea typeface="Calibri"/>
              <a:cs typeface="Times New Roman"/>
            </a:endParaRPr>
          </a:p>
          <a:p>
            <a:pPr marL="342900" indent="-342900" algn="just">
              <a:spcAft>
                <a:spcPts val="1000"/>
              </a:spcAft>
              <a:buSzPct val="100000"/>
              <a:buChar char="•"/>
            </a:pPr>
            <a:r>
              <a:rPr lang="en-US" sz="2000" dirty="0">
                <a:solidFill>
                  <a:srgbClr val="000000"/>
                </a:solidFill>
                <a:latin typeface="Times New Roman"/>
                <a:ea typeface="Calibri"/>
                <a:cs typeface="Times New Roman"/>
              </a:rPr>
              <a:t>Version and Document Management: code, experimental results, reports, and presentation materials are maintained systematically throughout the project.</a:t>
            </a:r>
            <a:endParaRPr lang="en-US" sz="2000">
              <a:latin typeface="Times New Roman"/>
              <a:ea typeface="Calibri"/>
              <a:cs typeface="Times New Roman"/>
            </a:endParaRPr>
          </a:p>
          <a:p>
            <a:pPr marL="342900" indent="-342900" algn="just">
              <a:spcAft>
                <a:spcPts val="1000"/>
              </a:spcAft>
              <a:buSzPct val="100000"/>
              <a:buChar char="•"/>
            </a:pPr>
            <a:r>
              <a:rPr lang="en-US" sz="2000" dirty="0">
                <a:solidFill>
                  <a:srgbClr val="000000"/>
                </a:solidFill>
                <a:latin typeface="Times New Roman"/>
                <a:ea typeface="Calibri"/>
                <a:cs typeface="Times New Roman"/>
              </a:rPr>
              <a:t>Risk Management: potential risks such as computational overhead, insufficient performance under corruption, and edge-device limitations are identified early and addressed during development.</a:t>
            </a:r>
            <a:endParaRPr lang="en-US" sz="2000">
              <a:latin typeface="Times New Roman"/>
              <a:ea typeface="Calibri"/>
              <a:cs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sp>
      <p:sp>
        <p:nvSpPr>
          <p:cNvPr id="4" name="Text 1"/>
          <p:cNvSpPr txBox="1"/>
          <p:nvPr/>
        </p:nvSpPr>
        <p:spPr>
          <a:xfrm>
            <a:off x="274320" y="292608"/>
            <a:ext cx="9601200" cy="640080"/>
          </a:xfrm>
          <a:prstGeom prst="rect">
            <a:avLst/>
          </a:prstGeom>
          <a:noFill/>
          <a:ln/>
        </p:spPr>
        <p:txBody>
          <a:bodyPr wrap="square" lIns="0" tIns="0" rIns="0" bIns="0" rtlCol="0" anchor="ctr"/>
          <a:lstStyle/>
          <a:p>
            <a:pPr marL="0" indent="0" algn="l">
              <a:buNone/>
            </a:pPr>
            <a:r>
              <a:rPr lang="en-US" sz="2400" b="1" dirty="0">
                <a:solidFill>
                  <a:srgbClr val="000000"/>
                </a:solidFill>
                <a:latin typeface="Times New Roman"/>
                <a:ea typeface="Calibri"/>
                <a:cs typeface="Times New Roman"/>
              </a:rPr>
              <a:t>Project Management Timeline :</a:t>
            </a:r>
            <a:endParaRPr lang="en-US" sz="2400" dirty="0">
              <a:latin typeface="Times New Roman"/>
              <a:ea typeface="Calibri"/>
              <a:cs typeface="Times New Roman"/>
            </a:endParaRPr>
          </a:p>
        </p:txBody>
      </p:sp>
      <p:sp>
        <p:nvSpPr>
          <p:cNvPr id="5" name="Text 2"/>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17</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2790820860"/>
              </p:ext>
            </p:extLst>
          </p:nvPr>
        </p:nvGraphicFramePr>
        <p:xfrm>
          <a:off x="731520" y="1508760"/>
          <a:ext cx="10637215" cy="4284615"/>
        </p:xfrm>
        <a:graphic>
          <a:graphicData uri="http://schemas.openxmlformats.org/drawingml/2006/table">
            <a:tbl>
              <a:tblPr/>
              <a:tblGrid>
                <a:gridCol w="429768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4236415">
                  <a:extLst>
                    <a:ext uri="{9D8B030D-6E8A-4147-A177-3AD203B41FA5}">
                      <a16:colId xmlns:a16="http://schemas.microsoft.com/office/drawing/2014/main" val="20002"/>
                    </a:ext>
                  </a:extLst>
                </a:gridCol>
              </a:tblGrid>
              <a:tr h="600891">
                <a:tc>
                  <a:txBody>
                    <a:bodyPr/>
                    <a:lstStyle/>
                    <a:p>
                      <a:pPr marL="0" indent="0" algn="l">
                        <a:buNone/>
                      </a:pPr>
                      <a:r>
                        <a:rPr lang="en-US" sz="1800" b="1" dirty="0">
                          <a:solidFill>
                            <a:srgbClr val="000000"/>
                          </a:solidFill>
                          <a:latin typeface="Times New Roman"/>
                          <a:ea typeface="Calibri"/>
                          <a:cs typeface="Times New Roman"/>
                        </a:rPr>
                        <a:t>Phase</a:t>
                      </a:r>
                      <a:endParaRPr lang="en-US" sz="1800">
                        <a:latin typeface="Times New Roman"/>
                        <a:ea typeface="Calibri"/>
                        <a:cs typeface="Times New Roman"/>
                      </a:endParaRPr>
                    </a:p>
                  </a:txBody>
                  <a:tcPr anchor="ct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solidFill>
                      <a:srgbClr val="F2E9DE"/>
                    </a:solidFill>
                  </a:tcPr>
                </a:tc>
                <a:tc>
                  <a:txBody>
                    <a:bodyPr/>
                    <a:lstStyle/>
                    <a:p>
                      <a:pPr marL="0" indent="0" algn="l">
                        <a:buNone/>
                      </a:pPr>
                      <a:r>
                        <a:rPr lang="en-US" sz="1800" b="1" dirty="0">
                          <a:solidFill>
                            <a:srgbClr val="000000"/>
                          </a:solidFill>
                          <a:latin typeface="Times New Roman"/>
                          <a:ea typeface="Calibri"/>
                          <a:cs typeface="Times New Roman"/>
                        </a:rPr>
                        <a:t>Duration</a:t>
                      </a:r>
                      <a:endParaRPr lang="en-US" sz="1800">
                        <a:latin typeface="Times New Roman"/>
                        <a:ea typeface="Calibri"/>
                        <a:cs typeface="Times New Roman"/>
                      </a:endParaRPr>
                    </a:p>
                  </a:txBody>
                  <a:tcPr anchor="ct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solidFill>
                      <a:srgbClr val="F2E9DE"/>
                    </a:solidFill>
                  </a:tcPr>
                </a:tc>
                <a:tc>
                  <a:txBody>
                    <a:bodyPr/>
                    <a:lstStyle/>
                    <a:p>
                      <a:pPr marL="0" indent="0" algn="l">
                        <a:buNone/>
                      </a:pPr>
                      <a:r>
                        <a:rPr lang="en-US" sz="1800" b="1" dirty="0">
                          <a:solidFill>
                            <a:srgbClr val="000000"/>
                          </a:solidFill>
                          <a:latin typeface="Times New Roman"/>
                          <a:ea typeface="Calibri"/>
                          <a:cs typeface="Times New Roman"/>
                        </a:rPr>
                        <a:t>Major Deliverable</a:t>
                      </a:r>
                      <a:endParaRPr lang="en-US" sz="1800">
                        <a:latin typeface="Times New Roman"/>
                        <a:ea typeface="Calibri"/>
                        <a:cs typeface="Times New Roman"/>
                      </a:endParaRPr>
                    </a:p>
                  </a:txBody>
                  <a:tcPr anchor="ct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solidFill>
                      <a:srgbClr val="F2E9DE"/>
                    </a:solidFill>
                  </a:tcPr>
                </a:tc>
                <a:extLst>
                  <a:ext uri="{0D108BD9-81ED-4DB2-BD59-A6C34878D82A}">
                    <a16:rowId xmlns:a16="http://schemas.microsoft.com/office/drawing/2014/main" val="10000"/>
                  </a:ext>
                </a:extLst>
              </a:tr>
              <a:tr h="600891">
                <a:tc>
                  <a:txBody>
                    <a:bodyPr/>
                    <a:lstStyle/>
                    <a:p>
                      <a:pPr marL="0" indent="0" algn="l">
                        <a:buNone/>
                      </a:pPr>
                      <a:r>
                        <a:rPr lang="en-US" sz="1800" dirty="0">
                          <a:solidFill>
                            <a:srgbClr val="000000"/>
                          </a:solidFill>
                          <a:latin typeface="Times New Roman"/>
                          <a:ea typeface="Calibri"/>
                          <a:cs typeface="Times New Roman"/>
                        </a:rPr>
                        <a:t>Literature Review &amp; Problem Formulation</a:t>
                      </a:r>
                      <a:endParaRPr lang="en-US" sz="1800">
                        <a:latin typeface="Times New Roman"/>
                        <a:ea typeface="Calibri"/>
                        <a:cs typeface="Times New Roman"/>
                      </a:endParaRPr>
                    </a:p>
                  </a:txBody>
                  <a:tcPr anchor="ct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800" dirty="0">
                          <a:solidFill>
                            <a:srgbClr val="000000"/>
                          </a:solidFill>
                          <a:latin typeface="Times New Roman"/>
                          <a:ea typeface="Calibri"/>
                          <a:cs typeface="Times New Roman"/>
                        </a:rPr>
                        <a:t>Weeks 1–2</a:t>
                      </a:r>
                      <a:endParaRPr lang="en-US" sz="1800">
                        <a:latin typeface="Times New Roman"/>
                        <a:ea typeface="Calibri"/>
                        <a:cs typeface="Times New Roman"/>
                      </a:endParaRPr>
                    </a:p>
                  </a:txBody>
                  <a:tcPr anchor="ct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800" dirty="0">
                          <a:solidFill>
                            <a:srgbClr val="000000"/>
                          </a:solidFill>
                          <a:latin typeface="Times New Roman"/>
                          <a:ea typeface="Calibri"/>
                          <a:cs typeface="Times New Roman"/>
                        </a:rPr>
                        <a:t>Literature survey and problem definition</a:t>
                      </a:r>
                      <a:endParaRPr lang="en-US" sz="1800">
                        <a:latin typeface="Times New Roman"/>
                        <a:ea typeface="Calibri"/>
                        <a:cs typeface="Times New Roman"/>
                      </a:endParaRPr>
                    </a:p>
                  </a:txBody>
                  <a:tcPr anchor="ct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extLst>
                  <a:ext uri="{0D108BD9-81ED-4DB2-BD59-A6C34878D82A}">
                    <a16:rowId xmlns:a16="http://schemas.microsoft.com/office/drawing/2014/main" val="10001"/>
                  </a:ext>
                </a:extLst>
              </a:tr>
              <a:tr h="600891">
                <a:tc>
                  <a:txBody>
                    <a:bodyPr/>
                    <a:lstStyle/>
                    <a:p>
                      <a:pPr marL="0" indent="0" algn="l">
                        <a:buNone/>
                      </a:pPr>
                      <a:r>
                        <a:rPr lang="en-US" sz="1800" dirty="0">
                          <a:solidFill>
                            <a:srgbClr val="000000"/>
                          </a:solidFill>
                          <a:latin typeface="Times New Roman"/>
                          <a:ea typeface="Calibri"/>
                          <a:cs typeface="Times New Roman"/>
                        </a:rPr>
                        <a:t>Baseline Setup</a:t>
                      </a:r>
                      <a:endParaRPr lang="en-US" sz="1800">
                        <a:latin typeface="Times New Roman"/>
                        <a:ea typeface="Calibri"/>
                        <a:cs typeface="Times New Roman"/>
                      </a:endParaRPr>
                    </a:p>
                  </a:txBody>
                  <a:tcPr anchor="ct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800" dirty="0">
                          <a:solidFill>
                            <a:srgbClr val="000000"/>
                          </a:solidFill>
                          <a:latin typeface="Times New Roman"/>
                          <a:ea typeface="Calibri"/>
                          <a:cs typeface="Times New Roman"/>
                        </a:rPr>
                        <a:t>Weeks 3–4</a:t>
                      </a:r>
                      <a:endParaRPr lang="en-US" sz="1800">
                        <a:latin typeface="Times New Roman"/>
                        <a:ea typeface="Calibri"/>
                        <a:cs typeface="Times New Roman"/>
                      </a:endParaRPr>
                    </a:p>
                  </a:txBody>
                  <a:tcPr anchor="ct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800" dirty="0">
                          <a:solidFill>
                            <a:srgbClr val="000000"/>
                          </a:solidFill>
                          <a:latin typeface="Times New Roman"/>
                          <a:ea typeface="Calibri"/>
                          <a:cs typeface="Times New Roman"/>
                        </a:rPr>
                        <a:t>Working baseline with clean/corrupted results</a:t>
                      </a:r>
                      <a:endParaRPr lang="en-US" sz="1800">
                        <a:latin typeface="Times New Roman"/>
                        <a:ea typeface="Calibri"/>
                        <a:cs typeface="Times New Roman"/>
                      </a:endParaRPr>
                    </a:p>
                  </a:txBody>
                  <a:tcPr anchor="ct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extLst>
                  <a:ext uri="{0D108BD9-81ED-4DB2-BD59-A6C34878D82A}">
                    <a16:rowId xmlns:a16="http://schemas.microsoft.com/office/drawing/2014/main" val="10002"/>
                  </a:ext>
                </a:extLst>
              </a:tr>
              <a:tr h="600891">
                <a:tc>
                  <a:txBody>
                    <a:bodyPr/>
                    <a:lstStyle/>
                    <a:p>
                      <a:pPr marL="0" indent="0" algn="l">
                        <a:buNone/>
                      </a:pPr>
                      <a:r>
                        <a:rPr lang="en-US" sz="1800" dirty="0">
                          <a:solidFill>
                            <a:srgbClr val="000000"/>
                          </a:solidFill>
                          <a:latin typeface="Times New Roman"/>
                          <a:ea typeface="Calibri"/>
                          <a:cs typeface="Times New Roman"/>
                        </a:rPr>
                        <a:t>Signal Implementation</a:t>
                      </a:r>
                      <a:endParaRPr lang="en-US" sz="1800">
                        <a:latin typeface="Times New Roman"/>
                        <a:ea typeface="Calibri"/>
                        <a:cs typeface="Times New Roman"/>
                      </a:endParaRPr>
                    </a:p>
                  </a:txBody>
                  <a:tcPr anchor="ct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800" dirty="0">
                          <a:solidFill>
                            <a:srgbClr val="000000"/>
                          </a:solidFill>
                          <a:latin typeface="Times New Roman"/>
                          <a:ea typeface="Calibri"/>
                          <a:cs typeface="Times New Roman"/>
                        </a:rPr>
                        <a:t>Weeks 5–6</a:t>
                      </a:r>
                      <a:endParaRPr lang="en-US" sz="1800">
                        <a:latin typeface="Times New Roman"/>
                        <a:ea typeface="Calibri"/>
                        <a:cs typeface="Times New Roman"/>
                      </a:endParaRPr>
                    </a:p>
                  </a:txBody>
                  <a:tcPr anchor="ct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800" dirty="0">
                          <a:solidFill>
                            <a:srgbClr val="000000"/>
                          </a:solidFill>
                          <a:latin typeface="Times New Roman"/>
                          <a:ea typeface="Calibri"/>
                          <a:cs typeface="Times New Roman"/>
                        </a:rPr>
                        <a:t>Model-uncertainty and sensor-quality modules</a:t>
                      </a:r>
                      <a:endParaRPr lang="en-US" sz="1800">
                        <a:latin typeface="Times New Roman"/>
                        <a:ea typeface="Calibri"/>
                        <a:cs typeface="Times New Roman"/>
                      </a:endParaRPr>
                    </a:p>
                  </a:txBody>
                  <a:tcPr anchor="ct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extLst>
                  <a:ext uri="{0D108BD9-81ED-4DB2-BD59-A6C34878D82A}">
                    <a16:rowId xmlns:a16="http://schemas.microsoft.com/office/drawing/2014/main" val="10003"/>
                  </a:ext>
                </a:extLst>
              </a:tr>
              <a:tr h="600891">
                <a:tc>
                  <a:txBody>
                    <a:bodyPr/>
                    <a:lstStyle/>
                    <a:p>
                      <a:pPr marL="0" indent="0" algn="l">
                        <a:buNone/>
                      </a:pPr>
                      <a:r>
                        <a:rPr lang="en-US" sz="1800" dirty="0">
                          <a:solidFill>
                            <a:srgbClr val="000000"/>
                          </a:solidFill>
                          <a:latin typeface="Times New Roman"/>
                          <a:ea typeface="Calibri"/>
                          <a:cs typeface="Times New Roman"/>
                        </a:rPr>
                        <a:t>Fusion &amp; Decision Layer</a:t>
                      </a:r>
                      <a:endParaRPr lang="en-US" sz="1800">
                        <a:latin typeface="Times New Roman"/>
                        <a:ea typeface="Calibri"/>
                        <a:cs typeface="Times New Roman"/>
                      </a:endParaRPr>
                    </a:p>
                  </a:txBody>
                  <a:tcPr anchor="ct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800" dirty="0">
                          <a:solidFill>
                            <a:srgbClr val="000000"/>
                          </a:solidFill>
                          <a:latin typeface="Times New Roman"/>
                          <a:ea typeface="Calibri"/>
                          <a:cs typeface="Times New Roman"/>
                        </a:rPr>
                        <a:t>Weeks 7–8</a:t>
                      </a:r>
                      <a:endParaRPr lang="en-US" sz="1800">
                        <a:latin typeface="Times New Roman"/>
                        <a:ea typeface="Calibri"/>
                        <a:cs typeface="Times New Roman"/>
                      </a:endParaRPr>
                    </a:p>
                  </a:txBody>
                  <a:tcPr anchor="ct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800" dirty="0">
                          <a:solidFill>
                            <a:srgbClr val="000000"/>
                          </a:solidFill>
                          <a:latin typeface="Times New Roman"/>
                          <a:ea typeface="Calibri"/>
                          <a:cs typeface="Times New Roman"/>
                        </a:rPr>
                        <a:t>Risk-score and decision-policy module</a:t>
                      </a:r>
                      <a:endParaRPr lang="en-US" sz="1800">
                        <a:latin typeface="Times New Roman"/>
                        <a:ea typeface="Calibri"/>
                        <a:cs typeface="Times New Roman"/>
                      </a:endParaRPr>
                    </a:p>
                  </a:txBody>
                  <a:tcPr anchor="ct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extLst>
                  <a:ext uri="{0D108BD9-81ED-4DB2-BD59-A6C34878D82A}">
                    <a16:rowId xmlns:a16="http://schemas.microsoft.com/office/drawing/2014/main" val="10004"/>
                  </a:ext>
                </a:extLst>
              </a:tr>
              <a:tr h="600891">
                <a:tc>
                  <a:txBody>
                    <a:bodyPr/>
                    <a:lstStyle/>
                    <a:p>
                      <a:pPr marL="0" indent="0" algn="l">
                        <a:buNone/>
                      </a:pPr>
                      <a:r>
                        <a:rPr lang="en-US" sz="1800" dirty="0">
                          <a:solidFill>
                            <a:srgbClr val="000000"/>
                          </a:solidFill>
                          <a:latin typeface="Times New Roman"/>
                          <a:ea typeface="Calibri"/>
                          <a:cs typeface="Times New Roman"/>
                        </a:rPr>
                        <a:t>Evaluation &amp; Edge Benchmarking</a:t>
                      </a:r>
                      <a:endParaRPr lang="en-US" sz="1800">
                        <a:latin typeface="Times New Roman"/>
                        <a:ea typeface="Calibri"/>
                        <a:cs typeface="Times New Roman"/>
                      </a:endParaRPr>
                    </a:p>
                  </a:txBody>
                  <a:tcPr anchor="ct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800" dirty="0">
                          <a:solidFill>
                            <a:srgbClr val="000000"/>
                          </a:solidFill>
                          <a:latin typeface="Times New Roman"/>
                          <a:ea typeface="Calibri"/>
                          <a:cs typeface="Times New Roman"/>
                        </a:rPr>
                        <a:t>Weeks 9–10</a:t>
                      </a:r>
                      <a:endParaRPr lang="en-US" sz="1800">
                        <a:latin typeface="Times New Roman"/>
                        <a:ea typeface="Calibri"/>
                        <a:cs typeface="Times New Roman"/>
                      </a:endParaRPr>
                    </a:p>
                  </a:txBody>
                  <a:tcPr anchor="ct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800" dirty="0">
                          <a:solidFill>
                            <a:srgbClr val="000000"/>
                          </a:solidFill>
                          <a:latin typeface="Times New Roman"/>
                          <a:ea typeface="Calibri"/>
                          <a:cs typeface="Times New Roman"/>
                        </a:rPr>
                        <a:t>Accuracy–efficiency evaluation</a:t>
                      </a:r>
                      <a:endParaRPr lang="en-US" sz="1800">
                        <a:latin typeface="Times New Roman"/>
                        <a:ea typeface="Calibri"/>
                        <a:cs typeface="Times New Roman"/>
                      </a:endParaRPr>
                    </a:p>
                  </a:txBody>
                  <a:tcPr anchor="ct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extLst>
                  <a:ext uri="{0D108BD9-81ED-4DB2-BD59-A6C34878D82A}">
                    <a16:rowId xmlns:a16="http://schemas.microsoft.com/office/drawing/2014/main" val="10005"/>
                  </a:ext>
                </a:extLst>
              </a:tr>
              <a:tr h="600891">
                <a:tc>
                  <a:txBody>
                    <a:bodyPr/>
                    <a:lstStyle/>
                    <a:p>
                      <a:pPr marL="0" indent="0" algn="l">
                        <a:buNone/>
                      </a:pPr>
                      <a:r>
                        <a:rPr lang="en-US" sz="1800" dirty="0">
                          <a:solidFill>
                            <a:srgbClr val="000000"/>
                          </a:solidFill>
                          <a:latin typeface="Times New Roman"/>
                          <a:ea typeface="Calibri"/>
                          <a:cs typeface="Times New Roman"/>
                        </a:rPr>
                        <a:t>Generalization &amp; Final Reporting</a:t>
                      </a:r>
                      <a:endParaRPr lang="en-US" sz="1800">
                        <a:latin typeface="Times New Roman"/>
                        <a:ea typeface="Calibri"/>
                        <a:cs typeface="Times New Roman"/>
                      </a:endParaRPr>
                    </a:p>
                  </a:txBody>
                  <a:tcPr anchor="ct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800" dirty="0">
                          <a:solidFill>
                            <a:srgbClr val="000000"/>
                          </a:solidFill>
                          <a:latin typeface="Times New Roman"/>
                          <a:ea typeface="Calibri"/>
                          <a:cs typeface="Times New Roman"/>
                        </a:rPr>
                        <a:t>Weeks 11–12</a:t>
                      </a:r>
                      <a:endParaRPr lang="en-US" sz="1800">
                        <a:latin typeface="Times New Roman"/>
                        <a:ea typeface="Calibri"/>
                        <a:cs typeface="Times New Roman"/>
                      </a:endParaRPr>
                    </a:p>
                  </a:txBody>
                  <a:tcPr anchor="ct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tc>
                  <a:txBody>
                    <a:bodyPr/>
                    <a:lstStyle/>
                    <a:p>
                      <a:pPr marL="0" indent="0" algn="l">
                        <a:buNone/>
                      </a:pPr>
                      <a:r>
                        <a:rPr lang="en-US" sz="1800" dirty="0">
                          <a:solidFill>
                            <a:srgbClr val="000000"/>
                          </a:solidFill>
                          <a:latin typeface="Times New Roman"/>
                          <a:ea typeface="Calibri"/>
                          <a:cs typeface="Times New Roman"/>
                        </a:rPr>
                        <a:t>Final system, report, and presentation</a:t>
                      </a:r>
                      <a:endParaRPr lang="en-US" sz="1800">
                        <a:latin typeface="Times New Roman"/>
                        <a:ea typeface="Calibri"/>
                        <a:cs typeface="Times New Roman"/>
                      </a:endParaRPr>
                    </a:p>
                  </a:txBody>
                  <a:tcPr anchor="ctr">
                    <a:lnL w="9525" cap="flat" cmpd="sng" algn="ctr">
                      <a:solidFill>
                        <a:srgbClr val="AEABAB"/>
                      </a:solidFill>
                      <a:prstDash val="solid"/>
                      <a:round/>
                      <a:headEnd type="none" w="med" len="med"/>
                      <a:tailEnd type="none" w="med" len="med"/>
                    </a:lnL>
                    <a:lnR w="9525" cap="flat" cmpd="sng" algn="ctr">
                      <a:solidFill>
                        <a:srgbClr val="AEABAB"/>
                      </a:solidFill>
                      <a:prstDash val="solid"/>
                      <a:round/>
                      <a:headEnd type="none" w="med" len="med"/>
                      <a:tailEnd type="none" w="med" len="med"/>
                    </a:lnR>
                    <a:lnT w="9525" cap="flat" cmpd="sng" algn="ctr">
                      <a:solidFill>
                        <a:srgbClr val="AEABAB"/>
                      </a:solidFill>
                      <a:prstDash val="solid"/>
                      <a:round/>
                      <a:headEnd type="none" w="med" len="med"/>
                      <a:tailEnd type="none" w="med" len="med"/>
                    </a:lnT>
                    <a:lnB w="9525" cap="flat" cmpd="sng" algn="ctr">
                      <a:solidFill>
                        <a:srgbClr val="AEABA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sp>
      <p:sp>
        <p:nvSpPr>
          <p:cNvPr id="4" name="Text 1"/>
          <p:cNvSpPr txBox="1"/>
          <p:nvPr/>
        </p:nvSpPr>
        <p:spPr>
          <a:xfrm>
            <a:off x="274320" y="292608"/>
            <a:ext cx="9601200" cy="640080"/>
          </a:xfrm>
          <a:prstGeom prst="rect">
            <a:avLst/>
          </a:prstGeom>
          <a:noFill/>
          <a:ln/>
        </p:spPr>
        <p:txBody>
          <a:bodyPr wrap="square" lIns="0" tIns="0" rIns="0" bIns="0" rtlCol="0" anchor="ctr"/>
          <a:lstStyle/>
          <a:p>
            <a:pPr marL="0" indent="0" algn="l">
              <a:buNone/>
            </a:pPr>
            <a:r>
              <a:rPr lang="en-US" sz="2400" b="1" dirty="0">
                <a:solidFill>
                  <a:srgbClr val="000000"/>
                </a:solidFill>
                <a:latin typeface="Times New Roman"/>
                <a:ea typeface="Calibri" pitchFamily="34" charset="-122"/>
                <a:cs typeface="Times New Roman"/>
              </a:rPr>
              <a:t>References :</a:t>
            </a:r>
            <a:endParaRPr lang="en-US" sz="2400">
              <a:latin typeface="Times New Roman"/>
              <a:cs typeface="Times New Roman"/>
            </a:endParaRPr>
          </a:p>
        </p:txBody>
      </p:sp>
      <p:sp>
        <p:nvSpPr>
          <p:cNvPr id="5" name="Text 2"/>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18</a:t>
            </a:r>
            <a:endParaRPr lang="en-US" sz="1000" dirty="0"/>
          </a:p>
        </p:txBody>
      </p:sp>
      <p:sp>
        <p:nvSpPr>
          <p:cNvPr id="7" name="Text 4"/>
          <p:cNvSpPr txBox="1"/>
          <p:nvPr/>
        </p:nvSpPr>
        <p:spPr>
          <a:xfrm>
            <a:off x="411480" y="1171810"/>
            <a:ext cx="11556625" cy="5274710"/>
          </a:xfrm>
          <a:prstGeom prst="rect">
            <a:avLst/>
          </a:prstGeom>
          <a:noFill/>
          <a:ln/>
        </p:spPr>
        <p:txBody>
          <a:bodyPr wrap="square" lIns="0" tIns="0" rIns="0" bIns="0" rtlCol="0" anchor="t"/>
          <a:lstStyle/>
          <a:p>
            <a:pPr marL="0" indent="0" algn="just">
              <a:spcAft>
                <a:spcPts val="1000"/>
              </a:spcAft>
              <a:buNone/>
            </a:pPr>
            <a:r>
              <a:rPr lang="en-US" sz="1600" dirty="0">
                <a:solidFill>
                  <a:srgbClr val="000000"/>
                </a:solidFill>
                <a:latin typeface="Times New Roman"/>
                <a:ea typeface="Calibri"/>
                <a:cs typeface="Times New Roman"/>
              </a:rPr>
              <a:t>[1] X. Ma, Y. D. Kwon, and D. Ma, “EmbodiTTA: Resource-Efficient Test-Time Adaptation for Embodied Visual Systems,” arXiv preprint arXiv:2505.00986, 2026.</a:t>
            </a:r>
            <a:endParaRPr lang="en-US" sz="1600">
              <a:latin typeface="Times New Roman"/>
              <a:ea typeface="Calibri"/>
              <a:cs typeface="Times New Roman"/>
            </a:endParaRPr>
          </a:p>
          <a:p>
            <a:pPr marL="0" indent="0" algn="just">
              <a:spcAft>
                <a:spcPts val="1000"/>
              </a:spcAft>
              <a:buNone/>
            </a:pPr>
            <a:r>
              <a:rPr lang="en-US" sz="1600" dirty="0">
                <a:solidFill>
                  <a:srgbClr val="000000"/>
                </a:solidFill>
                <a:latin typeface="Times New Roman"/>
                <a:ea typeface="Calibri"/>
                <a:cs typeface="Times New Roman"/>
              </a:rPr>
              <a:t>[2] A. Mishra and A. Liu, “ODD: Overlap-aware Estimation of Model Performance under Distribution Shift,” UAI 2025, vol. 286, pp. 3031–3047, 2025.</a:t>
            </a:r>
            <a:endParaRPr lang="en-US" sz="1600">
              <a:latin typeface="Times New Roman"/>
              <a:ea typeface="Calibri"/>
              <a:cs typeface="Times New Roman"/>
            </a:endParaRPr>
          </a:p>
          <a:p>
            <a:pPr marL="0" indent="0" algn="just">
              <a:spcAft>
                <a:spcPts val="1000"/>
              </a:spcAft>
              <a:buNone/>
            </a:pPr>
            <a:r>
              <a:rPr lang="en-US" sz="1600" dirty="0">
                <a:solidFill>
                  <a:srgbClr val="000000"/>
                </a:solidFill>
                <a:latin typeface="Times New Roman"/>
                <a:ea typeface="Calibri"/>
                <a:cs typeface="Times New Roman"/>
              </a:rPr>
              <a:t>[3] A. Timans, R. Verma, E. Nalisnick, and C. A. Naesseth, “On Continuous Monitoring of Risk Violations under Unknown Shift,” UAI 2025, vol. 286, pp. 4204–4226, 2025.</a:t>
            </a:r>
            <a:endParaRPr lang="en-US" sz="1600">
              <a:latin typeface="Times New Roman"/>
              <a:ea typeface="Calibri"/>
              <a:cs typeface="Times New Roman"/>
            </a:endParaRPr>
          </a:p>
          <a:p>
            <a:pPr marL="0" indent="0" algn="just">
              <a:spcAft>
                <a:spcPts val="1000"/>
              </a:spcAft>
              <a:buNone/>
            </a:pPr>
            <a:r>
              <a:rPr lang="en-US" sz="1600" dirty="0">
                <a:solidFill>
                  <a:srgbClr val="000000"/>
                </a:solidFill>
                <a:latin typeface="Times New Roman"/>
                <a:ea typeface="Calibri"/>
                <a:cs typeface="Times New Roman"/>
              </a:rPr>
              <a:t>[4] A. Koebler, T. Decker, I. Thon, V. Tresp, and F. Buettner, “Incremental Uncertainty-aware Performance Monitoring with Active Labeling Intervention,” AISTATS 2025, vol. 258, pp. 2188–2196, 2025.</a:t>
            </a:r>
            <a:endParaRPr lang="en-US" sz="1600">
              <a:latin typeface="Times New Roman"/>
              <a:ea typeface="Calibri"/>
              <a:cs typeface="Times New Roman"/>
            </a:endParaRPr>
          </a:p>
          <a:p>
            <a:pPr marL="0" indent="0" algn="just">
              <a:spcAft>
                <a:spcPts val="1000"/>
              </a:spcAft>
              <a:buNone/>
            </a:pPr>
            <a:r>
              <a:rPr lang="en-US" sz="1600" dirty="0">
                <a:solidFill>
                  <a:srgbClr val="000000"/>
                </a:solidFill>
                <a:latin typeface="Times New Roman"/>
                <a:ea typeface="Calibri"/>
                <a:cs typeface="Times New Roman"/>
              </a:rPr>
              <a:t>[5] M. Danilowski, S. Chatterjee, and A. Ghosh, “BoTTA: Benchmarking On-device Test Time Adaptation,” SenSys ’26, 2026, pp. 465–477.</a:t>
            </a:r>
            <a:endParaRPr lang="en-US" sz="1600">
              <a:latin typeface="Times New Roman"/>
              <a:ea typeface="Calibri"/>
              <a:cs typeface="Times New Roman"/>
            </a:endParaRPr>
          </a:p>
          <a:p>
            <a:pPr marL="0" indent="0" algn="just">
              <a:spcAft>
                <a:spcPts val="1000"/>
              </a:spcAft>
              <a:buNone/>
            </a:pPr>
            <a:r>
              <a:rPr lang="en-US" sz="1600" dirty="0">
                <a:solidFill>
                  <a:srgbClr val="000000"/>
                </a:solidFill>
                <a:latin typeface="Times New Roman"/>
                <a:ea typeface="Calibri"/>
                <a:cs typeface="Times New Roman"/>
              </a:rPr>
              <a:t>[6] Z. Hu, D. Li, X. Ma, S. Tang, X. Li, W. Yang, and L.-Y. Duan, “Adaptive Dual Uncertainty Optimization: Boosting Monocular 3D Object Detection under Test-Time Shifts,” ICCV, 2025, pp. 7273–7283.</a:t>
            </a:r>
            <a:endParaRPr lang="en-US" sz="1600">
              <a:latin typeface="Times New Roman"/>
              <a:ea typeface="Calibri"/>
              <a:cs typeface="Times New Roman"/>
            </a:endParaRPr>
          </a:p>
          <a:p>
            <a:pPr marL="0" indent="0" algn="just">
              <a:spcAft>
                <a:spcPts val="1000"/>
              </a:spcAft>
              <a:buNone/>
            </a:pPr>
            <a:r>
              <a:rPr lang="en-US" sz="1600" dirty="0">
                <a:solidFill>
                  <a:srgbClr val="000000"/>
                </a:solidFill>
                <a:latin typeface="Times New Roman"/>
                <a:ea typeface="Calibri"/>
                <a:cs typeface="Times New Roman"/>
              </a:rPr>
              <a:t>[7] M. Azizmalayeri, A. Abu-Hanna, and G. Cinà, “Mitigating Overconfidence in Out-of-Distribution Detection by Capturing Extreme Activations,” UAI, vol. 244, pp. 203–224, 2024.</a:t>
            </a:r>
            <a:endParaRPr lang="en-US" sz="1600">
              <a:latin typeface="Times New Roman"/>
              <a:ea typeface="Calibri"/>
              <a:cs typeface="Times New Roman"/>
            </a:endParaRPr>
          </a:p>
          <a:p>
            <a:pPr marL="0" indent="0" algn="just">
              <a:spcAft>
                <a:spcPts val="1000"/>
              </a:spcAft>
              <a:buNone/>
            </a:pPr>
            <a:r>
              <a:rPr lang="en-US" sz="1600" dirty="0">
                <a:solidFill>
                  <a:srgbClr val="000000"/>
                </a:solidFill>
                <a:latin typeface="Times New Roman"/>
                <a:ea typeface="Calibri"/>
                <a:cs typeface="Times New Roman"/>
              </a:rPr>
              <a:t>[8] Y. Zhang, D. Wu, Y. Wada, and T. Kanamori, “TULiP: Test-Time Uncertainty Estimation via Linearization and Weight Perturbation,” ICONIP, 2025, pp. 476–491.</a:t>
            </a:r>
            <a:endParaRPr lang="en-US" sz="1600">
              <a:latin typeface="Times New Roman"/>
              <a:ea typeface="Calibri"/>
              <a:cs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sp>
      <p:sp>
        <p:nvSpPr>
          <p:cNvPr id="4" name="Text 1"/>
          <p:cNvSpPr txBox="1"/>
          <p:nvPr/>
        </p:nvSpPr>
        <p:spPr>
          <a:xfrm>
            <a:off x="274320" y="292608"/>
            <a:ext cx="9601200" cy="640080"/>
          </a:xfrm>
          <a:prstGeom prst="rect">
            <a:avLst/>
          </a:prstGeom>
          <a:noFill/>
          <a:ln/>
        </p:spPr>
        <p:txBody>
          <a:bodyPr wrap="square" lIns="0" tIns="0" rIns="0" bIns="0" rtlCol="0" anchor="ctr"/>
          <a:lstStyle/>
          <a:p>
            <a:pPr marL="0" indent="0" algn="l">
              <a:buNone/>
            </a:pPr>
            <a:r>
              <a:rPr lang="en-US" sz="2400" b="1" dirty="0">
                <a:solidFill>
                  <a:srgbClr val="000000"/>
                </a:solidFill>
                <a:latin typeface="Times New Roman"/>
                <a:ea typeface="Calibri" pitchFamily="34" charset="-122"/>
                <a:cs typeface="Times New Roman"/>
              </a:rPr>
              <a:t>References (continued) :</a:t>
            </a:r>
            <a:endParaRPr lang="en-US" sz="2400">
              <a:latin typeface="Times New Roman"/>
              <a:cs typeface="Times New Roman"/>
            </a:endParaRPr>
          </a:p>
        </p:txBody>
      </p:sp>
      <p:sp>
        <p:nvSpPr>
          <p:cNvPr id="5" name="Text 2"/>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19</a:t>
            </a:r>
            <a:endParaRPr lang="en-US" sz="1000" dirty="0"/>
          </a:p>
        </p:txBody>
      </p:sp>
      <p:sp>
        <p:nvSpPr>
          <p:cNvPr id="7" name="Text 4"/>
          <p:cNvSpPr txBox="1"/>
          <p:nvPr/>
        </p:nvSpPr>
        <p:spPr>
          <a:xfrm>
            <a:off x="411480" y="1234440"/>
            <a:ext cx="11368735" cy="5212080"/>
          </a:xfrm>
          <a:prstGeom prst="rect">
            <a:avLst/>
          </a:prstGeom>
          <a:noFill/>
          <a:ln/>
        </p:spPr>
        <p:txBody>
          <a:bodyPr wrap="square" lIns="0" tIns="0" rIns="0" bIns="0" rtlCol="0" anchor="t"/>
          <a:lstStyle/>
          <a:p>
            <a:pPr marL="0" indent="0" algn="just">
              <a:spcAft>
                <a:spcPts val="1000"/>
              </a:spcAft>
              <a:buNone/>
            </a:pPr>
            <a:r>
              <a:rPr lang="en-US" sz="1600" dirty="0">
                <a:solidFill>
                  <a:srgbClr val="000000"/>
                </a:solidFill>
                <a:latin typeface="Times New Roman"/>
                <a:ea typeface="Calibri"/>
                <a:cs typeface="Times New Roman"/>
              </a:rPr>
              <a:t>[9] S. Lu et al., “Out-of-Distribution Detection: A Task-Oriented Survey of Recent Advances,” 2024.</a:t>
            </a:r>
            <a:endParaRPr lang="en-US" sz="1600">
              <a:latin typeface="Times New Roman"/>
              <a:ea typeface="Calibri"/>
              <a:cs typeface="Times New Roman"/>
            </a:endParaRPr>
          </a:p>
          <a:p>
            <a:pPr marL="0" indent="0" algn="just">
              <a:spcAft>
                <a:spcPts val="1000"/>
              </a:spcAft>
              <a:buNone/>
            </a:pPr>
            <a:r>
              <a:rPr lang="en-US" sz="1600" dirty="0">
                <a:solidFill>
                  <a:srgbClr val="000000"/>
                </a:solidFill>
                <a:latin typeface="Times New Roman"/>
                <a:ea typeface="Calibri"/>
                <a:cs typeface="Times New Roman"/>
              </a:rPr>
              <a:t>[10] W. Shao et al., “Failure Detection for Motion Prediction of Autonomous Driving: An Uncertainty Perspective,” 2023.</a:t>
            </a:r>
            <a:endParaRPr lang="en-US" sz="1600">
              <a:latin typeface="Times New Roman"/>
              <a:ea typeface="Calibri"/>
              <a:cs typeface="Times New Roman"/>
            </a:endParaRPr>
          </a:p>
          <a:p>
            <a:pPr marL="0" indent="0" algn="just">
              <a:spcAft>
                <a:spcPts val="1000"/>
              </a:spcAft>
              <a:buNone/>
            </a:pPr>
            <a:r>
              <a:rPr lang="en-US" sz="1600" dirty="0">
                <a:solidFill>
                  <a:srgbClr val="000000"/>
                </a:solidFill>
                <a:latin typeface="Times New Roman"/>
                <a:ea typeface="Calibri"/>
                <a:cs typeface="Times New Roman"/>
              </a:rPr>
              <a:t>[11] T. Yoon and H. Kim, “Uncertainty Estimation by Density Aware Evidential Deep Learning,” ICML, 2024.</a:t>
            </a:r>
            <a:endParaRPr lang="en-US" sz="1600">
              <a:latin typeface="Times New Roman"/>
              <a:ea typeface="Calibri"/>
              <a:cs typeface="Times New Roman"/>
            </a:endParaRPr>
          </a:p>
          <a:p>
            <a:pPr marL="0" indent="0" algn="just">
              <a:spcAft>
                <a:spcPts val="1000"/>
              </a:spcAft>
              <a:buNone/>
            </a:pPr>
            <a:r>
              <a:rPr lang="en-US" sz="1600" dirty="0">
                <a:solidFill>
                  <a:srgbClr val="000000"/>
                </a:solidFill>
                <a:latin typeface="Times New Roman"/>
                <a:ea typeface="Calibri"/>
                <a:cs typeface="Times New Roman"/>
              </a:rPr>
              <a:t>[12] S. Rahmani et al., “Edge Case Detection in Automated Driving: Methods, Challenges and Future Directions,” IEEE T-ITS, 2026.</a:t>
            </a:r>
            <a:endParaRPr lang="en-US" sz="1600">
              <a:latin typeface="Times New Roman"/>
              <a:ea typeface="Calibri"/>
              <a:cs typeface="Times New Roman"/>
            </a:endParaRPr>
          </a:p>
          <a:p>
            <a:pPr marL="0" indent="0" algn="just">
              <a:spcAft>
                <a:spcPts val="1000"/>
              </a:spcAft>
              <a:buNone/>
            </a:pPr>
            <a:r>
              <a:rPr lang="en-US" sz="1600" dirty="0">
                <a:solidFill>
                  <a:srgbClr val="000000"/>
                </a:solidFill>
                <a:latin typeface="Times New Roman"/>
                <a:ea typeface="Calibri"/>
                <a:cs typeface="Times New Roman"/>
              </a:rPr>
              <a:t>[13] Y. Gal and Z. Ghahramani, “Dropout as a Bayesian Approximation: Representing Model Uncertainty in Deep Learning,” ICML, vol. 48, pp. 1050–1059, 2016.</a:t>
            </a:r>
            <a:endParaRPr lang="en-US" sz="1600">
              <a:latin typeface="Times New Roman"/>
              <a:ea typeface="Calibri"/>
              <a:cs typeface="Times New Roman"/>
            </a:endParaRPr>
          </a:p>
          <a:p>
            <a:pPr marL="0" indent="0" algn="just">
              <a:spcAft>
                <a:spcPts val="1000"/>
              </a:spcAft>
              <a:buNone/>
            </a:pPr>
            <a:r>
              <a:rPr lang="en-US" sz="1600" dirty="0">
                <a:solidFill>
                  <a:srgbClr val="000000"/>
                </a:solidFill>
                <a:latin typeface="Times New Roman"/>
                <a:ea typeface="Calibri"/>
                <a:cs typeface="Times New Roman"/>
              </a:rPr>
              <a:t>[14] K. Lee, K. Lee, H. Lee, and J. Shin, “A Simple Unified Framework for Detecting Out-of-Distribution Samples and Adversarial Attacks,” NeurIPS, vol. 31, 2018.</a:t>
            </a:r>
            <a:endParaRPr lang="en-US" sz="1600">
              <a:latin typeface="Times New Roman"/>
              <a:ea typeface="Calibri"/>
              <a:cs typeface="Times New Roman"/>
            </a:endParaRPr>
          </a:p>
          <a:p>
            <a:pPr marL="0" indent="0" algn="just">
              <a:spcAft>
                <a:spcPts val="1000"/>
              </a:spcAft>
              <a:buNone/>
            </a:pPr>
            <a:r>
              <a:rPr lang="en-US" sz="1600" dirty="0">
                <a:solidFill>
                  <a:srgbClr val="000000"/>
                </a:solidFill>
                <a:latin typeface="Times New Roman"/>
                <a:ea typeface="Calibri"/>
                <a:cs typeface="Times New Roman"/>
              </a:rPr>
              <a:t>[15] D. Hendrycks and T. Dietterich, “Benchmarking Neural Network Robustness to Common Corruptions and Perturbations,” ICLR, 2019.</a:t>
            </a:r>
            <a:endParaRPr lang="en-US" sz="1600">
              <a:latin typeface="Times New Roman"/>
              <a:ea typeface="Calibri"/>
              <a:cs typeface="Times New Roman"/>
            </a:endParaRPr>
          </a:p>
          <a:p>
            <a:pPr marL="0" indent="0" algn="just">
              <a:spcAft>
                <a:spcPts val="1000"/>
              </a:spcAft>
              <a:buNone/>
            </a:pPr>
            <a:r>
              <a:rPr lang="en-US" sz="1600" dirty="0">
                <a:solidFill>
                  <a:srgbClr val="000000"/>
                </a:solidFill>
                <a:latin typeface="Times New Roman"/>
                <a:ea typeface="Calibri"/>
                <a:cs typeface="Times New Roman"/>
              </a:rPr>
              <a:t>[16] B. Zhang, H. Huang, and Y. Cao, “Energy-Aware NECO for Single-Pass Pixel-wise Out-of-Distribution Detection in Semantic Segmentation,” ICRA 2026 Workshop (LoWi), 2026.</a:t>
            </a:r>
            <a:endParaRPr lang="en-US" sz="1600">
              <a:latin typeface="Times New Roman"/>
              <a:ea typeface="Calibri"/>
              <a:cs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sp>
      <p:sp>
        <p:nvSpPr>
          <p:cNvPr id="4" name="Text 1"/>
          <p:cNvSpPr txBox="1"/>
          <p:nvPr/>
        </p:nvSpPr>
        <p:spPr>
          <a:xfrm>
            <a:off x="274320" y="292608"/>
            <a:ext cx="11430000" cy="640080"/>
          </a:xfrm>
          <a:prstGeom prst="rect">
            <a:avLst/>
          </a:prstGeom>
          <a:noFill/>
          <a:ln/>
        </p:spPr>
        <p:txBody>
          <a:bodyPr wrap="square" lIns="0" tIns="0" rIns="0" bIns="0" rtlCol="0" anchor="ctr"/>
          <a:lstStyle/>
          <a:p>
            <a:pPr marL="0" indent="0" algn="ctr">
              <a:buNone/>
            </a:pPr>
            <a:r>
              <a:rPr lang="en-US" sz="2000" b="1" dirty="0">
                <a:solidFill>
                  <a:srgbClr val="000000"/>
                </a:solidFill>
                <a:latin typeface="Times New Roman"/>
                <a:ea typeface="Calibri" pitchFamily="34" charset="-122"/>
                <a:cs typeface="Times New Roman"/>
              </a:rPr>
              <a:t>EdgeGuard: Uncertainty-Aware Edge AI for Reliable Decision Making</a:t>
            </a:r>
            <a:endParaRPr lang="en-US" sz="2000">
              <a:latin typeface="Times New Roman"/>
              <a:cs typeface="Times New Roman"/>
            </a:endParaRPr>
          </a:p>
        </p:txBody>
      </p:sp>
      <p:sp>
        <p:nvSpPr>
          <p:cNvPr id="5" name="Text 2"/>
          <p:cNvSpPr txBox="1"/>
          <p:nvPr/>
        </p:nvSpPr>
        <p:spPr>
          <a:xfrm>
            <a:off x="0" y="2834640"/>
            <a:ext cx="12191695" cy="1097280"/>
          </a:xfrm>
          <a:prstGeom prst="rect">
            <a:avLst/>
          </a:prstGeom>
          <a:noFill/>
          <a:ln/>
        </p:spPr>
        <p:txBody>
          <a:bodyPr wrap="square" lIns="0" tIns="0" rIns="0" bIns="0" rtlCol="0" anchor="ctr"/>
          <a:lstStyle/>
          <a:p>
            <a:pPr marL="0" indent="0" algn="ctr">
              <a:buNone/>
            </a:pPr>
            <a:r>
              <a:rPr lang="en-US" sz="5400" dirty="0">
                <a:solidFill>
                  <a:srgbClr val="000000"/>
                </a:solidFill>
                <a:latin typeface="Times New Roman"/>
                <a:ea typeface="Cambria" pitchFamily="34" charset="-122"/>
                <a:cs typeface="Times New Roman"/>
              </a:rPr>
              <a:t>THANK YOU</a:t>
            </a:r>
            <a:endParaRPr lang="en-US" sz="540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24</Slides>
  <Notes>24</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259</cp:revision>
  <dcterms:created xsi:type="dcterms:W3CDTF">2026-09-06T14:06:09Z</dcterms:created>
  <dcterms:modified xsi:type="dcterms:W3CDTF">2026-09-10T15:07:53Z</dcterms:modified>
</cp:coreProperties>
</file>